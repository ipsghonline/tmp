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p>
            <a:r>
              <a:t>EMPHASIS:</a:t>
            </a:r>
          </a:p>
          <a:p>
            <a:r>
              <a:t>- OneDrive is the MOST CRITICAL step</a:t>
            </a:r>
          </a:p>
          <a:p>
            <a:r>
              <a:t>- Everything goes to the cloud - safe even if device fails</a:t>
            </a:r>
          </a:p>
          <a:p>
            <a:r>
              <a:t>- User doesn't need to understand technical details</a:t>
            </a:r>
          </a:p>
          <a:p>
            <a:r>
              <a:t>- Focus on: "Your files will be safe"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DETAILED SCRIPT:</a:t>
            </a:r>
          </a:p>
          <a:p>
            <a:r>
              <a:t>"Let's start with OneDrive. Look at the bottom right corner of your screen, near the clock. Do you see a little cloud icon? That's OneDrive. Click on it.</a:t>
            </a:r>
          </a:p>
          <a:p/>
          <a:p>
            <a:r>
              <a:t>If you don't see it, we need to install OneDrive first - we can get that from the Microsoft Store or onedrive.com.</a:t>
            </a:r>
          </a:p>
          <a:p/>
          <a:p>
            <a:r>
              <a:t>[Once they find it]</a:t>
            </a:r>
          </a:p>
          <a:p>
            <a:r>
              <a:t>Great! Now click on that cloud icon. Do you see where it says 'Sign in'? Click that and use your INGINC.com email address - the same one you use for Outlook.</a:t>
            </a:r>
          </a:p>
          <a:p/>
          <a:p>
            <a:r>
              <a:t>[After sign in]</a:t>
            </a:r>
          </a:p>
          <a:p>
            <a:r>
              <a:t>Perfect! Now let's set up folder backup. Click the gear icon in the OneDrive window. See where it says 'Sync and backup'? Click that tab. Now click 'Manage backup'.</a:t>
            </a:r>
          </a:p>
          <a:p/>
          <a:p>
            <a:r>
              <a:t>You should see three folders here: Desktop, Documents, and Pictures. We want to make sure all three have checkmarks. If any are missing checkmarks, click to enable them. Then click 'Start backup' at the bottom.</a:t>
            </a:r>
          </a:p>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p>
            <a:r>
              <a:t>IMPORTANT:</a:t>
            </a:r>
          </a:p>
          <a:p>
            <a:r>
              <a:t>- DO NOT proceed to reset until green checkmark appears</a:t>
            </a:r>
          </a:p>
          <a:p>
            <a:r>
              <a:t>- Use wait time to start another user's Phase 1</a:t>
            </a:r>
          </a:p>
          <a:p>
            <a:r>
              <a:t>- Verify completion in portal.office.com before Phase 2</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SCRIPT:</a:t>
            </a:r>
          </a:p>
          <a:p>
            <a:r>
              <a:t>"Now let's backup your browser. Are you using Chrome or Edge? Let me show you how to turn on sync for your browser.</a:t>
            </a:r>
          </a:p>
          <a:p/>
          <a:p>
            <a:r>
              <a:t>[For Chrome]</a:t>
            </a:r>
          </a:p>
          <a:p>
            <a:r>
              <a:t>Click the three dots in the top right corner - that's the menu. Go to Settings. On the left side, click 'You and Google'. Now click 'Turn on sync'. Sign in with your INGINC.com email. Once you see 'Sync is on', you're all set.</a:t>
            </a:r>
          </a:p>
          <a:p/>
          <a:p>
            <a:r>
              <a:t>[For Edge]</a:t>
            </a:r>
          </a:p>
          <a:p>
            <a:r>
              <a:t>Click the three dots in the top right. Go to Settings. Click on Profiles on the left. Then click Sync. Turn on sync and make sure you're signed in with your INGINC.com account.</a:t>
            </a:r>
          </a:p>
          <a:p/>
          <a:p>
            <a:r>
              <a:t>Now let's export your bookmarks as a backup. Go to the menu again, then Bookmarks or Favorites, find the three dots, and click Export. Save that file to your OneDrive Documents folder. Name it something like 'Browser Bookmarks Backup'.</a:t>
            </a:r>
          </a:p>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SCRIPT:</a:t>
            </a:r>
          </a:p>
          <a:p>
            <a:r>
              <a:t>"Next, let's capture your printer settings. Click the Start button and type 'Settings'. Open Settings, then click on 'Devices', then 'Printers &amp; scanners'.</a:t>
            </a:r>
          </a:p>
          <a:p/>
          <a:p>
            <a:r>
              <a:t>Perfect - I can see you have [X] printers configured. We're going to take a screenshot of this list so we can set them back up exactly the same way after the reset.</a:t>
            </a:r>
          </a:p>
          <a:p/>
          <a:p>
            <a:r>
              <a:t>Press the Windows key, Shift, and S all at the same time. Your screen should dim a bit - that's the screenshot tool. Click and drag to capture the entire printer list.</a:t>
            </a:r>
          </a:p>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p>
            <a:r>
              <a:t>ALTERNATIVE:</a:t>
            </a:r>
          </a:p>
          <a:p>
            <a:r>
              <a:t>If user is uncomfortable with screenshots, manually document:</a:t>
            </a:r>
          </a:p>
          <a:p>
            <a:r>
              <a:t>- Printer name</a:t>
            </a:r>
          </a:p>
          <a:p>
            <a:r>
              <a:t>- Printer model</a:t>
            </a:r>
          </a:p>
          <a:p>
            <a:r>
              <a:t>- IP address (if network printer)</a:t>
            </a:r>
          </a:p>
          <a:p>
            <a:r>
              <a:t>- Default printer (marked with checkmark)</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SCRIPT:</a:t>
            </a:r>
          </a:p>
          <a:p>
            <a:r>
              <a:t>"Before we reset your device, let's record which WiFi network you're connected to. Click on the WiFi icon in your taskbar - that's the wireless symbol in the bottom right corner, near the clock.</a:t>
            </a:r>
          </a:p>
          <a:p/>
          <a:p>
            <a:r>
              <a:t>Can you tell me the name of the network you're connected to? I'm going to write it down.</a:t>
            </a:r>
          </a:p>
          <a:p/>
          <a:p>
            <a:r>
              <a:t>[Record the SSID]</a:t>
            </a:r>
          </a:p>
          <a:p/>
          <a:p>
            <a:r>
              <a:t>Great! After the reset, when Windows first starts up, it will ask you to connect to WiFi. We'll use this network name to reconnect quickly."</a:t>
            </a:r>
          </a:p>
          <a:p/>
          <a:p>
            <a:r>
              <a:t>WHY THIS MATTERS:</a:t>
            </a:r>
          </a:p>
          <a:p>
            <a:r>
              <a:t>- OOBE (Out of Box Experience) requires internet before Autopilot can begin</a:t>
            </a:r>
          </a:p>
          <a:p>
            <a:r>
              <a:t>- Sites often have multiple similar network names (Guest, Corp, VPN, etc.)</a:t>
            </a:r>
          </a:p>
          <a:p>
            <a:r>
              <a:t>- Exact SSID avoids confusion during setup</a:t>
            </a:r>
          </a:p>
          <a:p>
            <a:r>
              <a:t>- Saves time - no hunting for correct network</a:t>
            </a:r>
          </a:p>
          <a:p/>
          <a:p>
            <a:r>
              <a:t>DOCUMENT:</a:t>
            </a:r>
          </a:p>
          <a:p>
            <a:r>
              <a:t>- Record SSID in your notes or ticket system</a:t>
            </a:r>
          </a:p>
          <a:p>
            <a:r>
              <a:t>- If multiple networks available, note which one to use</a:t>
            </a:r>
          </a:p>
          <a:p>
            <a:r>
              <a:t>- If user is on Guest network, note if Corp network is available</a:t>
            </a:r>
          </a:p>
          <a:p>
            <a:r>
              <a:t>- Check if network requires certificate or special auth</a:t>
            </a:r>
          </a:p>
          <a:p/>
          <a:p>
            <a:r>
              <a:t>COMMON NETWORKS:</a:t>
            </a:r>
          </a:p>
          <a:p>
            <a:r>
              <a:t>- Impact_Floors_Corp</a:t>
            </a:r>
          </a:p>
          <a:p>
            <a:r>
              <a:t>- Impact_Guest</a:t>
            </a:r>
          </a:p>
          <a:p>
            <a:r>
              <a:t>- INGINC-WiFi</a:t>
            </a:r>
          </a:p>
          <a:p>
            <a:r>
              <a:t>- Site-specific names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DETAILED SCRIPT:</a:t>
            </a:r>
          </a:p>
          <a:p>
            <a:r>
              <a:t>"Now we need to check for Outlook data files. These are special files that store your email archives, and they won't sync automatically to OneDrive.</a:t>
            </a:r>
          </a:p>
          <a:p/>
          <a:p>
            <a:r>
              <a:t>Open File Explorer - you can click the folder icon in your taskbar. Now, click in the address bar at the top where it shows the folder path, and I'm going to have you type something. Clear that out and type exactly:</a:t>
            </a:r>
          </a:p>
          <a:p>
            <a:r>
              <a:t>%LOCALAPPDATA%\Microsoft\Outlook</a:t>
            </a:r>
          </a:p>
          <a:p/>
          <a:p>
            <a:r>
              <a:t>Press Enter. This will take you to where Outlook stores its data files.</a:t>
            </a:r>
          </a:p>
          <a:p/>
          <a:p>
            <a:r>
              <a:t>Do you see any files in this folder? Look for files ending in .ost or .pst.</a:t>
            </a:r>
          </a:p>
          <a:p/>
          <a:p>
            <a:r>
              <a:t>[If OST files only]</a:t>
            </a:r>
          </a:p>
          <a:p>
            <a:r>
              <a:t>Perfect - I see OST files, but no PST files. The OST files are just a cached copy of your mailbox - those get recreated automatically after migration. You're all set here.</a:t>
            </a:r>
          </a:p>
          <a:p/>
          <a:p>
            <a:r>
              <a:t>[If PST files exist]</a:t>
            </a:r>
          </a:p>
          <a:p>
            <a:r>
              <a:t>Okay, I see you have PST files. These are personal archives - maybe old emails you wanted to keep. We need to copy these to your OneDrive.</a:t>
            </a:r>
          </a:p>
          <a:p/>
          <a:p>
            <a:r>
              <a:t>Right-click on the PST file and select Copy. Now navigate to your OneDrive Documents folder - you can click 'OneDrive - INGINC.com' in the left sidebar of File Explorer, then Documents. Right-click in an empty area and select Paste.</a:t>
            </a:r>
          </a:p>
          <a:p/>
          <a:p>
            <a:r>
              <a:t>Great! Now let's verify it copied correctly. Open your web browser and go to portal.office.com. Sign in if needed, then click on OneDrive. Go to the Documents folder - can you see the PST file there?"</a:t>
            </a:r>
          </a:p>
          <a:p/>
          <a:p>
            <a:r>
              <a:t>TECHNICAL DETAILS:</a:t>
            </a:r>
          </a:p>
          <a:p>
            <a:r>
              <a:t>OST Files:</a:t>
            </a:r>
          </a:p>
          <a:p>
            <a:r>
              <a:t>- Offline cache of Exchange mailbox</a:t>
            </a:r>
          </a:p>
          <a:p>
            <a:r>
              <a:t>- Stored locally for performance</a:t>
            </a:r>
          </a:p>
          <a:p>
            <a:r>
              <a:t>- Automatically recreated when Outlook connects to Exchange</a:t>
            </a:r>
          </a:p>
          <a:p>
            <a:r>
              <a:t>- Can be large (5-50 GB typical)</a:t>
            </a:r>
          </a:p>
          <a:p>
            <a:r>
              <a:t>- NO ACTION NEEDED - let them be deleted with reset</a:t>
            </a:r>
          </a:p>
          <a:p/>
          <a:p>
            <a:r>
              <a:t>PST Files:</a:t>
            </a:r>
          </a:p>
          <a:p>
            <a:r>
              <a:t>- Personal archive created by USER</a:t>
            </a:r>
          </a:p>
          <a:p>
            <a:r>
              <a:t>- Contains emails moved OUT of main mailbox</a:t>
            </a:r>
          </a:p>
          <a:p>
            <a:r>
              <a:t>- Often used for old emails, projects, legal hold</a:t>
            </a:r>
          </a:p>
          <a:p>
            <a:r>
              <a:t>- NOT automatically backed up</a:t>
            </a:r>
          </a:p>
          <a:p>
            <a:r>
              <a:t>- DATA LOSS if not manually backed up</a:t>
            </a:r>
          </a:p>
          <a:p>
            <a:r>
              <a:t>- MUST be copied to OneDrive or will be lost forever</a:t>
            </a:r>
          </a:p>
          <a:p/>
          <a:p>
            <a:r>
              <a:t>COMMON SCENARIOS:</a:t>
            </a:r>
          </a:p>
          <a:p>
            <a:r>
              <a:t>1. No PST files (most common): Quick check, move on</a:t>
            </a:r>
          </a:p>
          <a:p>
            <a:r>
              <a:t>2. Old PST from previous company: Ask if user wants to keep</a:t>
            </a:r>
          </a:p>
          <a:p>
            <a:r>
              <a:t>3. Multiple PST files: Copy all to OneDrive</a:t>
            </a:r>
          </a:p>
          <a:p>
            <a:r>
              <a:t>4. PST file very large (&gt;10 GB): May take time to upload, monitor progress</a:t>
            </a:r>
          </a:p>
          <a:p>
            <a:r>
              <a:t>5. User doesn't know what PST is: Explain "it's like a filing cabinet for old emails you wanted to archive"</a:t>
            </a:r>
          </a:p>
          <a:p/>
          <a:p>
            <a:r>
              <a:t>VERIFICATION:</a:t>
            </a:r>
          </a:p>
          <a:p>
            <a:r>
              <a:t>- Check file size in OneDrive web portal matches local file</a:t>
            </a:r>
          </a:p>
          <a:p>
            <a:r>
              <a:t>- Confirm green checkmark on OneDrive sync</a:t>
            </a:r>
          </a:p>
          <a:p>
            <a:r>
              <a:t>- Note PST file names in ticket/documentation</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SCRIPT:</a:t>
            </a:r>
          </a:p>
          <a:p>
            <a:r>
              <a:t>"Do you have an iPhone or iPad that you use for work?</a:t>
            </a:r>
          </a:p>
          <a:p/>
          <a:p>
            <a:r>
              <a:t>[If yes]</a:t>
            </a:r>
          </a:p>
          <a:p>
            <a:r>
              <a:t>Great, let's make sure that's backed up too. Do you have the charging cable handy? Connect your iPhone/iPad to your computer using the USB cable.</a:t>
            </a:r>
          </a:p>
          <a:p/>
          <a:p>
            <a:r>
              <a:t>Now we need to open the Apple Devices app. Click Start and search for 'Apple Devices'. If you don't see it, we can get it from the Microsoft Store quickly.</a:t>
            </a:r>
          </a:p>
          <a:p/>
          <a:p>
            <a:r>
              <a:t>[Once app is open]</a:t>
            </a:r>
          </a:p>
          <a:p>
            <a:r>
              <a:t>Perfect. Click on your device in the left sidebar. Do you see where it shows 'Latest Backup'? When was the last backup?</a:t>
            </a:r>
          </a:p>
          <a:p/>
          <a:p>
            <a:r>
              <a:t>[If recent - within 24-48 hours]</a:t>
            </a:r>
          </a:p>
          <a:p>
            <a:r>
              <a:t>Great! Your backup is recent. You're all set here.</a:t>
            </a:r>
          </a:p>
          <a:p/>
          <a:p>
            <a:r>
              <a:t>[If old or no backup]</a:t>
            </a:r>
          </a:p>
          <a:p>
            <a:r>
              <a:t>Let's create a fresh backup just to be safe. Click the 'Back Up Now' button. This will take a few minutes depending on how much data is on your phone.</a:t>
            </a:r>
          </a:p>
          <a:p/>
          <a:p>
            <a:r>
              <a:t>[If no iOS device]</a:t>
            </a:r>
          </a:p>
          <a:p>
            <a:r>
              <a:t>No problem - we can skip this step then. This is only for people who have work iPhones or iPads."</a:t>
            </a:r>
          </a:p>
          <a:p/>
          <a:p>
            <a:r>
              <a:t>WHY THIS MATTERS:</a:t>
            </a:r>
          </a:p>
          <a:p>
            <a:r>
              <a:t>- Corporate iOS devices may have work data not in cloud</a:t>
            </a:r>
          </a:p>
          <a:p>
            <a:r>
              <a:t>- Photos, contacts, apps, settings backed up to computer</a:t>
            </a:r>
          </a:p>
          <a:p>
            <a:r>
              <a:t>- Backup is to THIS computer - will be lost after reset</a:t>
            </a:r>
          </a:p>
          <a:p>
            <a:r>
              <a:t>- iCloud backup is separate (not affected by computer reset)</a:t>
            </a:r>
          </a:p>
          <a:p/>
          <a:p>
            <a:r>
              <a:t>TROUBLESHOOTING:</a:t>
            </a:r>
          </a:p>
          <a:p>
            <a:r>
              <a:t>- Apple Devices app not installed: Download from Microsoft Store (free)</a:t>
            </a:r>
          </a:p>
          <a:p>
            <a:r>
              <a:t>- Device not recognized: Try different USB port, different cable</a:t>
            </a:r>
          </a:p>
          <a:p>
            <a:r>
              <a:t>- Trust dialog on iPhone: User must tap "Trust" on phone screen</a:t>
            </a:r>
          </a:p>
          <a:p>
            <a:r>
              <a:t>- Backup fails: Check available disk space on computer</a:t>
            </a:r>
          </a:p>
          <a:p>
            <a:r>
              <a:t>- User has iCloud backup: Good for personal data, but company apps may not be included</a:t>
            </a:r>
          </a:p>
          <a:p/>
          <a:p>
            <a:r>
              <a:t>ALTERNATIVE:</a:t>
            </a:r>
          </a:p>
          <a:p>
            <a:r>
              <a:t>If backup won't work:</a:t>
            </a:r>
          </a:p>
          <a:p>
            <a:r>
              <a:t>- Document that backup was attempted but failed</a:t>
            </a:r>
          </a:p>
          <a:p>
            <a:r>
              <a:t>- Note error message</a:t>
            </a:r>
          </a:p>
          <a:p>
            <a:r>
              <a:t>- Proceed with reset (user's iPhone will not be affected)</a:t>
            </a:r>
          </a:p>
          <a:p>
            <a:r>
              <a:t>- iOS device data is independent of Windows computer</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CHECKPOINT SCRIPT:</a:t>
            </a:r>
          </a:p>
          <a:p>
            <a:r>
              <a:t>"Alright, let's review everything we've backed up to make sure we're ready for the reset. I'm going to go through the checklist with you:</a:t>
            </a:r>
          </a:p>
          <a:p/>
          <a:p>
            <a:r>
              <a:t>[Go through each item and check off]</a:t>
            </a:r>
          </a:p>
          <a:p/>
          <a:p>
            <a:r>
              <a:t>1. OneDrive - Is the cloud icon showing a green checkmark? Perfect.</a:t>
            </a:r>
          </a:p>
          <a:p>
            <a:r>
              <a:t>2. Known Folder Backup - We enabled Desktop, Documents, and Pictures, right? Good.</a:t>
            </a:r>
          </a:p>
          <a:p>
            <a:r>
              <a:t>3. Sync complete - Everything uploaded? Excellent.</a:t>
            </a:r>
          </a:p>
          <a:p>
            <a:r>
              <a:t>4. Browser sync - You signed in to Chrome/Edge? Check.</a:t>
            </a:r>
          </a:p>
          <a:p>
            <a:r>
              <a:t>5. Browser exports - Bookmarks and passwords saved to OneDrive Documents? Got it.</a:t>
            </a:r>
          </a:p>
          <a:p>
            <a:r>
              <a:t>6. Printers - We took that screenshot? Yes.</a:t>
            </a:r>
          </a:p>
          <a:p>
            <a:r>
              <a:t>7. WiFi - I have the network name written down: [SSID]</a:t>
            </a:r>
          </a:p>
          <a:p>
            <a:r>
              <a:t>8. Outlook PST - [We checked/no PST files/copied to OneDrive]</a:t>
            </a:r>
          </a:p>
          <a:p>
            <a:r>
              <a:t>9. iOS - [Backup verified/no iOS device/backup created]</a:t>
            </a:r>
          </a:p>
          <a:p/>
          <a:p>
            <a:r>
              <a:t>Perfect! Everything is backed up and safe. Your data is secure in OneDrive, and we can now proceed with requesting the device reset. The IT team will send you instructions for Phase 2 once the reset is processed."</a:t>
            </a:r>
          </a:p>
          <a:p/>
          <a:p>
            <a:r>
              <a:t>CRITICAL CHECKPOINT:</a:t>
            </a:r>
          </a:p>
          <a:p>
            <a:r>
              <a:t>- Review EVERY item before ending call</a:t>
            </a:r>
          </a:p>
          <a:p>
            <a:r>
              <a:t>- Verify green checkmark on OneDrive specifically</a:t>
            </a:r>
          </a:p>
          <a:p>
            <a:r>
              <a:t>- Check portal.office.com to visually confirm files in cloud</a:t>
            </a:r>
          </a:p>
          <a:p>
            <a:r>
              <a:t>- Document checklist completion in ticket</a:t>
            </a:r>
          </a:p>
          <a:p>
            <a:r>
              <a:t>- User should not be able to proceed to Phase 2 until this is 100% complete</a:t>
            </a:r>
          </a:p>
          <a:p/>
          <a:p>
            <a:r>
              <a:t>IF ANYTHING IS INCOMPLETE:</a:t>
            </a:r>
          </a:p>
          <a:p>
            <a:r>
              <a:t>- Schedule follow-up</a:t>
            </a:r>
          </a:p>
          <a:p>
            <a:r>
              <a:t>- Set reminder to verify OneDrive sync completion</a:t>
            </a:r>
          </a:p>
          <a:p>
            <a:r>
              <a:t>- Do NOT rush - data loss is worse than delay</a:t>
            </a:r>
          </a:p>
          <a:p>
            <a:r>
              <a:t>- Use wait time to help other users</a:t>
            </a:r>
          </a:p>
          <a:p/>
          <a:p>
            <a:r>
              <a:t>BEST PRACTICE:</a:t>
            </a:r>
          </a:p>
          <a:p>
            <a:r>
              <a:t>While waiting for OneDrive sync (15-30 min):</a:t>
            </a:r>
          </a:p>
          <a:p>
            <a:r>
              <a:t>- Start another user's Phase 1</a:t>
            </a:r>
          </a:p>
          <a:p>
            <a:r>
              <a:t>- Come back to verify this user's sync completion</a:t>
            </a:r>
          </a:p>
          <a:p>
            <a:r>
              <a:t>- Efficient use of time while maintaining safety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CLOSING SCRIPT:</a:t>
            </a:r>
          </a:p>
          <a:p>
            <a:r>
              <a:t>"That completes Phase 1! All your data is now safely backed up in OneDrive. Do you have any questions about anything we did today?</a:t>
            </a:r>
          </a:p>
          <a:p/>
          <a:p>
            <a:r>
              <a:t>[Answer questions]</a:t>
            </a:r>
          </a:p>
          <a:p/>
          <a:p>
            <a:r>
              <a:t>Here's what happens next: The IT team will process your device reset request. You'll receive an email with instructions for Phase 2 - that's when you'll get your device back and we'll help you sign in and verify everything. The reset usually takes [X days/hours based on your process].</a:t>
            </a:r>
          </a:p>
          <a:p/>
          <a:p>
            <a:r>
              <a:t>In the meantime, if you think of any questions or concerns, feel free to reach out to IT support at [email/Teams channel]. You can also find the full documentation at the link on this slide.</a:t>
            </a:r>
          </a:p>
          <a:p/>
          <a:p>
            <a:r>
              <a:t>Thank you for your patience today - I know this took some time, but your data is safe and we're ready to proceed with the reset."</a:t>
            </a:r>
          </a:p>
          <a:p/>
          <a:p>
            <a:r>
              <a:t>SUPPORT PLACEHOLDERS TO REPLACE:</a:t>
            </a:r>
          </a:p>
          <a:p>
            <a:r>
              <a:t>- [YOUR IT SUPPORT EMAIL]: e.g., itsupport@inginc.com</a:t>
            </a:r>
          </a:p>
          <a:p>
            <a:r>
              <a:t>- [YOUR SUPPORT CHANNEL]: e.g., Teams &gt; IT Help Desk &gt; Device Migration</a:t>
            </a:r>
          </a:p>
          <a:p>
            <a:r>
              <a:t>- [YOUR SUPPORT PHONE]: e.g., ext 1234 or (555) 123-4567</a:t>
            </a:r>
          </a:p>
          <a:p/>
          <a:p>
            <a:r>
              <a:t>COMMON END-OF-CALL QUESTIONS:</a:t>
            </a:r>
          </a:p>
          <a:p/>
          <a:p>
            <a:r>
              <a:t>Q: "How long until I get my device back?"</a:t>
            </a:r>
          </a:p>
          <a:p>
            <a:r>
              <a:t>A: "[Your SLA] - usually [X days]. You'll get an email when it's ready for Phase 2."</a:t>
            </a:r>
          </a:p>
          <a:p/>
          <a:p>
            <a:r>
              <a:t>Q: "Will I lose anything?"</a:t>
            </a:r>
          </a:p>
          <a:p>
            <a:r>
              <a:t>A: "No - everything we backed up today is safely in OneDrive. After the reset, we'll restore it all."</a:t>
            </a:r>
          </a:p>
          <a:p/>
          <a:p>
            <a:r>
              <a:t>Q: "Can I use another computer in the meantime?"</a:t>
            </a:r>
          </a:p>
          <a:p>
            <a:r>
              <a:t>A: "Yes - sign into any computer with your INGINC.com account, open OneDrive, and you can access all your files."</a:t>
            </a:r>
          </a:p>
          <a:p/>
          <a:p>
            <a:r>
              <a:t>Q: "What if I forgot something?"</a:t>
            </a:r>
          </a:p>
          <a:p>
            <a:r>
              <a:t>A: "As long as it was in your Desktop, Documents, or Pictures folders, OneDrive has it. If you think of something else, let us know and we can check before the reset."</a:t>
            </a:r>
          </a:p>
          <a:p/>
          <a:p>
            <a:r>
              <a:t>Q: "Do I need to do anything else?"</a:t>
            </a:r>
          </a:p>
          <a:p>
            <a:r>
              <a:t>A: "Nope! Just wait for the email from IT. They'll guide you through Phase 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371600"/>
            <a:ext cx="7315200" cy="914400"/>
          </a:xfrm>
          <a:prstGeom prst="rect">
            <a:avLst/>
          </a:prstGeom>
          <a:noFill/>
        </p:spPr>
        <p:txBody>
          <a:bodyPr wrap="square">
            <a:spAutoFit/>
          </a:bodyPr>
          <a:lstStyle/>
          <a:p>
            <a:pPr algn="ctr">
              <a:defRPr sz="4400" b="1">
                <a:solidFill>
                  <a:srgbClr val="0078D4"/>
                </a:solidFill>
              </a:defRPr>
            </a:pPr>
            <a:r>
              <a:t>Phase 1: Device Backup</a:t>
            </a:r>
          </a:p>
        </p:txBody>
      </p:sp>
      <p:sp>
        <p:nvSpPr>
          <p:cNvPr id="3" name="TextBox 2"/>
          <p:cNvSpPr txBox="1"/>
          <p:nvPr/>
        </p:nvSpPr>
        <p:spPr>
          <a:xfrm>
            <a:off x="1828800" y="2286000"/>
            <a:ext cx="5486400" cy="457200"/>
          </a:xfrm>
          <a:prstGeom prst="rect">
            <a:avLst/>
          </a:prstGeom>
          <a:noFill/>
        </p:spPr>
        <p:txBody>
          <a:bodyPr wrap="none">
            <a:spAutoFit/>
          </a:bodyPr>
          <a:lstStyle/>
          <a:p>
            <a:pPr algn="ctr">
              <a:defRPr sz="2800">
                <a:solidFill>
                  <a:srgbClr val="323232"/>
                </a:solidFill>
              </a:defRPr>
            </a:pPr>
            <a:r>
              <a:t>Protecting Your Data Before Reset</a:t>
            </a:r>
          </a:p>
        </p:txBody>
      </p:sp>
      <p:sp>
        <p:nvSpPr>
          <p:cNvPr id="4" name="TextBox 3"/>
          <p:cNvSpPr txBox="1"/>
          <p:nvPr/>
        </p:nvSpPr>
        <p:spPr>
          <a:xfrm>
            <a:off x="1828800" y="3200400"/>
            <a:ext cx="5486400" cy="457200"/>
          </a:xfrm>
          <a:prstGeom prst="rect">
            <a:avLst/>
          </a:prstGeom>
          <a:noFill/>
        </p:spPr>
        <p:txBody>
          <a:bodyPr wrap="none">
            <a:spAutoFit/>
          </a:bodyPr>
          <a:lstStyle/>
          <a:p>
            <a:pPr algn="ctr">
              <a:defRPr sz="1400">
                <a:solidFill>
                  <a:srgbClr val="969696"/>
                </a:solidFill>
              </a:defRPr>
            </a:pPr>
            <a:r>
              <a:t>IT Support Guide | January 12,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200400"/>
          </a:xfrm>
          <a:prstGeom prst="rect">
            <a:avLst/>
          </a:prstGeom>
          <a:noFill/>
        </p:spPr>
        <p:txBody>
          <a:bodyPr wrap="square">
            <a:spAutoFit/>
          </a:bodyPr>
          <a:lstStyle/>
          <a:p/>
          <a:p>
            <a:pPr>
              <a:defRPr sz="2400" b="1">
                <a:solidFill>
                  <a:srgbClr val="0078D4"/>
                </a:solidFill>
              </a:defRPr>
            </a:pPr>
            <a:r>
              <a:t>OneDrive Setup &amp; File Sync</a:t>
            </a:r>
          </a:p>
          <a:p>
            <a:pPr lvl="1">
              <a:defRPr sz="1800" b="0"/>
            </a:pPr>
            <a:r>
              <a:t>Your Desktop, Documents, and Pictures folders</a:t>
            </a:r>
          </a:p>
          <a:p>
            <a:pPr>
              <a:defRPr sz="2400" b="1">
                <a:solidFill>
                  <a:srgbClr val="0078D4"/>
                </a:solidFill>
              </a:defRPr>
            </a:pPr>
            <a:r>
              <a:t>Browser Profile</a:t>
            </a:r>
          </a:p>
          <a:p>
            <a:pPr lvl="1">
              <a:defRPr sz="1800" b="0"/>
            </a:pPr>
            <a:r>
              <a:t>Bookmarks, passwords, and settings</a:t>
            </a:r>
          </a:p>
          <a:p>
            <a:pPr>
              <a:defRPr sz="2400" b="1">
                <a:solidFill>
                  <a:srgbClr val="0078D4"/>
                </a:solidFill>
              </a:defRPr>
            </a:pPr>
            <a:r>
              <a:t>Printer Configurations</a:t>
            </a:r>
          </a:p>
          <a:p>
            <a:pPr lvl="1">
              <a:defRPr sz="1800" b="0"/>
            </a:pPr>
            <a:r>
              <a:t>Screenshot of all mapped printers</a:t>
            </a:r>
          </a:p>
          <a:p>
            <a:pPr>
              <a:defRPr sz="2400" b="1">
                <a:solidFill>
                  <a:srgbClr val="0078D4"/>
                </a:solidFill>
              </a:defRPr>
            </a:pPr>
            <a:r>
              <a:t>WiFi Network Information</a:t>
            </a:r>
          </a:p>
          <a:p>
            <a:pPr lvl="1">
              <a:defRPr sz="1800" b="0"/>
            </a:pPr>
            <a:r>
              <a:t>For quick reconnection after reset</a:t>
            </a:r>
          </a:p>
          <a:p>
            <a:pPr>
              <a:defRPr sz="2400" b="1">
                <a:solidFill>
                  <a:srgbClr val="0078D4"/>
                </a:solidFill>
              </a:defRPr>
            </a:pPr>
            <a:r>
              <a:t>Outlook Data Files (if applicable)</a:t>
            </a:r>
          </a:p>
          <a:p>
            <a:pPr lvl="1">
              <a:defRPr sz="1800" b="0"/>
            </a:pPr>
            <a:r>
              <a:t>Personal email archives (PST files)</a:t>
            </a:r>
          </a:p>
          <a:p>
            <a:pPr>
              <a:defRPr sz="2400" b="1">
                <a:solidFill>
                  <a:srgbClr val="0078D4"/>
                </a:solidFill>
              </a:defRPr>
            </a:pPr>
            <a:r>
              <a:t>iOS Device Backup (if applicable)</a:t>
            </a:r>
          </a:p>
          <a:p>
            <a:pPr lvl="1">
              <a:defRPr sz="1800" b="0"/>
            </a:pPr>
            <a:r>
              <a:t>iPhone or iPad via Apple Devices 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1: 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1371600" y="1645920"/>
            <a:ext cx="6400800" cy="2743200"/>
          </a:xfrm>
          <a:prstGeom prst="rect">
            <a:avLst/>
          </a:prstGeom>
          <a:noFill/>
        </p:spPr>
        <p:txBody>
          <a:bodyPr wrap="square">
            <a:spAutoFit/>
          </a:bodyPr>
          <a:lstStyle/>
          <a:p/>
          <a:p>
            <a:pPr>
              <a:defRPr sz="1800" b="0"/>
            </a:pPr>
            <a:r>
              <a:t>Find OneDrive icon in system tray (cloud icon, bottom right)</a:t>
            </a:r>
          </a:p>
          <a:p>
            <a:pPr>
              <a:defRPr sz="1800" b="0"/>
            </a:pPr>
            <a:r>
              <a:t>Click icon → Sign in with INGINC.com account</a:t>
            </a:r>
          </a:p>
          <a:p>
            <a:pPr>
              <a:defRPr sz="1800" b="0"/>
            </a:pPr>
            <a:r>
              <a:t>Settings (gear) → Sync and backup → Manage backup</a:t>
            </a:r>
          </a:p>
          <a:p>
            <a:pPr>
              <a:defRPr sz="1800" b="1">
                <a:solidFill>
                  <a:srgbClr val="0078D4"/>
                </a:solidFill>
              </a:defRPr>
            </a:pPr>
            <a:r>
              <a:t>Enable all three folders:</a:t>
            </a:r>
          </a:p>
          <a:p>
            <a:pPr lvl="1">
              <a:defRPr sz="1800" b="0">
                <a:solidFill>
                  <a:srgbClr val="107C10"/>
                </a:solidFill>
              </a:defRPr>
            </a:pPr>
            <a:r>
              <a:t>✓ Desktop</a:t>
            </a:r>
          </a:p>
          <a:p>
            <a:pPr lvl="1">
              <a:defRPr sz="1800" b="0">
                <a:solidFill>
                  <a:srgbClr val="107C10"/>
                </a:solidFill>
              </a:defRPr>
            </a:pPr>
            <a:r>
              <a:t>✓ Documents</a:t>
            </a:r>
          </a:p>
          <a:p>
            <a:pPr lvl="1">
              <a:defRPr sz="1800" b="0">
                <a:solidFill>
                  <a:srgbClr val="107C10"/>
                </a:solidFill>
              </a:defRPr>
            </a:pPr>
            <a:r>
              <a:t>✓ Pictures</a:t>
            </a:r>
          </a:p>
          <a:p>
            <a:pPr>
              <a:defRPr sz="1800" b="1">
                <a:solidFill>
                  <a:srgbClr val="0078D4"/>
                </a:solidFill>
              </a:defRPr>
            </a:pPr>
            <a:r>
              <a:t>Click 'Start backup' and wait for green checkmark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2: Browser Profile Backup</a:t>
            </a:r>
          </a:p>
        </p:txBody>
      </p:sp>
      <p:sp>
        <p:nvSpPr>
          <p:cNvPr id="3" name="TextBox 2"/>
          <p:cNvSpPr txBox="1"/>
          <p:nvPr/>
        </p:nvSpPr>
        <p:spPr>
          <a:xfrm>
            <a:off x="731520" y="1097280"/>
            <a:ext cx="3657600" cy="3200400"/>
          </a:xfrm>
          <a:prstGeom prst="rect">
            <a:avLst/>
          </a:prstGeom>
          <a:noFill/>
        </p:spPr>
        <p:txBody>
          <a:bodyPr wrap="square">
            <a:spAutoFit/>
          </a:bodyPr>
          <a:lstStyle/>
          <a:p/>
          <a:p>
            <a:pPr>
              <a:defRPr sz="2000" b="1">
                <a:solidFill>
                  <a:srgbClr val="0078D4"/>
                </a:solidFill>
              </a:defRPr>
            </a:pPr>
            <a:r>
              <a:t>Chrome / Edge:</a:t>
            </a:r>
          </a:p>
          <a:p>
            <a:pPr lvl="1">
              <a:defRPr sz="1600" b="0"/>
            </a:pPr>
            <a:r>
              <a:t>Menu → Settings</a:t>
            </a:r>
          </a:p>
          <a:p>
            <a:pPr lvl="1">
              <a:defRPr sz="1600" b="0"/>
            </a:pPr>
            <a:r>
              <a:t>Turn on sync</a:t>
            </a:r>
          </a:p>
          <a:p>
            <a:pPr lvl="1">
              <a:defRPr sz="1600" b="0"/>
            </a:pPr>
            <a:r>
              <a:t>Sign in with INGINC.com</a:t>
            </a:r>
          </a:p>
          <a:p>
            <a:pPr>
              <a:defRPr sz="1800" b="0"/>
            </a:pPr>
          </a:p>
          <a:p>
            <a:pPr>
              <a:defRPr sz="2000" b="1">
                <a:solidFill>
                  <a:srgbClr val="0078D4"/>
                </a:solidFill>
              </a:defRPr>
            </a:pPr>
            <a:r>
              <a:t>Export bookmarks:</a:t>
            </a:r>
          </a:p>
          <a:p>
            <a:pPr lvl="1">
              <a:defRPr sz="1600" b="0"/>
            </a:pPr>
            <a:r>
              <a:t>Menu → Bookmarks → Export</a:t>
            </a:r>
          </a:p>
          <a:p>
            <a:pPr lvl="1">
              <a:defRPr sz="1600" b="0"/>
            </a:pPr>
            <a:r>
              <a:t>Save to OneDrive Documents</a:t>
            </a:r>
          </a:p>
        </p:txBody>
      </p:sp>
      <p:sp>
        <p:nvSpPr>
          <p:cNvPr id="4" name="TextBox 3"/>
          <p:cNvSpPr txBox="1"/>
          <p:nvPr/>
        </p:nvSpPr>
        <p:spPr>
          <a:xfrm>
            <a:off x="4754880" y="1097280"/>
            <a:ext cx="3657600" cy="3200400"/>
          </a:xfrm>
          <a:prstGeom prst="rect">
            <a:avLst/>
          </a:prstGeom>
          <a:noFill/>
        </p:spPr>
        <p:txBody>
          <a:bodyPr wrap="square">
            <a:spAutoFit/>
          </a:bodyPr>
          <a:lstStyle/>
          <a:p/>
          <a:p>
            <a:pPr>
              <a:defRPr sz="2000" b="1">
                <a:solidFill>
                  <a:srgbClr val="0078D4"/>
                </a:solidFill>
              </a:defRPr>
            </a:pPr>
            <a:r>
              <a:t>Export passwords:</a:t>
            </a:r>
          </a:p>
          <a:p>
            <a:pPr lvl="1">
              <a:defRPr sz="1600" b="0"/>
            </a:pPr>
            <a:r>
              <a:t>Settings → Passwords → Export</a:t>
            </a:r>
          </a:p>
          <a:p>
            <a:pPr lvl="1">
              <a:defRPr sz="1600" b="0"/>
            </a:pPr>
            <a:r>
              <a:t>Save CSV to OneDrive Documents</a:t>
            </a:r>
          </a:p>
        </p:txBody>
      </p:sp>
      <p:sp>
        <p:nvSpPr>
          <p:cNvPr id="5" name="TextBox 4"/>
          <p:cNvSpPr txBox="1"/>
          <p:nvPr/>
        </p:nvSpPr>
        <p:spPr>
          <a:xfrm>
            <a:off x="1371600" y="4389120"/>
            <a:ext cx="6400800" cy="457200"/>
          </a:xfrm>
          <a:prstGeom prst="rect">
            <a:avLst/>
          </a:prstGeom>
          <a:noFill/>
        </p:spPr>
        <p:txBody>
          <a:bodyPr wrap="none">
            <a:spAutoFit/>
          </a:bodyPr>
          <a:lstStyle/>
          <a:p>
            <a:pPr algn="ctr">
              <a:defRPr sz="1400">
                <a:solidFill>
                  <a:srgbClr val="FFB900"/>
                </a:solidFill>
              </a:defRPr>
            </a:pPr>
            <a:r>
              <a:t>⚠️ Delete password CSV files after restoration is confirmed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3: Printer Configuration</a:t>
            </a:r>
          </a:p>
        </p:txBody>
      </p:sp>
      <p:sp>
        <p:nvSpPr>
          <p:cNvPr id="3" name="TextBox 2"/>
          <p:cNvSpPr txBox="1"/>
          <p:nvPr/>
        </p:nvSpPr>
        <p:spPr>
          <a:xfrm>
            <a:off x="1828800" y="1371600"/>
            <a:ext cx="5486400" cy="2743200"/>
          </a:xfrm>
          <a:prstGeom prst="rect">
            <a:avLst/>
          </a:prstGeom>
          <a:noFill/>
        </p:spPr>
        <p:txBody>
          <a:bodyPr wrap="square">
            <a:spAutoFit/>
          </a:bodyPr>
          <a:lstStyle/>
          <a:p/>
          <a:p>
            <a:pPr>
              <a:defRPr sz="2200" b="1">
                <a:solidFill>
                  <a:srgbClr val="0078D4"/>
                </a:solidFill>
              </a:defRPr>
            </a:pPr>
            <a:r>
              <a:t>Open Settings → Devices → Printers &amp; scanners</a:t>
            </a:r>
          </a:p>
          <a:p>
            <a:pPr>
              <a:defRPr sz="1800" b="0"/>
            </a:pPr>
          </a:p>
          <a:p>
            <a:pPr>
              <a:defRPr sz="2000" b="0"/>
            </a:pPr>
            <a:r>
              <a:t>Take screenshot of all mapped printers:</a:t>
            </a:r>
          </a:p>
          <a:p>
            <a:pPr lvl="1">
              <a:defRPr sz="1800" b="0"/>
            </a:pPr>
            <a:r>
              <a:t>Press Win + Shift + S</a:t>
            </a:r>
          </a:p>
          <a:p>
            <a:pPr lvl="1">
              <a:defRPr sz="1800" b="0"/>
            </a:pPr>
            <a:r>
              <a:t>Select entire printer list</a:t>
            </a:r>
          </a:p>
          <a:p>
            <a:pPr lvl="1">
              <a:defRPr sz="1800" b="0"/>
            </a:pPr>
            <a:r>
              <a:t>Save to OneDrive &gt; Documents &gt; PrinterBackup.png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4: WiFi Network Documentation</a:t>
            </a:r>
          </a:p>
        </p:txBody>
      </p:sp>
      <p:sp>
        <p:nvSpPr>
          <p:cNvPr id="3" name="TextBox 2"/>
          <p:cNvSpPr txBox="1"/>
          <p:nvPr/>
        </p:nvSpPr>
        <p:spPr>
          <a:xfrm>
            <a:off x="1828800" y="1371600"/>
            <a:ext cx="5486400" cy="2286000"/>
          </a:xfrm>
          <a:prstGeom prst="rect">
            <a:avLst/>
          </a:prstGeom>
          <a:noFill/>
        </p:spPr>
        <p:txBody>
          <a:bodyPr wrap="square">
            <a:spAutoFit/>
          </a:bodyPr>
          <a:lstStyle/>
          <a:p/>
          <a:p>
            <a:pPr>
              <a:defRPr sz="2000" b="0"/>
            </a:pPr>
            <a:r>
              <a:t>Click WiFi icon in system tray (bottom right)</a:t>
            </a:r>
          </a:p>
          <a:p>
            <a:pPr>
              <a:defRPr sz="1800" b="0"/>
            </a:pPr>
          </a:p>
          <a:p>
            <a:pPr>
              <a:defRPr sz="2000" b="1">
                <a:solidFill>
                  <a:srgbClr val="0078D4"/>
                </a:solidFill>
              </a:defRPr>
            </a:pPr>
            <a:r>
              <a:t>Record the network name (SSID):</a:t>
            </a:r>
          </a:p>
          <a:p>
            <a:pPr lvl="1">
              <a:defRPr sz="1800" b="0"/>
            </a:pPr>
            <a:r>
              <a:t>Network: _______________________</a:t>
            </a:r>
          </a:p>
        </p:txBody>
      </p:sp>
      <p:sp>
        <p:nvSpPr>
          <p:cNvPr id="4" name="TextBox 3"/>
          <p:cNvSpPr txBox="1"/>
          <p:nvPr/>
        </p:nvSpPr>
        <p:spPr>
          <a:xfrm>
            <a:off x="1371600" y="3657600"/>
            <a:ext cx="6400800" cy="914400"/>
          </a:xfrm>
          <a:prstGeom prst="rect">
            <a:avLst/>
          </a:prstGeom>
          <a:noFill/>
        </p:spPr>
        <p:txBody>
          <a:bodyPr wrap="square">
            <a:spAutoFit/>
          </a:bodyPr>
          <a:lstStyle/>
          <a:p>
            <a:pPr algn="ctr">
              <a:defRPr sz="1400">
                <a:solidFill>
                  <a:srgbClr val="0078D4"/>
                </a:solidFill>
              </a:defRPr>
            </a:pPr>
            <a:r>
              <a:t>💡 Why this matters: You'll need to reconnect during device setup (OOBE). Having the exact network name ensures smooth reconnection.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5: Outlook Data Files (OST/PST)</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PST files are NOT backed up by OneDrive automatically</a:t>
            </a:r>
          </a:p>
        </p:txBody>
      </p:sp>
      <p:sp>
        <p:nvSpPr>
          <p:cNvPr id="4" name="TextBox 3"/>
          <p:cNvSpPr txBox="1"/>
          <p:nvPr/>
        </p:nvSpPr>
        <p:spPr>
          <a:xfrm>
            <a:off x="1371600" y="1645920"/>
            <a:ext cx="6400800" cy="2560320"/>
          </a:xfrm>
          <a:prstGeom prst="rect">
            <a:avLst/>
          </a:prstGeom>
          <a:noFill/>
        </p:spPr>
        <p:txBody>
          <a:bodyPr wrap="square">
            <a:spAutoFit/>
          </a:bodyPr>
          <a:lstStyle/>
          <a:p/>
          <a:p>
            <a:pPr>
              <a:defRPr sz="1800" b="0"/>
            </a:pPr>
            <a:r>
              <a:t>Open File Explorer</a:t>
            </a:r>
          </a:p>
          <a:p>
            <a:pPr>
              <a:defRPr sz="1800" b="0"/>
            </a:pPr>
            <a:r>
              <a:t>Paste into address bar: %LOCALAPPDATA%\Microsoft\Outlook</a:t>
            </a:r>
          </a:p>
          <a:p>
            <a:pPr>
              <a:defRPr sz="1800" b="0"/>
            </a:pPr>
          </a:p>
          <a:p>
            <a:pPr>
              <a:defRPr sz="1800" b="0">
                <a:solidFill>
                  <a:srgbClr val="107C10"/>
                </a:solidFill>
              </a:defRPr>
            </a:pPr>
            <a:r>
              <a:t>OST files (.ost) - No action needed (will be recreated)</a:t>
            </a:r>
          </a:p>
          <a:p>
            <a:pPr>
              <a:defRPr sz="1800" b="1">
                <a:solidFill>
                  <a:srgbClr val="D13438"/>
                </a:solidFill>
              </a:defRPr>
            </a:pPr>
            <a:r>
              <a:t>PST files (.pst) - MUST be copied to OneDrive Documents</a:t>
            </a:r>
          </a:p>
          <a:p>
            <a:pPr>
              <a:defRPr sz="1800" b="0"/>
            </a:pPr>
          </a:p>
          <a:p>
            <a:pPr>
              <a:defRPr sz="1800" b="0">
                <a:solidFill>
                  <a:srgbClr val="0078D4"/>
                </a:solidFill>
              </a:defRPr>
            </a:pPr>
            <a:r>
              <a:t>If PST files exist: Right-click → Copy → OneDrive Documents</a:t>
            </a:r>
          </a:p>
          <a:p>
            <a:pPr>
              <a:defRPr sz="1800" b="0">
                <a:solidFill>
                  <a:srgbClr val="0078D4"/>
                </a:solidFill>
              </a:defRPr>
            </a:pPr>
            <a:r>
              <a:t>Verify in portal.office.com → OneDrive → Documents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6: iOS Backup Verification</a:t>
            </a:r>
          </a:p>
        </p:txBody>
      </p:sp>
      <p:sp>
        <p:nvSpPr>
          <p:cNvPr id="3" name="TextBox 2"/>
          <p:cNvSpPr txBox="1"/>
          <p:nvPr/>
        </p:nvSpPr>
        <p:spPr>
          <a:xfrm>
            <a:off x="1828800" y="1371600"/>
            <a:ext cx="5486400" cy="2743200"/>
          </a:xfrm>
          <a:prstGeom prst="rect">
            <a:avLst/>
          </a:prstGeom>
          <a:noFill/>
        </p:spPr>
        <p:txBody>
          <a:bodyPr wrap="square">
            <a:spAutoFit/>
          </a:bodyPr>
          <a:lstStyle/>
          <a:p/>
          <a:p>
            <a:pPr>
              <a:defRPr sz="2000" b="1">
                <a:solidFill>
                  <a:srgbClr val="0078D4"/>
                </a:solidFill>
              </a:defRPr>
            </a:pPr>
            <a:r>
              <a:t>If user has iPhone or iPad:</a:t>
            </a:r>
          </a:p>
          <a:p>
            <a:pPr>
              <a:defRPr sz="1800" b="0"/>
            </a:pPr>
          </a:p>
          <a:p>
            <a:pPr lvl="1">
              <a:defRPr sz="1800" b="0"/>
            </a:pPr>
            <a:r>
              <a:t>Connect iOS device via USB cable</a:t>
            </a:r>
          </a:p>
          <a:p>
            <a:pPr lvl="1">
              <a:defRPr sz="1800" b="0"/>
            </a:pPr>
            <a:r>
              <a:t>Open Apple Devices app from Microsoft Store</a:t>
            </a:r>
          </a:p>
          <a:p>
            <a:pPr lvl="1">
              <a:defRPr sz="1800" b="0"/>
            </a:pPr>
            <a:r>
              <a:t>Check backup status - verify recent backup exists</a:t>
            </a:r>
          </a:p>
          <a:p>
            <a:pPr lvl="1">
              <a:defRPr sz="1800" b="0"/>
            </a:pPr>
            <a:r>
              <a:t>If no backup or &gt;48 hours old: Click 'Back Up Now'</a:t>
            </a:r>
          </a:p>
          <a:p>
            <a:pPr>
              <a:defRPr sz="1800" b="0"/>
            </a:pPr>
          </a:p>
          <a:p>
            <a:pPr>
              <a:defRPr sz="1800" b="0">
                <a:solidFill>
                  <a:srgbClr val="969696"/>
                </a:solidFill>
              </a:defRPr>
            </a:pPr>
            <a:r>
              <a:t>If no iOS device: Skip this step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Phase 1 Checklist - Before Reset</a:t>
            </a:r>
          </a:p>
        </p:txBody>
      </p:sp>
      <p:sp>
        <p:nvSpPr>
          <p:cNvPr id="3" name="TextBox 2"/>
          <p:cNvSpPr txBox="1"/>
          <p:nvPr/>
        </p:nvSpPr>
        <p:spPr>
          <a:xfrm>
            <a:off x="1371600" y="1097280"/>
            <a:ext cx="6400800" cy="3474720"/>
          </a:xfrm>
          <a:prstGeom prst="rect">
            <a:avLst/>
          </a:prstGeom>
          <a:noFill/>
        </p:spPr>
        <p:txBody>
          <a:bodyPr wrap="square">
            <a:spAutoFit/>
          </a:bodyPr>
          <a:lstStyle/>
          <a:p/>
          <a:p>
            <a:pPr>
              <a:defRPr sz="1800" b="0"/>
            </a:pPr>
            <a:r>
              <a:t>☐ OneDrive signed in with INGINC.com account</a:t>
            </a:r>
          </a:p>
          <a:p>
            <a:pPr>
              <a:defRPr sz="1800" b="0"/>
            </a:pPr>
            <a:r>
              <a:t>☐ Known Folder Backup enabled (Desktop, Documents, Pictures)</a:t>
            </a:r>
          </a:p>
          <a:p>
            <a:pPr>
              <a:defRPr sz="1800" b="1">
                <a:solidFill>
                  <a:srgbClr val="107C10"/>
                </a:solidFill>
              </a:defRPr>
            </a:pPr>
            <a:r>
              <a:t>☐ OneDrive sync complete (green checkmark ✓)</a:t>
            </a:r>
          </a:p>
          <a:p>
            <a:pPr>
              <a:defRPr sz="1800" b="0"/>
            </a:pPr>
            <a:r>
              <a:t>☐ Browser sync enabled</a:t>
            </a:r>
          </a:p>
          <a:p>
            <a:pPr>
              <a:defRPr sz="1800" b="0"/>
            </a:pPr>
            <a:r>
              <a:t>☐ Browser bookmarks/passwords exported to OneDrive</a:t>
            </a:r>
          </a:p>
          <a:p>
            <a:pPr>
              <a:defRPr sz="1800" b="0"/>
            </a:pPr>
            <a:r>
              <a:t>☐ Printer configuration screenshot saved</a:t>
            </a:r>
          </a:p>
          <a:p>
            <a:pPr>
              <a:defRPr sz="1800" b="0"/>
            </a:pPr>
            <a:r>
              <a:t>☐ WiFi SSID recorded</a:t>
            </a:r>
          </a:p>
          <a:p>
            <a:pPr>
              <a:defRPr sz="1800" b="0"/>
            </a:pPr>
            <a:r>
              <a:t>☐ Outlook PST files checked and moved (if applicable)</a:t>
            </a:r>
          </a:p>
          <a:p>
            <a:pPr>
              <a:defRPr sz="1800" b="0"/>
            </a:pPr>
            <a:r>
              <a:t>☐ iOS backup verified or created (if applicable)</a:t>
            </a:r>
          </a:p>
        </p:txBody>
      </p:sp>
      <p:sp>
        <p:nvSpPr>
          <p:cNvPr id="4" name="TextBox 3"/>
          <p:cNvSpPr txBox="1"/>
          <p:nvPr/>
        </p:nvSpPr>
        <p:spPr>
          <a:xfrm>
            <a:off x="914400" y="4572000"/>
            <a:ext cx="7315200" cy="457200"/>
          </a:xfrm>
          <a:prstGeom prst="rect">
            <a:avLst/>
          </a:prstGeom>
          <a:noFill/>
        </p:spPr>
        <p:txBody>
          <a:bodyPr wrap="square">
            <a:spAutoFit/>
          </a:bodyPr>
          <a:lstStyle/>
          <a:p>
            <a:pPr algn="ctr">
              <a:defRPr sz="1800" b="1">
                <a:solidFill>
                  <a:srgbClr val="D13438"/>
                </a:solidFill>
              </a:defRPr>
            </a:pPr>
            <a:r>
              <a:t>🛑 DO NOT request device reset until ALL items above are complete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Questions &amp; Support</a:t>
            </a:r>
          </a:p>
        </p:txBody>
      </p:sp>
      <p:sp>
        <p:nvSpPr>
          <p:cNvPr id="3" name="TextBox 2"/>
          <p:cNvSpPr txBox="1"/>
          <p:nvPr/>
        </p:nvSpPr>
        <p:spPr>
          <a:xfrm>
            <a:off x="1828800" y="1371600"/>
            <a:ext cx="5486400" cy="2743200"/>
          </a:xfrm>
          <a:prstGeom prst="rect">
            <a:avLst/>
          </a:prstGeom>
          <a:noFill/>
        </p:spPr>
        <p:txBody>
          <a:bodyPr wrap="square">
            <a:spAutoFit/>
          </a:bodyPr>
          <a:lstStyle/>
          <a:p/>
          <a:p>
            <a:pPr>
              <a:defRPr sz="2400" b="1">
                <a:solidFill>
                  <a:srgbClr val="0078D4"/>
                </a:solidFill>
              </a:defRPr>
            </a:pPr>
            <a:r>
              <a:t>Need help during backup?</a:t>
            </a:r>
          </a:p>
          <a:p>
            <a:pPr>
              <a:defRPr sz="1800" b="0"/>
            </a:pPr>
          </a:p>
          <a:p>
            <a:pPr lvl="1">
              <a:defRPr sz="2000" b="0"/>
            </a:pPr>
            <a:r>
              <a:t>📧 [YOUR IT SUPPORT EMAIL]</a:t>
            </a:r>
          </a:p>
          <a:p>
            <a:pPr lvl="1">
              <a:defRPr sz="2000" b="0"/>
            </a:pPr>
            <a:r>
              <a:t>💬 [YOUR SUPPORT CHANNEL]</a:t>
            </a:r>
          </a:p>
          <a:p>
            <a:pPr lvl="1">
              <a:defRPr sz="2000" b="0"/>
            </a:pPr>
            <a:r>
              <a:t>📞 [YOUR SUPPORT PHONE]</a:t>
            </a:r>
          </a:p>
          <a:p>
            <a:pPr>
              <a:defRPr sz="1800" b="0"/>
            </a:pPr>
          </a:p>
          <a:p>
            <a:pPr>
              <a:defRPr sz="2400" b="1">
                <a:solidFill>
                  <a:srgbClr val="0078D4"/>
                </a:solidFill>
              </a:defRPr>
            </a:pPr>
            <a:r>
              <a:t>🌐 Full Documentation:</a:t>
            </a:r>
          </a:p>
          <a:p>
            <a:pPr lvl="1">
              <a:defRPr sz="1600" b="0"/>
            </a:pPr>
            <a:r>
              <a:t>https://ipsghonline.github.io/tmp/docs/monday-go-live/workflow.html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