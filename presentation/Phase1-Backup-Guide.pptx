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4" r:id="rId9"/>
    <p:sldId id="266" r:id="rId10"/>
    <p:sldId id="271" r:id="rId11"/>
    <p:sldId id="272" r:id="rId12"/>
    <p:sldId id="273" r:id="rId13"/>
    <p:sldId id="269" r:id="rId14"/>
    <p:sldId id="275" r:id="rId15"/>
    <p:sldId id="274" r:id="rId16"/>
    <p:sldId id="276" r:id="rId17"/>
    <p:sldId id="277" r:id="rId18"/>
    <p:sldId id="278" r:id="rId19"/>
    <p:sldId id="267" r:id="rId20"/>
    <p:sldId id="268" r:id="rId21"/>
    <p:sldId id="279" r:id="rId22"/>
    <p:sldId id="280" r:id="rId23"/>
    <p:sldId id="282" r:id="rId24"/>
    <p:sldId id="283" r:id="rId25"/>
    <p:sldId id="284" r:id="rId26"/>
    <p:sldId id="285" r:id="rId27"/>
    <p:sldId id="286" r:id="rId28"/>
    <p:sldId id="287" r:id="rId29"/>
    <p:sldId id="288" r:id="rId3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054"/>
    <p:restoredTop sz="75845"/>
  </p:normalViewPr>
  <p:slideViewPr>
    <p:cSldViewPr snapToGrid="0" snapToObjects="1">
      <p:cViewPr varScale="1">
        <p:scale>
          <a:sx n="211" d="100"/>
          <a:sy n="211" d="100"/>
        </p:scale>
        <p:origin x="2344"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4943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OPENING SCRIPT:</a:t>
            </a:r>
          </a:p>
          <a:p>
            <a:r>
              <a:t>"Today we're going to walk through backing up your device before we reset it. This process takes about 20-30 minutes, and we'll make sure all your important files, browser settings, and configurations are safely stored in OneDrive. I'll guide you step-by-step through each section. Do you have about 30 minutes to work through this together?"</a:t>
            </a:r>
          </a:p>
          <a:p>
            <a:endParaRPr/>
          </a:p>
          <a:p>
            <a:r>
              <a:t>KEY POINTS:</a:t>
            </a:r>
          </a:p>
          <a:p>
            <a:r>
              <a:t>- Set expectations: 20-30 minutes total</a:t>
            </a:r>
          </a:p>
          <a:p>
            <a:r>
              <a:t>- Emphasize safety: "We won't reset until everything is backed up"</a:t>
            </a:r>
          </a:p>
          <a:p>
            <a:r>
              <a:t>- Reassure: "I'll guide you through every step"</a:t>
            </a:r>
          </a:p>
          <a:p>
            <a:r>
              <a:t>- Check time availability before starting</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SCRIPT:</a:t>
            </a:r>
          </a:p>
          <a:p>
            <a:r>
              <a:t>"Here's what we're going to back up today. The most important part is OneDrive - that's where all your files will be safely stored in the cloud. We'll also save your browser bookmarks and passwords, capture your printer settings, and if you have an iPhone or iPad, we'll verify that's backed up too. Each of these steps is important, but don't worry - I'll walk you through them one at a time."</a:t>
            </a:r>
          </a:p>
          <a:p>
            <a:endParaRPr/>
          </a:p>
          <a:p>
            <a:r>
              <a:t>EMPHASIS:</a:t>
            </a:r>
          </a:p>
          <a:p>
            <a:r>
              <a:t>- OneDrive is the MOST CRITICAL step</a:t>
            </a:r>
          </a:p>
          <a:p>
            <a:r>
              <a:t>- Everything goes to the cloud - safe even if device fails</a:t>
            </a:r>
          </a:p>
          <a:p>
            <a:r>
              <a:t>- User doesn't need to understand technical details</a:t>
            </a:r>
          </a:p>
          <a:p>
            <a:r>
              <a:t>- Focus on: "Your files will be safe"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DETAILED SCRIPT:</a:t>
            </a:r>
          </a:p>
          <a:p>
            <a:r>
              <a:t>"Let's start with OneDrive. Look at the bottom right corner of your screen, near the clock. Do you see a little cloud icon? That's OneDrive. Click on it.</a:t>
            </a:r>
          </a:p>
          <a:p>
            <a:endParaRPr/>
          </a:p>
          <a:p>
            <a:r>
              <a:t>If you don't see it, we need to install OneDrive first - we can get that from the Microsoft Store or onedrive.com.</a:t>
            </a:r>
          </a:p>
          <a:p>
            <a:endParaRPr/>
          </a:p>
          <a:p>
            <a:r>
              <a:t>[Once they find it]</a:t>
            </a:r>
          </a:p>
          <a:p>
            <a:r>
              <a:t>Great! Now click on that cloud icon. Do you see where it says 'Sign in'? Click that and use your INGINC.com email address - the same one you use for Outlook.</a:t>
            </a:r>
          </a:p>
          <a:p>
            <a:endParaRPr/>
          </a:p>
          <a:p>
            <a:r>
              <a:t>[After sign in]</a:t>
            </a:r>
          </a:p>
          <a:p>
            <a:r>
              <a:t>Perfect! Now let's set up folder backup. Click the gear icon in the OneDrive window. See where it says 'Sync and backup'? Click that tab. Now click 'Manage backup'.</a:t>
            </a:r>
          </a:p>
          <a:p>
            <a:endParaRPr/>
          </a:p>
          <a:p>
            <a:r>
              <a:t>You should see three folders here: Desktop, Documents, and Pictures. We want to make sure all three have checkmarks. If any are missing checkmarks, click to enable them. Then click 'Start backup' at the bottom.</a:t>
            </a:r>
          </a:p>
          <a:p>
            <a:endParaRPr/>
          </a:p>
          <a:p>
            <a:r>
              <a:t>Now we wait. You'll see the cloud icon has little blue arrows - that means it's uploading your files. This might take 15-30 minutes depending on how many files you have. While it's uploading, we can start working on the next user's backup. We'll come back to check for the green checkmark before we reset your device."</a:t>
            </a:r>
          </a:p>
          <a:p>
            <a:endParaRPr/>
          </a:p>
          <a:p>
            <a:r>
              <a:t>TROUBLESHOOTING:</a:t>
            </a:r>
          </a:p>
          <a:p>
            <a:r>
              <a:t>- No cloud icon: Install OneDrive from Microsoft Store</a:t>
            </a:r>
          </a:p>
          <a:p>
            <a:r>
              <a:t>- Can't sign in: Verify INGINC.com credentials, check MFA</a:t>
            </a:r>
          </a:p>
          <a:p>
            <a:r>
              <a:t>- Known Folder protection already enabled: User may have bypassed - verify in portal.office.com</a:t>
            </a:r>
          </a:p>
          <a:p>
            <a:r>
              <a:t>- Sync stuck: Check internet connection, restart OneDrive</a:t>
            </a:r>
          </a:p>
          <a:p>
            <a:endParaRPr/>
          </a:p>
          <a:p>
            <a:r>
              <a:t>IMPORTANT:</a:t>
            </a:r>
          </a:p>
          <a:p>
            <a:r>
              <a:t>- DO NOT proceed to reset until green checkmark appears</a:t>
            </a:r>
          </a:p>
          <a:p>
            <a:r>
              <a:t>- Use wait time to start another user's Phase 1</a:t>
            </a:r>
          </a:p>
          <a:p>
            <a:r>
              <a:t>- Verify completion in portal.office.com before Phase 2</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SCRIPT:</a:t>
            </a:r>
          </a:p>
          <a:p>
            <a:r>
              <a:t>"Now let's backup your browser. Are you using Chrome or Edge? Let me show you how to turn on sync for your browser.</a:t>
            </a:r>
          </a:p>
          <a:p>
            <a:endParaRPr/>
          </a:p>
          <a:p>
            <a:r>
              <a:t>[For Chrome]</a:t>
            </a:r>
          </a:p>
          <a:p>
            <a:r>
              <a:t>Click the three dots in the top right corner - that's the menu. Go to Settings. On the left side, click 'You and Google'. Now click 'Turn on sync'. Sign in with your INGINC.com email. Once you see 'Sync is on', you're all set.</a:t>
            </a:r>
          </a:p>
          <a:p>
            <a:endParaRPr/>
          </a:p>
          <a:p>
            <a:r>
              <a:t>[For Edge]</a:t>
            </a:r>
          </a:p>
          <a:p>
            <a:r>
              <a:t>Click the three dots in the top right. Go to Settings. Click on Profiles on the left. Then click Sync. Turn on sync and make sure you're signed in with your INGINC.com account.</a:t>
            </a:r>
          </a:p>
          <a:p>
            <a:endParaRPr/>
          </a:p>
          <a:p>
            <a:r>
              <a:t>Now let's export your bookmarks as a backup. Go to the menu again, then Bookmarks or Favorites, find the three dots, and click Export. Save that file to your OneDrive Documents folder. Name it something like 'Browser Bookmarks Backup'.</a:t>
            </a:r>
          </a:p>
          <a:p>
            <a:endParaRPr/>
          </a:p>
          <a:p>
            <a:r>
              <a:t>If you want to export your passwords too, go back to Settings, click on Passwords, find the three dots next to 'Saved passwords', and click Export passwords. Save that to OneDrive Documents as well. Important: this file contains your passwords, so we'll delete it from OneDrive once everything is restored and working."</a:t>
            </a:r>
          </a:p>
          <a:p>
            <a:endParaRPr/>
          </a:p>
          <a:p>
            <a:r>
              <a:t>KEY POINTS:</a:t>
            </a:r>
          </a:p>
          <a:p>
            <a:r>
              <a:t>- Sync is the primary protection (automatic)</a:t>
            </a:r>
          </a:p>
          <a:p>
            <a:r>
              <a:t>- Export is secondary backup (manual, but safer)</a:t>
            </a:r>
          </a:p>
          <a:p>
            <a:r>
              <a:t>- Password CSV is sensitive - remind to delete later</a:t>
            </a:r>
          </a:p>
          <a:p>
            <a:r>
              <a:t>- Save exports to: OneDrive &gt; Documents &gt; BrowserBackup folder</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SCRIPT:</a:t>
            </a:r>
          </a:p>
          <a:p>
            <a:r>
              <a:t>"Next, let's capture your printer settings. Click the Start button and type 'Settings'. Open Settings, then click on 'Devices', then 'Printers &amp; scanners'.</a:t>
            </a:r>
          </a:p>
          <a:p>
            <a:endParaRPr/>
          </a:p>
          <a:p>
            <a:r>
              <a:t>Perfect - I can see you have [X] printers configured. We're going to take a screenshot of this list so we can set them back up exactly the same way after the reset.</a:t>
            </a:r>
          </a:p>
          <a:p>
            <a:endParaRPr/>
          </a:p>
          <a:p>
            <a:r>
              <a:t>Press the Windows key, Shift, and S all at the same time. Your screen should dim a bit - that's the screenshot tool. Click and drag to capture the entire printer list.</a:t>
            </a:r>
          </a:p>
          <a:p>
            <a:endParaRPr/>
          </a:p>
          <a:p>
            <a:r>
              <a:t>Once you've captured it, a notification will pop up in the corner. Click that notification, and it will open in the Snipping Tool. Click the save button (floppy disk icon) and save it to your OneDrive Documents folder. Name it 'PrinterBackup' or 'Printers Screenshot'."</a:t>
            </a:r>
          </a:p>
          <a:p>
            <a:endParaRPr/>
          </a:p>
          <a:p>
            <a:r>
              <a:t>WHY THIS MATTERS:</a:t>
            </a:r>
          </a:p>
          <a:p>
            <a:r>
              <a:t>- Printer names, IPs, and driver info visible in screenshot</a:t>
            </a:r>
          </a:p>
          <a:p>
            <a:r>
              <a:t>- Makes Phase 3 printer restoration much faster</a:t>
            </a:r>
          </a:p>
          <a:p>
            <a:r>
              <a:t>- Users often don't remember printer names</a:t>
            </a:r>
          </a:p>
          <a:p>
            <a:r>
              <a:t>- Screenshot is faster than manual documentation</a:t>
            </a:r>
          </a:p>
          <a:p>
            <a:endParaRPr/>
          </a:p>
          <a:p>
            <a:r>
              <a:t>ALTERNATIVE:</a:t>
            </a:r>
          </a:p>
          <a:p>
            <a:r>
              <a:t>If user is uncomfortable with screenshots, manually document:</a:t>
            </a:r>
          </a:p>
          <a:p>
            <a:r>
              <a:t>- Printer name</a:t>
            </a:r>
          </a:p>
          <a:p>
            <a:r>
              <a:t>- Printer model</a:t>
            </a:r>
          </a:p>
          <a:p>
            <a:r>
              <a:t>- IP address (if network printer)</a:t>
            </a:r>
          </a:p>
          <a:p>
            <a:r>
              <a:t>- Default printer (marked with checkmark)</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SCRIPT:</a:t>
            </a:r>
          </a:p>
          <a:p>
            <a:r>
              <a:rPr dirty="0"/>
              <a:t>"Before we reset your device, let's record which </a:t>
            </a:r>
            <a:r>
              <a:rPr dirty="0" err="1"/>
              <a:t>WiFi</a:t>
            </a:r>
            <a:r>
              <a:rPr dirty="0"/>
              <a:t> network you're connected to. Click on the </a:t>
            </a:r>
            <a:r>
              <a:rPr dirty="0" err="1"/>
              <a:t>WiFi</a:t>
            </a:r>
            <a:r>
              <a:rPr dirty="0"/>
              <a:t> icon in your taskbar - that's the wireless symbol in the bottom right corner, near the clock.</a:t>
            </a:r>
          </a:p>
          <a:p>
            <a:endParaRPr dirty="0"/>
          </a:p>
          <a:p>
            <a:r>
              <a:rPr dirty="0"/>
              <a:t>Can you tell me the name of the network you're connected to? I'm going to write it down.</a:t>
            </a:r>
          </a:p>
          <a:p>
            <a:endParaRPr dirty="0"/>
          </a:p>
          <a:p>
            <a:r>
              <a:rPr dirty="0"/>
              <a:t>[Record the SSID]</a:t>
            </a:r>
          </a:p>
          <a:p>
            <a:endParaRPr dirty="0"/>
          </a:p>
          <a:p>
            <a:r>
              <a:rPr dirty="0"/>
              <a:t>Great! After the reset, when Windows first starts up, it will ask you to connect to </a:t>
            </a:r>
            <a:r>
              <a:rPr dirty="0" err="1"/>
              <a:t>WiFi</a:t>
            </a:r>
            <a:r>
              <a:rPr dirty="0"/>
              <a:t>. We'll use this network name to reconnect quickly."</a:t>
            </a:r>
          </a:p>
          <a:p>
            <a:endParaRPr dirty="0"/>
          </a:p>
          <a:p>
            <a:r>
              <a:rPr dirty="0"/>
              <a:t>WHY THIS MATTERS:</a:t>
            </a:r>
          </a:p>
          <a:p>
            <a:r>
              <a:rPr dirty="0"/>
              <a:t>- OOBE (Out of Box Experience) requires internet before Autopilot can begin</a:t>
            </a:r>
          </a:p>
          <a:p>
            <a:r>
              <a:rPr dirty="0"/>
              <a:t>- Sites often have multiple similar network names (Guest, Corp, VPN, etc.)</a:t>
            </a:r>
          </a:p>
          <a:p>
            <a:r>
              <a:rPr dirty="0"/>
              <a:t>- Exact SSID avoids confusion during setup</a:t>
            </a:r>
          </a:p>
          <a:p>
            <a:r>
              <a:rPr dirty="0"/>
              <a:t>- Saves time - no hunting for correct network</a:t>
            </a:r>
          </a:p>
          <a:p>
            <a:endParaRPr dirty="0"/>
          </a:p>
          <a:p>
            <a:r>
              <a:rPr dirty="0"/>
              <a:t>DOCUMENT:</a:t>
            </a:r>
          </a:p>
          <a:p>
            <a:r>
              <a:rPr dirty="0"/>
              <a:t>- Record SSID in your notes or ticket system</a:t>
            </a:r>
          </a:p>
          <a:p>
            <a:r>
              <a:rPr dirty="0"/>
              <a:t>- If multiple networks available, note which one to use</a:t>
            </a:r>
          </a:p>
          <a:p>
            <a:r>
              <a:rPr dirty="0"/>
              <a:t>- If user is on Guest network, note if Corp network is available</a:t>
            </a:r>
          </a:p>
          <a:p>
            <a:r>
              <a:rPr dirty="0"/>
              <a:t>- Check if network requires certificate or special auth</a:t>
            </a:r>
          </a:p>
          <a:p>
            <a:endParaRPr dirty="0"/>
          </a:p>
          <a:p>
            <a:r>
              <a:rPr dirty="0"/>
              <a:t>COMMON NETWORKS:</a:t>
            </a:r>
          </a:p>
          <a:p>
            <a:r>
              <a:rPr dirty="0"/>
              <a:t>- </a:t>
            </a:r>
            <a:r>
              <a:rPr dirty="0" err="1"/>
              <a:t>Impact_Floors_Corp</a:t>
            </a:r>
            <a:endParaRPr dirty="0"/>
          </a:p>
          <a:p>
            <a:r>
              <a:rPr dirty="0"/>
              <a:t>- </a:t>
            </a:r>
            <a:r>
              <a:rPr dirty="0" err="1"/>
              <a:t>Impact_Guest</a:t>
            </a:r>
            <a:endParaRPr dirty="0"/>
          </a:p>
          <a:p>
            <a:r>
              <a:rPr dirty="0"/>
              <a:t>- INGINC-</a:t>
            </a:r>
            <a:r>
              <a:rPr dirty="0" err="1"/>
              <a:t>WiFi</a:t>
            </a:r>
            <a:endParaRPr dirty="0"/>
          </a:p>
          <a:p>
            <a:r>
              <a:rPr dirty="0"/>
              <a:t>- Site-specific names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DETAILED SCRIPT:</a:t>
            </a:r>
          </a:p>
          <a:p>
            <a:r>
              <a:rPr dirty="0"/>
              <a:t>"Now we need to check for Outlook data files. These are special files that store your email archives, and they won't sync automatically to OneDrive.</a:t>
            </a:r>
          </a:p>
          <a:p>
            <a:endParaRPr dirty="0"/>
          </a:p>
          <a:p>
            <a:r>
              <a:rPr dirty="0"/>
              <a:t>Open File Explorer - you can click the folder icon in your taskbar. Now, click in the address bar at the top where it shows the folder path, and I'm going to have you type something. Clear that out and type exactly:</a:t>
            </a:r>
          </a:p>
          <a:p>
            <a:r>
              <a:rPr dirty="0"/>
              <a:t>%LOCALAPPDATA%\Microsoft\Outlook</a:t>
            </a:r>
          </a:p>
          <a:p>
            <a:endParaRPr dirty="0"/>
          </a:p>
          <a:p>
            <a:r>
              <a:rPr dirty="0"/>
              <a:t>Press Enter. This will take you to where Outlook stores its data files.</a:t>
            </a:r>
          </a:p>
          <a:p>
            <a:endParaRPr dirty="0"/>
          </a:p>
          <a:p>
            <a:r>
              <a:rPr dirty="0"/>
              <a:t>Do you see any files in this folder? Look for files ending in .</a:t>
            </a:r>
            <a:r>
              <a:rPr dirty="0" err="1"/>
              <a:t>ost</a:t>
            </a:r>
            <a:r>
              <a:rPr dirty="0"/>
              <a:t> or .</a:t>
            </a:r>
            <a:r>
              <a:rPr dirty="0" err="1"/>
              <a:t>pst</a:t>
            </a:r>
            <a:r>
              <a:rPr dirty="0"/>
              <a:t>.</a:t>
            </a:r>
          </a:p>
          <a:p>
            <a:endParaRPr dirty="0"/>
          </a:p>
          <a:p>
            <a:r>
              <a:rPr dirty="0"/>
              <a:t>[If OST files only]</a:t>
            </a:r>
          </a:p>
          <a:p>
            <a:r>
              <a:rPr dirty="0"/>
              <a:t>Perfect - I see OST files, but no PST files. The OST files are just a cached copy of your mailbox - those get recreated automatically after migration. You're all set here.</a:t>
            </a:r>
          </a:p>
          <a:p>
            <a:endParaRPr dirty="0"/>
          </a:p>
          <a:p>
            <a:r>
              <a:rPr dirty="0"/>
              <a:t>[If PST files exist]</a:t>
            </a:r>
          </a:p>
          <a:p>
            <a:r>
              <a:rPr dirty="0"/>
              <a:t>Okay, I see you have PST files. These are personal archives - maybe old emails you wanted to keep. We need to copy these to your OneDrive.</a:t>
            </a:r>
          </a:p>
          <a:p>
            <a:endParaRPr dirty="0"/>
          </a:p>
          <a:p>
            <a:r>
              <a:rPr dirty="0"/>
              <a:t>Right-click on the PST file and select Copy. Now navigate to your OneDrive Documents folder - you can click 'OneDrive - </a:t>
            </a:r>
            <a:r>
              <a:rPr dirty="0" err="1"/>
              <a:t>INGINC.com</a:t>
            </a:r>
            <a:r>
              <a:rPr dirty="0"/>
              <a:t>' in the left sidebar of File Explorer, then Documents. Right-click in an empty area and select Paste.</a:t>
            </a:r>
          </a:p>
          <a:p>
            <a:endParaRPr dirty="0"/>
          </a:p>
          <a:p>
            <a:r>
              <a:rPr dirty="0"/>
              <a:t>Great! Now let's verify it copied correctly. Open your web browser and go to </a:t>
            </a:r>
            <a:r>
              <a:rPr dirty="0" err="1"/>
              <a:t>portal.office.com</a:t>
            </a:r>
            <a:r>
              <a:rPr dirty="0"/>
              <a:t>. Sign in if needed, then click on OneDrive. Go to the Documents folder - can you see the PST file there?"</a:t>
            </a:r>
          </a:p>
          <a:p>
            <a:endParaRPr dirty="0"/>
          </a:p>
          <a:p>
            <a:r>
              <a:rPr dirty="0"/>
              <a:t>TECHNICAL DETAILS:</a:t>
            </a:r>
          </a:p>
          <a:p>
            <a:r>
              <a:rPr dirty="0"/>
              <a:t>OST Files:</a:t>
            </a:r>
          </a:p>
          <a:p>
            <a:r>
              <a:rPr dirty="0"/>
              <a:t>- Offline cache of Exchange mailbox</a:t>
            </a:r>
          </a:p>
          <a:p>
            <a:r>
              <a:rPr dirty="0"/>
              <a:t>- Stored locally for performance</a:t>
            </a:r>
          </a:p>
          <a:p>
            <a:r>
              <a:rPr dirty="0"/>
              <a:t>- Automatically recreated when Outlook connects to Exchange</a:t>
            </a:r>
          </a:p>
          <a:p>
            <a:r>
              <a:rPr dirty="0"/>
              <a:t>- Can be large (5-50 GB typical)</a:t>
            </a:r>
          </a:p>
          <a:p>
            <a:r>
              <a:rPr dirty="0"/>
              <a:t>- NO ACTION NEEDED - let them be deleted with reset</a:t>
            </a:r>
          </a:p>
          <a:p>
            <a:endParaRPr dirty="0"/>
          </a:p>
          <a:p>
            <a:r>
              <a:rPr dirty="0"/>
              <a:t>PST Files:</a:t>
            </a:r>
          </a:p>
          <a:p>
            <a:r>
              <a:rPr dirty="0"/>
              <a:t>- Personal archive created by USER</a:t>
            </a:r>
          </a:p>
          <a:p>
            <a:r>
              <a:rPr dirty="0"/>
              <a:t>- Contains emails moved OUT of main mailbox</a:t>
            </a:r>
          </a:p>
          <a:p>
            <a:r>
              <a:rPr dirty="0"/>
              <a:t>- Often used for old emails, projects, legal hold</a:t>
            </a:r>
          </a:p>
          <a:p>
            <a:r>
              <a:rPr dirty="0"/>
              <a:t>- NOT automatically backed up</a:t>
            </a:r>
          </a:p>
          <a:p>
            <a:r>
              <a:rPr dirty="0"/>
              <a:t>- DATA LOSS if not manually backed up</a:t>
            </a:r>
          </a:p>
          <a:p>
            <a:r>
              <a:rPr dirty="0"/>
              <a:t>- MUST be copied to OneDrive or will be lost forever</a:t>
            </a:r>
          </a:p>
          <a:p>
            <a:endParaRPr dirty="0"/>
          </a:p>
          <a:p>
            <a:r>
              <a:rPr dirty="0"/>
              <a:t>COMMON SCENARIOS:</a:t>
            </a:r>
          </a:p>
          <a:p>
            <a:r>
              <a:rPr dirty="0"/>
              <a:t>1. No PST files (most common): Quick check, move on</a:t>
            </a:r>
          </a:p>
          <a:p>
            <a:r>
              <a:rPr dirty="0"/>
              <a:t>2. Old PST from previous company: Ask if user wants to keep</a:t>
            </a:r>
          </a:p>
          <a:p>
            <a:r>
              <a:rPr dirty="0"/>
              <a:t>3. Multiple PST files: Copy all to OneDrive</a:t>
            </a:r>
          </a:p>
          <a:p>
            <a:r>
              <a:rPr dirty="0"/>
              <a:t>4. PST file very large (&gt;10 GB): May take time to upload, monitor progress</a:t>
            </a:r>
          </a:p>
          <a:p>
            <a:r>
              <a:rPr dirty="0"/>
              <a:t>5. User doesn't know what PST is: Explain "it's like a filing cabinet for old emails you wanted to archive"</a:t>
            </a:r>
          </a:p>
          <a:p>
            <a:endParaRPr dirty="0"/>
          </a:p>
          <a:p>
            <a:r>
              <a:rPr dirty="0"/>
              <a:t>VERIFICATION:</a:t>
            </a:r>
          </a:p>
          <a:p>
            <a:r>
              <a:rPr dirty="0"/>
              <a:t>- Check file size in OneDrive web portal matches local file</a:t>
            </a:r>
          </a:p>
          <a:p>
            <a:r>
              <a:rPr dirty="0"/>
              <a:t>- Confirm green checkmark on OneDrive sync</a:t>
            </a:r>
          </a:p>
          <a:p>
            <a:r>
              <a:rPr dirty="0"/>
              <a:t>- Note PST file names in ticket/documentation</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CHECKPOINT SCRIPT:</a:t>
            </a:r>
          </a:p>
          <a:p>
            <a:r>
              <a:rPr dirty="0"/>
              <a:t>"Alright, let's review everything we've backed up to make sure we're ready for the reset. I'm going to go through the checklist with you:</a:t>
            </a:r>
          </a:p>
          <a:p>
            <a:endParaRPr dirty="0"/>
          </a:p>
          <a:p>
            <a:r>
              <a:rPr dirty="0"/>
              <a:t>[Go through each item and check off]</a:t>
            </a:r>
          </a:p>
          <a:p>
            <a:endParaRPr dirty="0"/>
          </a:p>
          <a:p>
            <a:r>
              <a:rPr dirty="0"/>
              <a:t>1. OneDrive - Is the cloud icon showing a green checkmark? Perfect.</a:t>
            </a:r>
          </a:p>
          <a:p>
            <a:r>
              <a:rPr dirty="0"/>
              <a:t>2. Known Folder Backup - We enabled Desktop, Documents, and Pictures, right? Good.</a:t>
            </a:r>
          </a:p>
          <a:p>
            <a:r>
              <a:rPr dirty="0"/>
              <a:t>3. Sync complete - Everything uploaded? Excellent.</a:t>
            </a:r>
          </a:p>
          <a:p>
            <a:r>
              <a:rPr dirty="0"/>
              <a:t>4. Browser sync - You signed in to Chrome/Edge? Check.</a:t>
            </a:r>
          </a:p>
          <a:p>
            <a:r>
              <a:rPr dirty="0"/>
              <a:t>5. Browser exports - Bookmarks and passwords saved to OneDrive Documents? Got it.</a:t>
            </a:r>
          </a:p>
          <a:p>
            <a:r>
              <a:rPr dirty="0"/>
              <a:t>6. Printers - We took that screenshot? Yes.</a:t>
            </a:r>
          </a:p>
          <a:p>
            <a:r>
              <a:rPr dirty="0"/>
              <a:t>7. </a:t>
            </a:r>
            <a:r>
              <a:rPr dirty="0" err="1"/>
              <a:t>WiFi</a:t>
            </a:r>
            <a:r>
              <a:rPr dirty="0"/>
              <a:t> - I have the network name written down: [SSID]</a:t>
            </a:r>
          </a:p>
          <a:p>
            <a:r>
              <a:rPr dirty="0"/>
              <a:t>8. Outlook PST - [We checked/no PST files/copied to OneDrive]</a:t>
            </a:r>
          </a:p>
          <a:p>
            <a:r>
              <a:rPr dirty="0"/>
              <a:t>9. iOS - [Backup verified/no iOS device/backup created]</a:t>
            </a:r>
          </a:p>
          <a:p>
            <a:endParaRPr dirty="0"/>
          </a:p>
          <a:p>
            <a:r>
              <a:rPr dirty="0"/>
              <a:t>Perfect! Everything is backed up and safe. Your data is secure in OneDrive, and we can now proceed with requesting the device reset. The IT team will send you instructions for Phase 2 once the reset is processed."</a:t>
            </a:r>
          </a:p>
          <a:p>
            <a:endParaRPr dirty="0"/>
          </a:p>
          <a:p>
            <a:r>
              <a:rPr dirty="0"/>
              <a:t>CRITICAL CHECKPOINT:</a:t>
            </a:r>
          </a:p>
          <a:p>
            <a:r>
              <a:rPr dirty="0"/>
              <a:t>- Review EVERY item before ending call</a:t>
            </a:r>
          </a:p>
          <a:p>
            <a:r>
              <a:rPr dirty="0"/>
              <a:t>- Verify green checkmark on OneDrive specifically</a:t>
            </a:r>
          </a:p>
          <a:p>
            <a:r>
              <a:rPr dirty="0"/>
              <a:t>- Check </a:t>
            </a:r>
            <a:r>
              <a:rPr dirty="0" err="1"/>
              <a:t>portal.office.com</a:t>
            </a:r>
            <a:r>
              <a:rPr dirty="0"/>
              <a:t> to visually confirm files in cloud</a:t>
            </a:r>
          </a:p>
          <a:p>
            <a:r>
              <a:rPr dirty="0"/>
              <a:t>- Document checklist completion in ticket</a:t>
            </a:r>
          </a:p>
          <a:p>
            <a:r>
              <a:rPr dirty="0"/>
              <a:t>- User should not be able to proceed to Phase 2 until this is 100% complete</a:t>
            </a:r>
          </a:p>
          <a:p>
            <a:endParaRPr dirty="0"/>
          </a:p>
          <a:p>
            <a:r>
              <a:rPr dirty="0"/>
              <a:t>IF ANYTHING IS INCOMPLETE:</a:t>
            </a:r>
          </a:p>
          <a:p>
            <a:r>
              <a:rPr dirty="0"/>
              <a:t>- Schedule follow-up</a:t>
            </a:r>
          </a:p>
          <a:p>
            <a:r>
              <a:rPr dirty="0"/>
              <a:t>- Set reminder to verify OneDrive sync completion</a:t>
            </a:r>
          </a:p>
          <a:p>
            <a:r>
              <a:rPr dirty="0"/>
              <a:t>- Do NOT rush - data loss is worse than delay</a:t>
            </a:r>
          </a:p>
          <a:p>
            <a:r>
              <a:rPr dirty="0"/>
              <a:t>- Use wait time to help other users</a:t>
            </a:r>
          </a:p>
          <a:p>
            <a:endParaRPr dirty="0"/>
          </a:p>
          <a:p>
            <a:r>
              <a:rPr dirty="0"/>
              <a:t>BEST PRACTICE:</a:t>
            </a:r>
          </a:p>
          <a:p>
            <a:r>
              <a:rPr dirty="0"/>
              <a:t>While waiting for OneDrive sync (15-30 min):</a:t>
            </a:r>
          </a:p>
          <a:p>
            <a:r>
              <a:rPr dirty="0"/>
              <a:t>- Start another user's Phase 1</a:t>
            </a:r>
          </a:p>
          <a:p>
            <a:r>
              <a:rPr dirty="0"/>
              <a:t>- Come back to verify this user's sync completion</a:t>
            </a:r>
          </a:p>
          <a:p>
            <a:r>
              <a:rPr dirty="0"/>
              <a:t>- Efficient use of time while maintaining safety</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DETAILED SCRIPT:</a:t>
            </a:r>
          </a:p>
          <a:p>
            <a:r>
              <a:t>"Let's start with OneDrive. Look at the bottom right corner of your screen, near the clock. Do you see a little cloud icon? That's OneDrive. Click on it.</a:t>
            </a:r>
          </a:p>
          <a:p>
            <a:endParaRPr/>
          </a:p>
          <a:p>
            <a:r>
              <a:t>If you don't see it, we need to install OneDrive first - we can get that from the Microsoft Store or onedrive.com.</a:t>
            </a:r>
          </a:p>
          <a:p>
            <a:endParaRPr/>
          </a:p>
          <a:p>
            <a:r>
              <a:t>[Once they find it]</a:t>
            </a:r>
          </a:p>
          <a:p>
            <a:r>
              <a:t>Great! Now click on that cloud icon. Do you see where it says 'Sign in'? Click that and use your INGINC.com email address - the same one you use for Outlook.</a:t>
            </a:r>
          </a:p>
          <a:p>
            <a:endParaRPr/>
          </a:p>
          <a:p>
            <a:r>
              <a:t>[After sign in]</a:t>
            </a:r>
          </a:p>
          <a:p>
            <a:r>
              <a:t>Perfect! Now let's set up folder backup. Click the gear icon in the OneDrive window. See where it says 'Sync and backup'? Click that tab. Now click 'Manage backup'.</a:t>
            </a:r>
          </a:p>
          <a:p>
            <a:endParaRPr/>
          </a:p>
          <a:p>
            <a:r>
              <a:t>You should see three folders here: Desktop, Documents, and Pictures. We want to make sure all three have checkmarks. If any are missing checkmarks, click to enable them. Then click 'Start backup' at the bottom.</a:t>
            </a:r>
          </a:p>
          <a:p>
            <a:endParaRPr/>
          </a:p>
          <a:p>
            <a:r>
              <a:t>Now we wait. You'll see the cloud icon has little blue arrows - that means it's uploading your files. This might take 15-30 minutes depending on how many files you have. While it's uploading, we can start working on the next user's backup. We'll come back to check for the green checkmark before we reset your device."</a:t>
            </a:r>
          </a:p>
          <a:p>
            <a:endParaRPr/>
          </a:p>
          <a:p>
            <a:r>
              <a:t>TROUBLESHOOTING:</a:t>
            </a:r>
          </a:p>
          <a:p>
            <a:r>
              <a:t>- No cloud icon: Install OneDrive from Microsoft Store</a:t>
            </a:r>
          </a:p>
          <a:p>
            <a:r>
              <a:t>- Can't sign in: Verify INGINC.com credentials, check MFA</a:t>
            </a:r>
          </a:p>
          <a:p>
            <a:r>
              <a:t>- Known Folder protection already enabled: User may have bypassed - verify in portal.office.com</a:t>
            </a:r>
          </a:p>
          <a:p>
            <a:r>
              <a:t>- Sync stuck: Check internet connection, restart OneDrive</a:t>
            </a:r>
          </a:p>
          <a:p>
            <a:endParaRPr/>
          </a:p>
          <a:p>
            <a:r>
              <a:t>IMPORTANT:</a:t>
            </a:r>
          </a:p>
          <a:p>
            <a:r>
              <a:t>- DO NOT proceed to reset until green checkmark appears</a:t>
            </a:r>
          </a:p>
          <a:p>
            <a:r>
              <a:t>- Use wait time to start another user's Phase 1</a:t>
            </a:r>
          </a:p>
          <a:p>
            <a:r>
              <a:t>- Verify completion in portal.office.com before Phase 2</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DETAILED SCRIPT:</a:t>
            </a:r>
          </a:p>
          <a:p>
            <a:r>
              <a:t>"Let's start with OneDrive. Look at the bottom right corner of your screen, near the clock. Do you see a little cloud icon? That's OneDrive. Click on it.</a:t>
            </a:r>
          </a:p>
          <a:p>
            <a:endParaRPr/>
          </a:p>
          <a:p>
            <a:r>
              <a:t>If you don't see it, we need to install OneDrive first - we can get that from the Microsoft Store or onedrive.com.</a:t>
            </a:r>
          </a:p>
          <a:p>
            <a:endParaRPr/>
          </a:p>
          <a:p>
            <a:r>
              <a:t>[Once they find it]</a:t>
            </a:r>
          </a:p>
          <a:p>
            <a:r>
              <a:t>Great! Now click on that cloud icon. Do you see where it says 'Sign in'? Click that and use your INGINC.com email address - the same one you use for Outlook.</a:t>
            </a:r>
          </a:p>
          <a:p>
            <a:endParaRPr/>
          </a:p>
          <a:p>
            <a:r>
              <a:t>[After sign in]</a:t>
            </a:r>
          </a:p>
          <a:p>
            <a:r>
              <a:t>Perfect! Now let's set up folder backup. Click the gear icon in the OneDrive window. See where it says 'Sync and backup'? Click that tab. Now click 'Manage backup'.</a:t>
            </a:r>
          </a:p>
          <a:p>
            <a:endParaRPr/>
          </a:p>
          <a:p>
            <a:r>
              <a:t>You should see three folders here: Desktop, Documents, and Pictures. We want to make sure all three have checkmarks. If any are missing checkmarks, click to enable them. Then click 'Start backup' at the bottom.</a:t>
            </a:r>
          </a:p>
          <a:p>
            <a:endParaRPr/>
          </a:p>
          <a:p>
            <a:r>
              <a:t>Now we wait. You'll see the cloud icon has little blue arrows - that means it's uploading your files. This might take 15-30 minutes depending on how many files you have. While it's uploading, we can start working on the next user's backup. We'll come back to check for the green checkmark before we reset your device."</a:t>
            </a:r>
          </a:p>
          <a:p>
            <a:endParaRPr/>
          </a:p>
          <a:p>
            <a:r>
              <a:t>TROUBLESHOOTING:</a:t>
            </a:r>
          </a:p>
          <a:p>
            <a:r>
              <a:t>- No cloud icon: Install OneDrive from Microsoft Store</a:t>
            </a:r>
          </a:p>
          <a:p>
            <a:r>
              <a:t>- Can't sign in: Verify INGINC.com credentials, check MFA</a:t>
            </a:r>
          </a:p>
          <a:p>
            <a:r>
              <a:t>- Known Folder protection already enabled: User may have bypassed - verify in portal.office.com</a:t>
            </a:r>
          </a:p>
          <a:p>
            <a:r>
              <a:t>- Sync stuck: Check internet connection, restart OneDrive</a:t>
            </a:r>
          </a:p>
          <a:p>
            <a:endParaRPr/>
          </a:p>
          <a:p>
            <a:r>
              <a:t>IMPORTANT:</a:t>
            </a:r>
          </a:p>
          <a:p>
            <a:r>
              <a:t>- DO NOT proceed to reset until green checkmark appears</a:t>
            </a:r>
          </a:p>
          <a:p>
            <a:r>
              <a:t>- Use wait time to start another user's Phase 1</a:t>
            </a:r>
          </a:p>
          <a:p>
            <a:r>
              <a:t>- Verify completion in portal.office.com before Phase 2</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CHECKPOINT SCRIPT:</a:t>
            </a:r>
          </a:p>
          <a:p>
            <a:r>
              <a:rPr dirty="0"/>
              <a:t>"Alright, let's review everything we've backed up to make sure we're ready for the reset. I'm going to go through the checklist with you:</a:t>
            </a:r>
          </a:p>
          <a:p>
            <a:endParaRPr dirty="0"/>
          </a:p>
          <a:p>
            <a:r>
              <a:rPr dirty="0"/>
              <a:t>[Go through each item and check off]</a:t>
            </a:r>
          </a:p>
          <a:p>
            <a:endParaRPr dirty="0"/>
          </a:p>
          <a:p>
            <a:r>
              <a:rPr dirty="0"/>
              <a:t>1. OneDrive - Is the cloud icon showing a green checkmark? Perfect.</a:t>
            </a:r>
          </a:p>
          <a:p>
            <a:r>
              <a:rPr dirty="0"/>
              <a:t>2. Known Folder Backup - We enabled Desktop, Documents, and Pictures, right? Good.</a:t>
            </a:r>
          </a:p>
          <a:p>
            <a:r>
              <a:rPr dirty="0"/>
              <a:t>3. Sync complete - Everything uploaded? Excellent.</a:t>
            </a:r>
          </a:p>
          <a:p>
            <a:r>
              <a:rPr dirty="0"/>
              <a:t>4. Browser sync - You signed in to Chrome/Edge? Check.</a:t>
            </a:r>
          </a:p>
          <a:p>
            <a:r>
              <a:rPr dirty="0"/>
              <a:t>5. Browser exports - Bookmarks and passwords saved to OneDrive Documents? Got it.</a:t>
            </a:r>
          </a:p>
          <a:p>
            <a:r>
              <a:rPr dirty="0"/>
              <a:t>6. Printers - We took that screenshot? Yes.</a:t>
            </a:r>
          </a:p>
          <a:p>
            <a:r>
              <a:rPr dirty="0"/>
              <a:t>7. </a:t>
            </a:r>
            <a:r>
              <a:rPr dirty="0" err="1"/>
              <a:t>WiFi</a:t>
            </a:r>
            <a:r>
              <a:rPr dirty="0"/>
              <a:t> - I have the network name written down: [SSID]</a:t>
            </a:r>
          </a:p>
          <a:p>
            <a:r>
              <a:rPr dirty="0"/>
              <a:t>8. Outlook PST - [We checked/no PST files/copied to OneDrive]</a:t>
            </a:r>
          </a:p>
          <a:p>
            <a:r>
              <a:rPr dirty="0"/>
              <a:t>9. iOS - [Backup verified/no iOS device/backup created]</a:t>
            </a:r>
          </a:p>
          <a:p>
            <a:endParaRPr dirty="0"/>
          </a:p>
          <a:p>
            <a:r>
              <a:rPr dirty="0"/>
              <a:t>Perfect! Everything is backed up and safe. Your data is secure in OneDrive, and we can now proceed with requesting the device reset. The IT team will send you instructions for Phase 2 once the reset is processed."</a:t>
            </a:r>
          </a:p>
          <a:p>
            <a:endParaRPr dirty="0"/>
          </a:p>
          <a:p>
            <a:r>
              <a:rPr dirty="0"/>
              <a:t>CRITICAL CHECKPOINT:</a:t>
            </a:r>
          </a:p>
          <a:p>
            <a:r>
              <a:rPr dirty="0"/>
              <a:t>- Review EVERY item before ending call</a:t>
            </a:r>
          </a:p>
          <a:p>
            <a:r>
              <a:rPr dirty="0"/>
              <a:t>- Verify green checkmark on OneDrive specifically</a:t>
            </a:r>
          </a:p>
          <a:p>
            <a:r>
              <a:rPr dirty="0"/>
              <a:t>- Check </a:t>
            </a:r>
            <a:r>
              <a:rPr dirty="0" err="1"/>
              <a:t>portal.office.com</a:t>
            </a:r>
            <a:r>
              <a:rPr dirty="0"/>
              <a:t> to visually confirm files in cloud</a:t>
            </a:r>
          </a:p>
          <a:p>
            <a:r>
              <a:rPr dirty="0"/>
              <a:t>- Document checklist completion in ticket</a:t>
            </a:r>
          </a:p>
          <a:p>
            <a:r>
              <a:rPr dirty="0"/>
              <a:t>- User should not be able to proceed to Phase 2 until this is 100% complete</a:t>
            </a:r>
          </a:p>
          <a:p>
            <a:endParaRPr dirty="0"/>
          </a:p>
          <a:p>
            <a:r>
              <a:rPr dirty="0"/>
              <a:t>IF ANYTHING IS INCOMPLETE:</a:t>
            </a:r>
          </a:p>
          <a:p>
            <a:r>
              <a:rPr dirty="0"/>
              <a:t>- Schedule follow-up</a:t>
            </a:r>
          </a:p>
          <a:p>
            <a:r>
              <a:rPr dirty="0"/>
              <a:t>- Set reminder to verify OneDrive sync completion</a:t>
            </a:r>
          </a:p>
          <a:p>
            <a:r>
              <a:rPr dirty="0"/>
              <a:t>- Do NOT rush - data loss is worse than delay</a:t>
            </a:r>
          </a:p>
          <a:p>
            <a:r>
              <a:rPr dirty="0"/>
              <a:t>- Use wait time to help other users</a:t>
            </a:r>
          </a:p>
          <a:p>
            <a:endParaRPr dirty="0"/>
          </a:p>
          <a:p>
            <a:r>
              <a:rPr dirty="0"/>
              <a:t>BEST PRACTICE:</a:t>
            </a:r>
          </a:p>
          <a:p>
            <a:r>
              <a:rPr dirty="0"/>
              <a:t>While waiting for OneDrive sync (15-30 min):</a:t>
            </a:r>
          </a:p>
          <a:p>
            <a:r>
              <a:rPr dirty="0"/>
              <a:t>- Start another user's Phase 1</a:t>
            </a:r>
          </a:p>
          <a:p>
            <a:r>
              <a:rPr dirty="0"/>
              <a:t>- Come back to verify this user's sync completion</a:t>
            </a:r>
          </a:p>
          <a:p>
            <a:r>
              <a:rPr dirty="0"/>
              <a:t>- Efficient use of time while maintaining safety</a:t>
            </a:r>
          </a:p>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mailto:FirstName.LastName@impactpropertysolutions.com"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1371600"/>
            <a:ext cx="7315200" cy="1446550"/>
          </a:xfrm>
          <a:prstGeom prst="rect">
            <a:avLst/>
          </a:prstGeom>
          <a:noFill/>
        </p:spPr>
        <p:txBody>
          <a:bodyPr wrap="square">
            <a:spAutoFit/>
          </a:bodyPr>
          <a:lstStyle/>
          <a:p>
            <a:pPr algn="ctr">
              <a:defRPr sz="4400" b="1">
                <a:solidFill>
                  <a:srgbClr val="0078D4"/>
                </a:solidFill>
              </a:defRPr>
            </a:pPr>
            <a:r>
              <a:rPr lang="en-US" dirty="0"/>
              <a:t>ILG Pinnacle </a:t>
            </a:r>
          </a:p>
          <a:p>
            <a:pPr algn="ctr">
              <a:defRPr sz="4400" b="1">
                <a:solidFill>
                  <a:srgbClr val="0078D4"/>
                </a:solidFill>
              </a:defRPr>
            </a:pPr>
            <a:r>
              <a:rPr lang="en-US" dirty="0"/>
              <a:t>Microsoft Windows Migration</a:t>
            </a:r>
            <a:endParaRPr dirty="0"/>
          </a:p>
        </p:txBody>
      </p:sp>
      <p:sp>
        <p:nvSpPr>
          <p:cNvPr id="3" name="TextBox 2"/>
          <p:cNvSpPr txBox="1"/>
          <p:nvPr/>
        </p:nvSpPr>
        <p:spPr>
          <a:xfrm>
            <a:off x="1488228" y="2818150"/>
            <a:ext cx="6167587" cy="954107"/>
          </a:xfrm>
          <a:prstGeom prst="rect">
            <a:avLst/>
          </a:prstGeom>
          <a:noFill/>
        </p:spPr>
        <p:txBody>
          <a:bodyPr wrap="none">
            <a:spAutoFit/>
          </a:bodyPr>
          <a:lstStyle/>
          <a:p>
            <a:pPr algn="ctr">
              <a:defRPr sz="2800">
                <a:solidFill>
                  <a:srgbClr val="323232"/>
                </a:solidFill>
              </a:defRPr>
            </a:pPr>
            <a:r>
              <a:rPr lang="en-US" dirty="0"/>
              <a:t>Preparing You and your Device </a:t>
            </a:r>
          </a:p>
          <a:p>
            <a:pPr algn="ctr">
              <a:defRPr sz="2800">
                <a:solidFill>
                  <a:srgbClr val="323232"/>
                </a:solidFill>
              </a:defRPr>
            </a:pPr>
            <a:r>
              <a:rPr lang="en-US" dirty="0"/>
              <a:t>for the Impact Property Solutions Tenant</a:t>
            </a:r>
          </a:p>
        </p:txBody>
      </p:sp>
      <p:sp>
        <p:nvSpPr>
          <p:cNvPr id="4" name="TextBox 3"/>
          <p:cNvSpPr txBox="1"/>
          <p:nvPr/>
        </p:nvSpPr>
        <p:spPr>
          <a:xfrm>
            <a:off x="3993957" y="3772257"/>
            <a:ext cx="1156086" cy="307777"/>
          </a:xfrm>
          <a:prstGeom prst="rect">
            <a:avLst/>
          </a:prstGeom>
          <a:noFill/>
        </p:spPr>
        <p:txBody>
          <a:bodyPr wrap="none">
            <a:spAutoFit/>
          </a:bodyPr>
          <a:lstStyle/>
          <a:p>
            <a:pPr algn="ctr">
              <a:defRPr sz="1400">
                <a:solidFill>
                  <a:srgbClr val="969696"/>
                </a:solidFill>
              </a:defRPr>
            </a:pPr>
            <a:r>
              <a:rPr dirty="0"/>
              <a:t>January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74320"/>
            <a:ext cx="7315200" cy="914400"/>
          </a:xfrm>
          <a:prstGeom prst="rect">
            <a:avLst/>
          </a:prstGeom>
          <a:noFill/>
        </p:spPr>
        <p:txBody>
          <a:bodyPr wrap="square">
            <a:spAutoFit/>
          </a:bodyPr>
          <a:lstStyle/>
          <a:p>
            <a:pPr algn="ctr">
              <a:defRPr sz="4400" b="1">
                <a:solidFill>
                  <a:srgbClr val="0078D4"/>
                </a:solidFill>
              </a:defRPr>
            </a:pPr>
            <a:r>
              <a:t>What We'll Back Up Today</a:t>
            </a:r>
          </a:p>
        </p:txBody>
      </p:sp>
      <p:sp>
        <p:nvSpPr>
          <p:cNvPr id="3" name="TextBox 2"/>
          <p:cNvSpPr txBox="1"/>
          <p:nvPr/>
        </p:nvSpPr>
        <p:spPr>
          <a:xfrm>
            <a:off x="1371600" y="1097280"/>
            <a:ext cx="6400800" cy="3323987"/>
          </a:xfrm>
          <a:prstGeom prst="rect">
            <a:avLst/>
          </a:prstGeom>
          <a:noFill/>
        </p:spPr>
        <p:txBody>
          <a:bodyPr wrap="square">
            <a:spAutoFit/>
          </a:bodyPr>
          <a:lstStyle/>
          <a:p>
            <a:pPr>
              <a:defRPr sz="2400" b="1">
                <a:solidFill>
                  <a:srgbClr val="0078D4"/>
                </a:solidFill>
              </a:defRPr>
            </a:pPr>
            <a:r>
              <a:rPr dirty="0"/>
              <a:t>OneDrive Setup &amp; File Sync</a:t>
            </a:r>
          </a:p>
          <a:p>
            <a:pPr lvl="1">
              <a:defRPr sz="1800" b="0"/>
            </a:pPr>
            <a:r>
              <a:rPr dirty="0"/>
              <a:t>Your Desktop, Documents, and Pictures folders</a:t>
            </a:r>
          </a:p>
          <a:p>
            <a:pPr>
              <a:defRPr sz="2400" b="1">
                <a:solidFill>
                  <a:srgbClr val="0078D4"/>
                </a:solidFill>
              </a:defRPr>
            </a:pPr>
            <a:r>
              <a:rPr dirty="0"/>
              <a:t>Browser Profile</a:t>
            </a:r>
          </a:p>
          <a:p>
            <a:pPr lvl="1">
              <a:defRPr sz="1800" b="0"/>
            </a:pPr>
            <a:r>
              <a:rPr dirty="0"/>
              <a:t>Bookmarks, passwords, and settings</a:t>
            </a:r>
          </a:p>
          <a:p>
            <a:pPr>
              <a:defRPr sz="2400" b="1">
                <a:solidFill>
                  <a:srgbClr val="0078D4"/>
                </a:solidFill>
              </a:defRPr>
            </a:pPr>
            <a:r>
              <a:rPr dirty="0"/>
              <a:t>Printer Configurations</a:t>
            </a:r>
          </a:p>
          <a:p>
            <a:pPr lvl="1">
              <a:defRPr sz="1800" b="0"/>
            </a:pPr>
            <a:r>
              <a:rPr dirty="0"/>
              <a:t>Screenshot of all mapped printers</a:t>
            </a:r>
          </a:p>
          <a:p>
            <a:pPr>
              <a:defRPr sz="2400" b="1">
                <a:solidFill>
                  <a:srgbClr val="0078D4"/>
                </a:solidFill>
              </a:defRPr>
            </a:pPr>
            <a:r>
              <a:rPr dirty="0" err="1"/>
              <a:t>WiFi</a:t>
            </a:r>
            <a:r>
              <a:rPr dirty="0"/>
              <a:t> Network Information</a:t>
            </a:r>
          </a:p>
          <a:p>
            <a:pPr lvl="1">
              <a:defRPr sz="1800" b="0"/>
            </a:pPr>
            <a:r>
              <a:rPr dirty="0"/>
              <a:t>For quick reconnection after reset</a:t>
            </a:r>
          </a:p>
          <a:p>
            <a:pPr>
              <a:defRPr sz="2400" b="1">
                <a:solidFill>
                  <a:srgbClr val="0078D4"/>
                </a:solidFill>
              </a:defRPr>
            </a:pPr>
            <a:r>
              <a:rPr dirty="0"/>
              <a:t>Outlook Data Files (if applicable)</a:t>
            </a:r>
          </a:p>
          <a:p>
            <a:pPr lvl="1">
              <a:defRPr sz="1800" b="0"/>
            </a:pPr>
            <a:r>
              <a:rPr dirty="0"/>
              <a:t>Personal email archives (PST files</a:t>
            </a:r>
            <a:r>
              <a:rPr lang="en-US"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74320"/>
            <a:ext cx="7315200" cy="769441"/>
          </a:xfrm>
          <a:prstGeom prst="rect">
            <a:avLst/>
          </a:prstGeom>
          <a:noFill/>
        </p:spPr>
        <p:txBody>
          <a:bodyPr wrap="square">
            <a:spAutoFit/>
          </a:bodyPr>
          <a:lstStyle/>
          <a:p>
            <a:pPr algn="ctr">
              <a:defRPr sz="4400" b="1">
                <a:solidFill>
                  <a:srgbClr val="0078D4"/>
                </a:solidFill>
              </a:defRPr>
            </a:pPr>
            <a:r>
              <a:rPr dirty="0"/>
              <a:t>OneDrive Setup</a:t>
            </a:r>
          </a:p>
        </p:txBody>
      </p:sp>
      <p:sp>
        <p:nvSpPr>
          <p:cNvPr id="3" name="TextBox 2"/>
          <p:cNvSpPr txBox="1"/>
          <p:nvPr/>
        </p:nvSpPr>
        <p:spPr>
          <a:xfrm>
            <a:off x="1371600" y="914400"/>
            <a:ext cx="6400800" cy="548640"/>
          </a:xfrm>
          <a:prstGeom prst="rect">
            <a:avLst/>
          </a:prstGeom>
          <a:noFill/>
        </p:spPr>
        <p:txBody>
          <a:bodyPr wrap="none">
            <a:spAutoFit/>
          </a:bodyPr>
          <a:lstStyle/>
          <a:p>
            <a:pPr algn="ctr">
              <a:defRPr sz="1600" b="1">
                <a:solidFill>
                  <a:srgbClr val="D13438"/>
                </a:solidFill>
              </a:defRPr>
            </a:pPr>
            <a:r>
              <a:t>⚠️ CRITICAL: OneDrive must be fully synced before proceeding</a:t>
            </a:r>
          </a:p>
        </p:txBody>
      </p:sp>
      <p:sp>
        <p:nvSpPr>
          <p:cNvPr id="4" name="TextBox 3"/>
          <p:cNvSpPr txBox="1"/>
          <p:nvPr/>
        </p:nvSpPr>
        <p:spPr>
          <a:xfrm>
            <a:off x="1371600" y="1645920"/>
            <a:ext cx="6400800" cy="2308324"/>
          </a:xfrm>
          <a:prstGeom prst="rect">
            <a:avLst/>
          </a:prstGeom>
          <a:noFill/>
        </p:spPr>
        <p:txBody>
          <a:bodyPr wrap="square">
            <a:spAutoFit/>
          </a:bodyPr>
          <a:lstStyle/>
          <a:p>
            <a:pPr marL="342900" indent="-342900">
              <a:buFont typeface="+mj-lt"/>
              <a:buAutoNum type="arabicPeriod"/>
              <a:defRPr sz="1800" b="0"/>
            </a:pPr>
            <a:r>
              <a:rPr dirty="0"/>
              <a:t>Find OneDrive icon in system tray (cloud icon, bottom right)</a:t>
            </a:r>
          </a:p>
          <a:p>
            <a:pPr marL="342900" indent="-342900">
              <a:buFont typeface="+mj-lt"/>
              <a:buAutoNum type="arabicPeriod"/>
              <a:defRPr sz="1800" b="0"/>
            </a:pPr>
            <a:r>
              <a:rPr dirty="0"/>
              <a:t>Click icon → Sign in with </a:t>
            </a:r>
            <a:r>
              <a:rPr dirty="0" err="1"/>
              <a:t>INGINC.com</a:t>
            </a:r>
            <a:r>
              <a:rPr dirty="0"/>
              <a:t> account</a:t>
            </a:r>
          </a:p>
          <a:p>
            <a:pPr marL="342900" indent="-342900">
              <a:buFont typeface="+mj-lt"/>
              <a:buAutoNum type="arabicPeriod"/>
              <a:defRPr sz="1800" b="0"/>
            </a:pPr>
            <a:r>
              <a:rPr dirty="0"/>
              <a:t>Settings (gear) → Sync and backup → Manage backup</a:t>
            </a:r>
          </a:p>
          <a:p>
            <a:pPr marL="342900" indent="-342900">
              <a:buFont typeface="+mj-lt"/>
              <a:buAutoNum type="arabicPeriod"/>
              <a:defRPr sz="1800" b="1">
                <a:solidFill>
                  <a:srgbClr val="0078D4"/>
                </a:solidFill>
              </a:defRPr>
            </a:pPr>
            <a:r>
              <a:rPr dirty="0"/>
              <a:t>Enable all three folders:</a:t>
            </a:r>
          </a:p>
          <a:p>
            <a:pPr lvl="1">
              <a:defRPr sz="1800" b="0">
                <a:solidFill>
                  <a:srgbClr val="107C10"/>
                </a:solidFill>
              </a:defRPr>
            </a:pPr>
            <a:r>
              <a:rPr dirty="0"/>
              <a:t>✓ Desktop</a:t>
            </a:r>
          </a:p>
          <a:p>
            <a:pPr lvl="1">
              <a:defRPr sz="1800" b="0">
                <a:solidFill>
                  <a:srgbClr val="107C10"/>
                </a:solidFill>
              </a:defRPr>
            </a:pPr>
            <a:r>
              <a:rPr dirty="0"/>
              <a:t>✓ Documents</a:t>
            </a:r>
          </a:p>
          <a:p>
            <a:pPr lvl="1">
              <a:defRPr sz="1800" b="0">
                <a:solidFill>
                  <a:srgbClr val="107C10"/>
                </a:solidFill>
              </a:defRPr>
            </a:pPr>
            <a:r>
              <a:rPr dirty="0"/>
              <a:t>✓ Pictures</a:t>
            </a:r>
          </a:p>
          <a:p>
            <a:pPr marL="342900" indent="-342900">
              <a:buFont typeface="+mj-lt"/>
              <a:buAutoNum type="arabicPeriod"/>
              <a:defRPr sz="1800" b="1">
                <a:solidFill>
                  <a:srgbClr val="0078D4"/>
                </a:solidFill>
              </a:defRPr>
            </a:pPr>
            <a:r>
              <a:rPr dirty="0"/>
              <a:t>Click 'Start backup' and wait for green checkmark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74320"/>
            <a:ext cx="7315200" cy="769441"/>
          </a:xfrm>
          <a:prstGeom prst="rect">
            <a:avLst/>
          </a:prstGeom>
          <a:noFill/>
        </p:spPr>
        <p:txBody>
          <a:bodyPr wrap="square">
            <a:spAutoFit/>
          </a:bodyPr>
          <a:lstStyle/>
          <a:p>
            <a:pPr algn="ctr">
              <a:defRPr sz="4400" b="1">
                <a:solidFill>
                  <a:srgbClr val="0078D4"/>
                </a:solidFill>
              </a:defRPr>
            </a:pPr>
            <a:r>
              <a:rPr dirty="0"/>
              <a:t>Browser Profile Backup</a:t>
            </a:r>
          </a:p>
        </p:txBody>
      </p:sp>
      <p:sp>
        <p:nvSpPr>
          <p:cNvPr id="3" name="TextBox 2"/>
          <p:cNvSpPr txBox="1"/>
          <p:nvPr/>
        </p:nvSpPr>
        <p:spPr>
          <a:xfrm>
            <a:off x="326003" y="1097280"/>
            <a:ext cx="4428877" cy="1415772"/>
          </a:xfrm>
          <a:prstGeom prst="rect">
            <a:avLst/>
          </a:prstGeom>
          <a:noFill/>
        </p:spPr>
        <p:txBody>
          <a:bodyPr wrap="square">
            <a:spAutoFit/>
          </a:bodyPr>
          <a:lstStyle/>
          <a:p>
            <a:endParaRPr dirty="0"/>
          </a:p>
          <a:p>
            <a:pPr>
              <a:defRPr sz="2000" b="1">
                <a:solidFill>
                  <a:srgbClr val="0078D4"/>
                </a:solidFill>
              </a:defRPr>
            </a:pPr>
            <a:r>
              <a:rPr dirty="0"/>
              <a:t>Chrome / Edge:</a:t>
            </a:r>
          </a:p>
          <a:p>
            <a:pPr lvl="1">
              <a:defRPr sz="1600" b="0"/>
            </a:pPr>
            <a:r>
              <a:rPr dirty="0"/>
              <a:t>Menu → Settings</a:t>
            </a:r>
          </a:p>
          <a:p>
            <a:pPr lvl="1">
              <a:defRPr sz="1600" b="0"/>
            </a:pPr>
            <a:r>
              <a:rPr dirty="0"/>
              <a:t>Turn on sync</a:t>
            </a:r>
          </a:p>
          <a:p>
            <a:pPr lvl="1">
              <a:defRPr sz="1600" b="0"/>
            </a:pPr>
            <a:r>
              <a:rPr dirty="0"/>
              <a:t>Sign in with </a:t>
            </a:r>
            <a:r>
              <a:rPr lang="en-US" dirty="0"/>
              <a:t>your Company M365 Account</a:t>
            </a:r>
          </a:p>
        </p:txBody>
      </p:sp>
      <p:sp>
        <p:nvSpPr>
          <p:cNvPr id="4" name="TextBox 3"/>
          <p:cNvSpPr txBox="1"/>
          <p:nvPr/>
        </p:nvSpPr>
        <p:spPr>
          <a:xfrm>
            <a:off x="4754880" y="1097280"/>
            <a:ext cx="3657600" cy="2246769"/>
          </a:xfrm>
          <a:prstGeom prst="rect">
            <a:avLst/>
          </a:prstGeom>
          <a:noFill/>
        </p:spPr>
        <p:txBody>
          <a:bodyPr wrap="square">
            <a:spAutoFit/>
          </a:bodyPr>
          <a:lstStyle/>
          <a:p>
            <a:pPr>
              <a:defRPr sz="2000" b="1">
                <a:solidFill>
                  <a:srgbClr val="0078D4"/>
                </a:solidFill>
              </a:defRPr>
            </a:pPr>
            <a:r>
              <a:rPr dirty="0"/>
              <a:t>Export passwords:</a:t>
            </a:r>
          </a:p>
          <a:p>
            <a:pPr lvl="1">
              <a:defRPr sz="1600" b="0"/>
            </a:pPr>
            <a:r>
              <a:rPr dirty="0"/>
              <a:t>Settings → Passwords → Export</a:t>
            </a:r>
          </a:p>
          <a:p>
            <a:pPr lvl="1">
              <a:defRPr sz="1600" b="0"/>
            </a:pPr>
            <a:r>
              <a:rPr dirty="0"/>
              <a:t>Save CSV to OneDrive Documents</a:t>
            </a:r>
            <a:endParaRPr lang="en-US" dirty="0"/>
          </a:p>
          <a:p>
            <a:pPr>
              <a:defRPr sz="2000" b="1">
                <a:solidFill>
                  <a:srgbClr val="0078D4"/>
                </a:solidFill>
              </a:defRPr>
            </a:pPr>
            <a:endParaRPr lang="en-US" dirty="0"/>
          </a:p>
          <a:p>
            <a:pPr>
              <a:defRPr sz="2000" b="1">
                <a:solidFill>
                  <a:srgbClr val="0078D4"/>
                </a:solidFill>
              </a:defRPr>
            </a:pPr>
            <a:r>
              <a:rPr lang="en-US" dirty="0"/>
              <a:t>Export bookmarks:</a:t>
            </a:r>
          </a:p>
          <a:p>
            <a:pPr lvl="1">
              <a:defRPr sz="1600" b="0"/>
            </a:pPr>
            <a:r>
              <a:rPr lang="en-US" dirty="0"/>
              <a:t>Menu → Bookmarks → Export</a:t>
            </a:r>
          </a:p>
          <a:p>
            <a:pPr lvl="1">
              <a:defRPr sz="1600" b="0"/>
            </a:pPr>
            <a:r>
              <a:rPr lang="en-US" dirty="0"/>
              <a:t>Save to OneDrive Documents</a:t>
            </a:r>
          </a:p>
          <a:p>
            <a:pPr>
              <a:defRPr sz="1600" b="0"/>
            </a:pPr>
            <a:endParaRPr lang="en-US" dirty="0"/>
          </a:p>
        </p:txBody>
      </p:sp>
      <p:sp>
        <p:nvSpPr>
          <p:cNvPr id="5" name="TextBox 4"/>
          <p:cNvSpPr txBox="1"/>
          <p:nvPr/>
        </p:nvSpPr>
        <p:spPr>
          <a:xfrm>
            <a:off x="1371600" y="4640580"/>
            <a:ext cx="6400800" cy="457200"/>
          </a:xfrm>
          <a:prstGeom prst="rect">
            <a:avLst/>
          </a:prstGeom>
          <a:noFill/>
        </p:spPr>
        <p:txBody>
          <a:bodyPr wrap="none">
            <a:spAutoFit/>
          </a:bodyPr>
          <a:lstStyle/>
          <a:p>
            <a:pPr algn="ctr">
              <a:defRPr sz="1400">
                <a:solidFill>
                  <a:srgbClr val="FFB900"/>
                </a:solidFill>
              </a:defRPr>
            </a:pPr>
            <a:r>
              <a:rPr dirty="0"/>
              <a:t>⚠️ Delete password CSV files after restoration is confirmed</a:t>
            </a:r>
          </a:p>
        </p:txBody>
      </p:sp>
      <p:pic>
        <p:nvPicPr>
          <p:cNvPr id="1028" name="Picture 4" descr="How to Sync Page Tabs Between Google Chrome, Firefox, and Edge">
            <a:extLst>
              <a:ext uri="{FF2B5EF4-FFF2-40B4-BE49-F238E27FC236}">
                <a16:creationId xmlns:a16="http://schemas.microsoft.com/office/drawing/2014/main" id="{946157C4-1F22-B57E-294D-D958E76663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003" y="2978289"/>
            <a:ext cx="2771598" cy="145508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360759" y="2814636"/>
            <a:ext cx="2468166" cy="1839516"/>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defRPr sz="4400" b="1">
                <a:solidFill>
                  <a:srgbClr val="0078D4"/>
                </a:solidFill>
              </a:defRPr>
            </a:pPr>
            <a:r>
              <a:rPr lang="en-US" sz="2700" dirty="0">
                <a:latin typeface="+mj-lt"/>
                <a:ea typeface="+mj-ea"/>
                <a:cs typeface="+mj-cs"/>
              </a:rPr>
              <a:t>Printer Configuration</a:t>
            </a:r>
          </a:p>
        </p:txBody>
      </p:sp>
      <p:pic>
        <p:nvPicPr>
          <p:cNvPr id="4098" name="Picture 2" descr="How to Take Screenshot on Windows 11: 5 Easy Methods">
            <a:extLst>
              <a:ext uri="{FF2B5EF4-FFF2-40B4-BE49-F238E27FC236}">
                <a16:creationId xmlns:a16="http://schemas.microsoft.com/office/drawing/2014/main" id="{9EDBF8EA-D65E-5849-3CE7-B38E947F8F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4677" b="9708"/>
          <a:stretch>
            <a:fillRect/>
          </a:stretch>
        </p:blipFill>
        <p:spPr bwMode="auto">
          <a:xfrm>
            <a:off x="20" y="10"/>
            <a:ext cx="9143980" cy="2782949"/>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3167986" y="2814637"/>
            <a:ext cx="5614060" cy="1839515"/>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endParaRPr lang="en-US" sz="1300"/>
          </a:p>
          <a:p>
            <a:pPr indent="-228600" defTabSz="914400">
              <a:lnSpc>
                <a:spcPct val="90000"/>
              </a:lnSpc>
              <a:spcAft>
                <a:spcPts val="600"/>
              </a:spcAft>
              <a:buFont typeface="Arial" panose="020B0604020202020204" pitchFamily="34" charset="0"/>
              <a:buChar char="•"/>
              <a:defRPr sz="2200" b="1">
                <a:solidFill>
                  <a:srgbClr val="0078D4"/>
                </a:solidFill>
              </a:defRPr>
            </a:pPr>
            <a:r>
              <a:rPr lang="en-US" sz="1300"/>
              <a:t>Open Settings → Devices → Printers &amp; scanners</a:t>
            </a:r>
          </a:p>
          <a:p>
            <a:pPr indent="-228600" defTabSz="914400">
              <a:lnSpc>
                <a:spcPct val="90000"/>
              </a:lnSpc>
              <a:spcAft>
                <a:spcPts val="600"/>
              </a:spcAft>
              <a:buFont typeface="Arial" panose="020B0604020202020204" pitchFamily="34" charset="0"/>
              <a:buChar char="•"/>
              <a:defRPr sz="1800" b="0"/>
            </a:pPr>
            <a:endParaRPr lang="en-US" sz="1300"/>
          </a:p>
          <a:p>
            <a:pPr indent="-228600" defTabSz="914400">
              <a:lnSpc>
                <a:spcPct val="90000"/>
              </a:lnSpc>
              <a:spcAft>
                <a:spcPts val="600"/>
              </a:spcAft>
              <a:buFont typeface="Arial" panose="020B0604020202020204" pitchFamily="34" charset="0"/>
              <a:buChar char="•"/>
              <a:defRPr sz="2000" b="0"/>
            </a:pPr>
            <a:r>
              <a:rPr lang="en-US" sz="1300"/>
              <a:t>Take screenshot of all mapped printers:</a:t>
            </a:r>
          </a:p>
          <a:p>
            <a:pPr marL="742950" lvl="1" indent="-228600" defTabSz="914400">
              <a:lnSpc>
                <a:spcPct val="90000"/>
              </a:lnSpc>
              <a:spcAft>
                <a:spcPts val="600"/>
              </a:spcAft>
              <a:buFont typeface="Arial" panose="020B0604020202020204" pitchFamily="34" charset="0"/>
              <a:buChar char="•"/>
              <a:defRPr sz="1800" b="0"/>
            </a:pPr>
            <a:r>
              <a:rPr lang="en-US" sz="1300"/>
              <a:t>Press Win + Shift + S</a:t>
            </a:r>
          </a:p>
          <a:p>
            <a:pPr marL="742950" lvl="1" indent="-228600" defTabSz="914400">
              <a:lnSpc>
                <a:spcPct val="90000"/>
              </a:lnSpc>
              <a:spcAft>
                <a:spcPts val="600"/>
              </a:spcAft>
              <a:buFont typeface="Arial" panose="020B0604020202020204" pitchFamily="34" charset="0"/>
              <a:buChar char="•"/>
              <a:defRPr sz="1800" b="0"/>
            </a:pPr>
            <a:r>
              <a:rPr lang="en-US" sz="1300"/>
              <a:t>Select entire printer list</a:t>
            </a:r>
          </a:p>
          <a:p>
            <a:pPr marL="742950" lvl="1" indent="-228600" defTabSz="914400">
              <a:lnSpc>
                <a:spcPct val="90000"/>
              </a:lnSpc>
              <a:spcAft>
                <a:spcPts val="600"/>
              </a:spcAft>
              <a:buFont typeface="Arial" panose="020B0604020202020204" pitchFamily="34" charset="0"/>
              <a:buChar char="•"/>
              <a:defRPr sz="1800" b="0"/>
            </a:pPr>
            <a:r>
              <a:rPr lang="en-US" sz="1300"/>
              <a:t>Save to OneDrive &gt; Documents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74320"/>
            <a:ext cx="7315200" cy="769441"/>
          </a:xfrm>
          <a:prstGeom prst="rect">
            <a:avLst/>
          </a:prstGeom>
          <a:noFill/>
        </p:spPr>
        <p:txBody>
          <a:bodyPr wrap="square">
            <a:spAutoFit/>
          </a:bodyPr>
          <a:lstStyle/>
          <a:p>
            <a:pPr algn="ctr">
              <a:defRPr sz="4400" b="1">
                <a:solidFill>
                  <a:srgbClr val="0078D4"/>
                </a:solidFill>
              </a:defRPr>
            </a:pPr>
            <a:r>
              <a:rPr dirty="0" err="1"/>
              <a:t>WiFi</a:t>
            </a:r>
            <a:r>
              <a:rPr dirty="0"/>
              <a:t> Network</a:t>
            </a:r>
          </a:p>
        </p:txBody>
      </p:sp>
      <p:sp>
        <p:nvSpPr>
          <p:cNvPr id="3" name="TextBox 2"/>
          <p:cNvSpPr txBox="1"/>
          <p:nvPr/>
        </p:nvSpPr>
        <p:spPr>
          <a:xfrm>
            <a:off x="1828800" y="1371600"/>
            <a:ext cx="5486400" cy="3293209"/>
          </a:xfrm>
          <a:prstGeom prst="rect">
            <a:avLst/>
          </a:prstGeom>
          <a:noFill/>
        </p:spPr>
        <p:txBody>
          <a:bodyPr wrap="square">
            <a:spAutoFit/>
          </a:bodyPr>
          <a:lstStyle/>
          <a:p>
            <a:endParaRPr dirty="0"/>
          </a:p>
          <a:p>
            <a:pPr>
              <a:defRPr sz="1800" b="0"/>
            </a:pPr>
            <a:endParaRPr dirty="0"/>
          </a:p>
          <a:p>
            <a:pPr algn="ctr">
              <a:defRPr sz="2000" b="1">
                <a:solidFill>
                  <a:srgbClr val="0078D4"/>
                </a:solidFill>
              </a:defRPr>
            </a:pPr>
            <a:r>
              <a:rPr dirty="0"/>
              <a:t>Record the network name (SSID)</a:t>
            </a:r>
            <a:r>
              <a:rPr lang="en-US" dirty="0"/>
              <a:t> and Password you are connected to for Reconnection</a:t>
            </a:r>
          </a:p>
          <a:p>
            <a:pPr>
              <a:defRPr sz="2000" b="1">
                <a:solidFill>
                  <a:srgbClr val="0078D4"/>
                </a:solidFill>
              </a:defRPr>
            </a:pPr>
            <a:endParaRPr dirty="0"/>
          </a:p>
          <a:p>
            <a:pPr lvl="1">
              <a:defRPr sz="1800" b="0"/>
            </a:pPr>
            <a:r>
              <a:rPr dirty="0"/>
              <a:t>Network: _______________________</a:t>
            </a:r>
            <a:endParaRPr lang="en-US" dirty="0"/>
          </a:p>
          <a:p>
            <a:pPr lvl="1">
              <a:defRPr sz="1800" b="0"/>
            </a:pPr>
            <a:endParaRPr lang="en-US" dirty="0"/>
          </a:p>
          <a:p>
            <a:pPr lvl="1">
              <a:defRPr sz="1800" b="0"/>
            </a:pPr>
            <a:r>
              <a:rPr lang="en-US" dirty="0"/>
              <a:t>Password: _______________________</a:t>
            </a:r>
          </a:p>
          <a:p>
            <a:pPr>
              <a:defRPr sz="1800" b="0"/>
            </a:pPr>
            <a:endParaRPr lang="en-US" dirty="0"/>
          </a:p>
          <a:p>
            <a:pPr algn="ctr">
              <a:defRPr sz="1800" b="0"/>
            </a:pPr>
            <a:r>
              <a:rPr lang="en-US" sz="1100" dirty="0"/>
              <a:t>💡 Why this matters: You'll need to reconnect during device setup (OOBE). Having the exact network name ensures smooth reconnection.</a:t>
            </a:r>
          </a:p>
          <a:p>
            <a:pPr>
              <a:defRPr sz="1800" b="0"/>
            </a:pPr>
            <a:endParaRPr lang="en-US" dirty="0"/>
          </a:p>
        </p:txBody>
      </p:sp>
      <p:pic>
        <p:nvPicPr>
          <p:cNvPr id="3074" name="Picture 2" descr="Wifi Signal Icon Wireless Symbol Connection. Web Network ...">
            <a:extLst>
              <a:ext uri="{FF2B5EF4-FFF2-40B4-BE49-F238E27FC236}">
                <a16:creationId xmlns:a16="http://schemas.microsoft.com/office/drawing/2014/main" id="{0F1E6619-668F-741B-E27A-D04847D2BC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2400" y="3766801"/>
            <a:ext cx="1371600" cy="13766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74320"/>
            <a:ext cx="7315200" cy="914400"/>
          </a:xfrm>
          <a:prstGeom prst="rect">
            <a:avLst/>
          </a:prstGeom>
          <a:noFill/>
        </p:spPr>
        <p:txBody>
          <a:bodyPr wrap="square">
            <a:spAutoFit/>
          </a:bodyPr>
          <a:lstStyle/>
          <a:p>
            <a:pPr algn="ctr">
              <a:defRPr sz="4400" b="1">
                <a:solidFill>
                  <a:srgbClr val="0078D4"/>
                </a:solidFill>
              </a:defRPr>
            </a:pPr>
            <a:r>
              <a:rPr dirty="0"/>
              <a:t>Step 5: Outlook Data Files (OST/PST)</a:t>
            </a:r>
          </a:p>
        </p:txBody>
      </p:sp>
      <p:sp>
        <p:nvSpPr>
          <p:cNvPr id="3" name="TextBox 2"/>
          <p:cNvSpPr txBox="1"/>
          <p:nvPr/>
        </p:nvSpPr>
        <p:spPr>
          <a:xfrm>
            <a:off x="1988600" y="1645920"/>
            <a:ext cx="5166799" cy="338554"/>
          </a:xfrm>
          <a:prstGeom prst="rect">
            <a:avLst/>
          </a:prstGeom>
          <a:noFill/>
        </p:spPr>
        <p:txBody>
          <a:bodyPr wrap="none">
            <a:spAutoFit/>
          </a:bodyPr>
          <a:lstStyle/>
          <a:p>
            <a:pPr algn="ctr">
              <a:defRPr sz="1600" b="1">
                <a:solidFill>
                  <a:srgbClr val="D13438"/>
                </a:solidFill>
              </a:defRPr>
            </a:pPr>
            <a:r>
              <a:rPr dirty="0"/>
              <a:t>⚠️ PST files are NOT backed up by OneDrive automatically</a:t>
            </a:r>
            <a:r>
              <a:rPr lang="en-US" dirty="0"/>
              <a:t>!</a:t>
            </a:r>
            <a:endParaRPr dirty="0"/>
          </a:p>
        </p:txBody>
      </p:sp>
      <p:sp>
        <p:nvSpPr>
          <p:cNvPr id="4" name="TextBox 3"/>
          <p:cNvSpPr txBox="1"/>
          <p:nvPr/>
        </p:nvSpPr>
        <p:spPr>
          <a:xfrm>
            <a:off x="67586" y="1920240"/>
            <a:ext cx="6400800" cy="3416320"/>
          </a:xfrm>
          <a:prstGeom prst="rect">
            <a:avLst/>
          </a:prstGeom>
          <a:noFill/>
        </p:spPr>
        <p:txBody>
          <a:bodyPr wrap="square">
            <a:spAutoFit/>
          </a:bodyPr>
          <a:lstStyle/>
          <a:p>
            <a:pPr marL="342900" indent="-342900">
              <a:buFont typeface="+mj-lt"/>
              <a:buAutoNum type="arabicPeriod"/>
              <a:defRPr sz="1800" b="0"/>
            </a:pPr>
            <a:r>
              <a:rPr lang="en-US" dirty="0"/>
              <a:t>Open Outlook </a:t>
            </a:r>
          </a:p>
          <a:p>
            <a:pPr marL="342900" indent="-342900">
              <a:buFont typeface="+mj-lt"/>
              <a:buAutoNum type="arabicPeriod"/>
              <a:defRPr sz="1800" b="0"/>
            </a:pPr>
            <a:r>
              <a:rPr lang="en-US" dirty="0"/>
              <a:t>Click on “Home”</a:t>
            </a:r>
          </a:p>
          <a:p>
            <a:pPr marL="342900" indent="-342900">
              <a:buFont typeface="+mj-lt"/>
              <a:buAutoNum type="arabicPeriod"/>
              <a:defRPr sz="1800" b="0"/>
            </a:pPr>
            <a:r>
              <a:rPr lang="en-US" dirty="0"/>
              <a:t>Click on “Account Settings”</a:t>
            </a:r>
          </a:p>
          <a:p>
            <a:pPr marL="342900" indent="-342900">
              <a:buFont typeface="+mj-lt"/>
              <a:buAutoNum type="arabicPeriod"/>
              <a:defRPr sz="1800" b="0"/>
            </a:pPr>
            <a:r>
              <a:rPr lang="en-US" dirty="0"/>
              <a:t>Click on the “Data Files” Tab</a:t>
            </a:r>
            <a:endParaRPr dirty="0"/>
          </a:p>
          <a:p>
            <a:pPr marL="342900" indent="-342900">
              <a:buFont typeface="+mj-lt"/>
              <a:buAutoNum type="arabicPeriod"/>
              <a:defRPr sz="1800" b="0">
                <a:solidFill>
                  <a:srgbClr val="0078D4"/>
                </a:solidFill>
              </a:defRPr>
            </a:pPr>
            <a:r>
              <a:rPr lang="en-US" dirty="0">
                <a:solidFill>
                  <a:srgbClr val="FF0000"/>
                </a:solidFill>
              </a:rPr>
              <a:t>If there are any items listed</a:t>
            </a:r>
          </a:p>
          <a:p>
            <a:pPr marL="742950" lvl="1" indent="-285750">
              <a:buFontTx/>
              <a:buChar char="-"/>
              <a:defRPr sz="1800" b="0">
                <a:solidFill>
                  <a:srgbClr val="0078D4"/>
                </a:solidFill>
              </a:defRPr>
            </a:pPr>
            <a:r>
              <a:rPr lang="en-US" dirty="0"/>
              <a:t>Click on “Open File Location”</a:t>
            </a:r>
          </a:p>
          <a:p>
            <a:pPr marL="742950" lvl="1" indent="-285750">
              <a:buFontTx/>
              <a:buChar char="-"/>
              <a:defRPr sz="1800" b="0">
                <a:solidFill>
                  <a:srgbClr val="0078D4"/>
                </a:solidFill>
              </a:defRPr>
            </a:pPr>
            <a:r>
              <a:rPr lang="en-US" dirty="0"/>
              <a:t>Select all Files </a:t>
            </a:r>
          </a:p>
          <a:p>
            <a:pPr marL="742950" lvl="1" indent="-285750">
              <a:buFontTx/>
              <a:buChar char="-"/>
              <a:defRPr sz="1800" b="0">
                <a:solidFill>
                  <a:srgbClr val="0078D4"/>
                </a:solidFill>
              </a:defRPr>
            </a:pPr>
            <a:r>
              <a:rPr lang="en-US" dirty="0"/>
              <a:t>Right-click → Cut → OneDrive Documents</a:t>
            </a:r>
          </a:p>
          <a:p>
            <a:pPr>
              <a:defRPr sz="1800" b="0">
                <a:solidFill>
                  <a:srgbClr val="0078D4"/>
                </a:solidFill>
              </a:defRPr>
            </a:pPr>
            <a:endParaRPr dirty="0"/>
          </a:p>
          <a:p>
            <a:pPr>
              <a:defRPr sz="1800" b="0">
                <a:solidFill>
                  <a:srgbClr val="107C10"/>
                </a:solidFill>
              </a:defRPr>
            </a:pPr>
            <a:r>
              <a:rPr dirty="0"/>
              <a:t>OST files (.</a:t>
            </a:r>
            <a:r>
              <a:rPr dirty="0" err="1"/>
              <a:t>ost</a:t>
            </a:r>
            <a:r>
              <a:rPr dirty="0"/>
              <a:t>) - No action needed (will be recreated)</a:t>
            </a:r>
          </a:p>
          <a:p>
            <a:pPr>
              <a:defRPr sz="1800" b="1">
                <a:solidFill>
                  <a:srgbClr val="D13438"/>
                </a:solidFill>
              </a:defRPr>
            </a:pPr>
            <a:r>
              <a:rPr dirty="0"/>
              <a:t>PST files (.</a:t>
            </a:r>
            <a:r>
              <a:rPr dirty="0" err="1"/>
              <a:t>pst</a:t>
            </a:r>
            <a:r>
              <a:rPr dirty="0"/>
              <a:t>) - MUST be copied to OneDrive Documents</a:t>
            </a:r>
          </a:p>
          <a:p>
            <a:pPr>
              <a:defRPr sz="1800" b="0"/>
            </a:pPr>
            <a:endParaRPr dirty="0"/>
          </a:p>
        </p:txBody>
      </p:sp>
      <p:pic>
        <p:nvPicPr>
          <p:cNvPr id="2052" name="Picture 4" descr="Search PST File in Outlook 2021, 2019, 2016, 2013 (Top Ways)">
            <a:extLst>
              <a:ext uri="{FF2B5EF4-FFF2-40B4-BE49-F238E27FC236}">
                <a16:creationId xmlns:a16="http://schemas.microsoft.com/office/drawing/2014/main" id="{B7029386-0222-0BE6-0924-338AAAD855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4996" y="1920240"/>
            <a:ext cx="4174808" cy="31173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74320"/>
            <a:ext cx="7315200" cy="769441"/>
          </a:xfrm>
          <a:prstGeom prst="rect">
            <a:avLst/>
          </a:prstGeom>
          <a:noFill/>
        </p:spPr>
        <p:txBody>
          <a:bodyPr wrap="square">
            <a:spAutoFit/>
          </a:bodyPr>
          <a:lstStyle/>
          <a:p>
            <a:pPr algn="ctr">
              <a:defRPr sz="4400" b="1">
                <a:solidFill>
                  <a:srgbClr val="0078D4"/>
                </a:solidFill>
              </a:defRPr>
            </a:pPr>
            <a:r>
              <a:rPr dirty="0"/>
              <a:t>Checklist</a:t>
            </a:r>
          </a:p>
        </p:txBody>
      </p:sp>
      <p:sp>
        <p:nvSpPr>
          <p:cNvPr id="3" name="TextBox 2"/>
          <p:cNvSpPr txBox="1"/>
          <p:nvPr/>
        </p:nvSpPr>
        <p:spPr>
          <a:xfrm>
            <a:off x="1371600" y="1097280"/>
            <a:ext cx="6400800" cy="2031325"/>
          </a:xfrm>
          <a:prstGeom prst="rect">
            <a:avLst/>
          </a:prstGeom>
          <a:noFill/>
        </p:spPr>
        <p:txBody>
          <a:bodyPr wrap="square">
            <a:spAutoFit/>
          </a:bodyPr>
          <a:lstStyle/>
          <a:p>
            <a:pPr>
              <a:defRPr sz="1800" b="1">
                <a:solidFill>
                  <a:srgbClr val="107C10"/>
                </a:solidFill>
              </a:defRPr>
            </a:pPr>
            <a:r>
              <a:rPr lang="en-US" dirty="0"/>
              <a:t>☐ OneDrive sync complete </a:t>
            </a:r>
          </a:p>
          <a:p>
            <a:pPr>
              <a:defRPr sz="1800" b="1">
                <a:solidFill>
                  <a:srgbClr val="107C10"/>
                </a:solidFill>
              </a:defRPr>
            </a:pPr>
            <a:r>
              <a:rPr dirty="0"/>
              <a:t>☐ Browser sync enabled</a:t>
            </a:r>
            <a:endParaRPr lang="en-US" dirty="0"/>
          </a:p>
          <a:p>
            <a:pPr>
              <a:defRPr sz="1800" b="1">
                <a:solidFill>
                  <a:srgbClr val="107C10"/>
                </a:solidFill>
              </a:defRPr>
            </a:pPr>
            <a:r>
              <a:rPr dirty="0"/>
              <a:t>☐ Browser bookmarks/passwords exported to OneDrive</a:t>
            </a:r>
            <a:endParaRPr lang="en-US" dirty="0"/>
          </a:p>
          <a:p>
            <a:pPr>
              <a:defRPr sz="1800" b="1">
                <a:solidFill>
                  <a:srgbClr val="107C10"/>
                </a:solidFill>
              </a:defRPr>
            </a:pPr>
            <a:r>
              <a:rPr dirty="0"/>
              <a:t>☐ Printer configuration screenshot saved</a:t>
            </a:r>
            <a:endParaRPr lang="en-US" dirty="0"/>
          </a:p>
          <a:p>
            <a:pPr>
              <a:defRPr sz="1800" b="1">
                <a:solidFill>
                  <a:srgbClr val="107C10"/>
                </a:solidFill>
              </a:defRPr>
            </a:pPr>
            <a:r>
              <a:rPr dirty="0"/>
              <a:t>☐ </a:t>
            </a:r>
            <a:r>
              <a:rPr dirty="0" err="1"/>
              <a:t>WiFi</a:t>
            </a:r>
            <a:r>
              <a:rPr dirty="0"/>
              <a:t> SSID recorded</a:t>
            </a:r>
            <a:endParaRPr lang="en-US" dirty="0"/>
          </a:p>
          <a:p>
            <a:pPr>
              <a:defRPr sz="1800" b="1">
                <a:solidFill>
                  <a:srgbClr val="107C10"/>
                </a:solidFill>
              </a:defRPr>
            </a:pPr>
            <a:r>
              <a:rPr dirty="0"/>
              <a:t>☐ Outlook PST files checked and moved (if applicable)</a:t>
            </a:r>
            <a:endParaRPr lang="en-US" dirty="0"/>
          </a:p>
          <a:p>
            <a:pPr>
              <a:defRPr sz="1800" b="1">
                <a:solidFill>
                  <a:srgbClr val="107C10"/>
                </a:solidFill>
              </a:defRPr>
            </a:pPr>
            <a:r>
              <a:rPr dirty="0"/>
              <a:t>☐</a:t>
            </a:r>
            <a:endParaRPr lang="en-US" dirty="0"/>
          </a:p>
        </p:txBody>
      </p:sp>
      <p:sp>
        <p:nvSpPr>
          <p:cNvPr id="4" name="TextBox 3"/>
          <p:cNvSpPr txBox="1"/>
          <p:nvPr/>
        </p:nvSpPr>
        <p:spPr>
          <a:xfrm>
            <a:off x="0" y="3698240"/>
            <a:ext cx="9144000" cy="400110"/>
          </a:xfrm>
          <a:prstGeom prst="rect">
            <a:avLst/>
          </a:prstGeom>
          <a:noFill/>
        </p:spPr>
        <p:txBody>
          <a:bodyPr wrap="square">
            <a:spAutoFit/>
          </a:bodyPr>
          <a:lstStyle/>
          <a:p>
            <a:pPr algn="ctr">
              <a:defRPr sz="1800" b="1">
                <a:solidFill>
                  <a:srgbClr val="D13438"/>
                </a:solidFill>
              </a:defRPr>
            </a:pPr>
            <a:r>
              <a:rPr sz="2000" dirty="0"/>
              <a:t>🛑 DO NOT </a:t>
            </a:r>
            <a:r>
              <a:rPr lang="en-US" sz="2000" dirty="0"/>
              <a:t>proceed to the</a:t>
            </a:r>
            <a:r>
              <a:rPr sz="2000" dirty="0"/>
              <a:t> </a:t>
            </a:r>
            <a:r>
              <a:rPr lang="en-US" sz="2000" dirty="0"/>
              <a:t>D</a:t>
            </a:r>
            <a:r>
              <a:rPr sz="2000" dirty="0"/>
              <a:t>evice </a:t>
            </a:r>
            <a:r>
              <a:rPr lang="en-US" sz="2000" dirty="0"/>
              <a:t>R</a:t>
            </a:r>
            <a:r>
              <a:rPr sz="2000" dirty="0"/>
              <a:t>eset until ALL items above are complete</a:t>
            </a:r>
            <a:r>
              <a:rPr lang="en-US" sz="2000" dirty="0"/>
              <a:t> 🛑</a:t>
            </a:r>
            <a:endParaRPr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74320"/>
            <a:ext cx="7315200" cy="769441"/>
          </a:xfrm>
          <a:prstGeom prst="rect">
            <a:avLst/>
          </a:prstGeom>
          <a:noFill/>
        </p:spPr>
        <p:txBody>
          <a:bodyPr wrap="square">
            <a:spAutoFit/>
          </a:bodyPr>
          <a:lstStyle/>
          <a:p>
            <a:pPr marL="0" indent="0" algn="ctr">
              <a:buNone/>
              <a:defRPr sz="4400" b="1">
                <a:solidFill>
                  <a:srgbClr val="0078D4"/>
                </a:solidFill>
              </a:defRPr>
            </a:pPr>
            <a:r>
              <a:rPr dirty="0"/>
              <a:t>Phase 2: Windows Reset</a:t>
            </a:r>
          </a:p>
        </p:txBody>
      </p:sp>
      <p:pic>
        <p:nvPicPr>
          <p:cNvPr id="6" name="Picture 5">
            <a:extLst>
              <a:ext uri="{FF2B5EF4-FFF2-40B4-BE49-F238E27FC236}">
                <a16:creationId xmlns:a16="http://schemas.microsoft.com/office/drawing/2014/main" id="{0740437D-830F-CE84-3FE0-38BD9BBA3D53}"/>
              </a:ext>
            </a:extLst>
          </p:cNvPr>
          <p:cNvPicPr>
            <a:picLocks noChangeAspect="1"/>
          </p:cNvPicPr>
          <p:nvPr/>
        </p:nvPicPr>
        <p:blipFill>
          <a:blip r:embed="rId2"/>
          <a:stretch>
            <a:fillRect/>
          </a:stretch>
        </p:blipFill>
        <p:spPr>
          <a:xfrm>
            <a:off x="524166" y="1558356"/>
            <a:ext cx="3443656" cy="3274742"/>
          </a:xfrm>
          <a:prstGeom prst="rect">
            <a:avLst/>
          </a:prstGeom>
        </p:spPr>
      </p:pic>
      <p:pic>
        <p:nvPicPr>
          <p:cNvPr id="7" name="Picture 6">
            <a:extLst>
              <a:ext uri="{FF2B5EF4-FFF2-40B4-BE49-F238E27FC236}">
                <a16:creationId xmlns:a16="http://schemas.microsoft.com/office/drawing/2014/main" id="{52FF30E4-0503-1145-BFE7-2238BBA14EFB}"/>
              </a:ext>
            </a:extLst>
          </p:cNvPr>
          <p:cNvPicPr>
            <a:picLocks noChangeAspect="1"/>
          </p:cNvPicPr>
          <p:nvPr/>
        </p:nvPicPr>
        <p:blipFill>
          <a:blip r:embed="rId3"/>
          <a:stretch>
            <a:fillRect/>
          </a:stretch>
        </p:blipFill>
        <p:spPr>
          <a:xfrm>
            <a:off x="4972233" y="1564485"/>
            <a:ext cx="3942557" cy="3139919"/>
          </a:xfrm>
          <a:prstGeom prst="rect">
            <a:avLst/>
          </a:prstGeom>
        </p:spPr>
      </p:pic>
      <p:sp>
        <p:nvSpPr>
          <p:cNvPr id="8" name="TextBox 7">
            <a:extLst>
              <a:ext uri="{FF2B5EF4-FFF2-40B4-BE49-F238E27FC236}">
                <a16:creationId xmlns:a16="http://schemas.microsoft.com/office/drawing/2014/main" id="{1F4EC729-D17A-F82B-9ED3-7213CD90559E}"/>
              </a:ext>
            </a:extLst>
          </p:cNvPr>
          <p:cNvSpPr txBox="1"/>
          <p:nvPr/>
        </p:nvSpPr>
        <p:spPr>
          <a:xfrm>
            <a:off x="1371600" y="914400"/>
            <a:ext cx="6400800" cy="548640"/>
          </a:xfrm>
          <a:prstGeom prst="rect">
            <a:avLst/>
          </a:prstGeom>
          <a:noFill/>
        </p:spPr>
        <p:txBody>
          <a:bodyPr wrap="none">
            <a:spAutoFit/>
          </a:bodyPr>
          <a:lstStyle/>
          <a:p>
            <a:pPr marL="0" indent="0" algn="ctr">
              <a:buNone/>
              <a:defRPr sz="1600" b="1">
                <a:solidFill>
                  <a:srgbClr val="D13438"/>
                </a:solidFill>
              </a:defRPr>
            </a:pPr>
            <a:r>
              <a:rPr dirty="0"/>
              <a:t>⚠️ Verify ALL Phase 1 backups are complete before proceeding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6F82A0C-9F2E-666D-339C-F7F70458B30C}"/>
              </a:ext>
            </a:extLst>
          </p:cNvPr>
          <p:cNvPicPr>
            <a:picLocks noChangeAspect="1"/>
          </p:cNvPicPr>
          <p:nvPr/>
        </p:nvPicPr>
        <p:blipFill>
          <a:blip r:embed="rId2"/>
          <a:stretch>
            <a:fillRect/>
          </a:stretch>
        </p:blipFill>
        <p:spPr>
          <a:xfrm>
            <a:off x="608591" y="1404427"/>
            <a:ext cx="3698198" cy="2945307"/>
          </a:xfrm>
          <a:prstGeom prst="rect">
            <a:avLst/>
          </a:prstGeom>
        </p:spPr>
      </p:pic>
      <p:pic>
        <p:nvPicPr>
          <p:cNvPr id="5" name="Picture 4">
            <a:extLst>
              <a:ext uri="{FF2B5EF4-FFF2-40B4-BE49-F238E27FC236}">
                <a16:creationId xmlns:a16="http://schemas.microsoft.com/office/drawing/2014/main" id="{7C2BA06A-71A2-6C5C-3131-B783F43787D6}"/>
              </a:ext>
            </a:extLst>
          </p:cNvPr>
          <p:cNvPicPr>
            <a:picLocks noChangeAspect="1"/>
          </p:cNvPicPr>
          <p:nvPr/>
        </p:nvPicPr>
        <p:blipFill>
          <a:blip r:embed="rId3"/>
          <a:stretch>
            <a:fillRect/>
          </a:stretch>
        </p:blipFill>
        <p:spPr>
          <a:xfrm>
            <a:off x="4783947" y="1404427"/>
            <a:ext cx="3698198" cy="2945307"/>
          </a:xfrm>
          <a:prstGeom prst="rect">
            <a:avLst/>
          </a:prstGeom>
        </p:spPr>
      </p:pic>
      <p:sp>
        <p:nvSpPr>
          <p:cNvPr id="6" name="TextBox 5">
            <a:extLst>
              <a:ext uri="{FF2B5EF4-FFF2-40B4-BE49-F238E27FC236}">
                <a16:creationId xmlns:a16="http://schemas.microsoft.com/office/drawing/2014/main" id="{12F44FD6-29D6-A90E-FE5E-3AF55C1D5E11}"/>
              </a:ext>
            </a:extLst>
          </p:cNvPr>
          <p:cNvSpPr txBox="1"/>
          <p:nvPr/>
        </p:nvSpPr>
        <p:spPr>
          <a:xfrm>
            <a:off x="1126347" y="4499848"/>
            <a:ext cx="2805512" cy="369332"/>
          </a:xfrm>
          <a:prstGeom prst="rect">
            <a:avLst/>
          </a:prstGeom>
          <a:noFill/>
        </p:spPr>
        <p:txBody>
          <a:bodyPr wrap="none" rtlCol="0">
            <a:spAutoFit/>
          </a:bodyPr>
          <a:lstStyle/>
          <a:p>
            <a:r>
              <a:rPr lang="en-US" dirty="0"/>
              <a:t>Select “Remove Everything”</a:t>
            </a:r>
          </a:p>
        </p:txBody>
      </p:sp>
      <p:sp>
        <p:nvSpPr>
          <p:cNvPr id="7" name="TextBox 6">
            <a:extLst>
              <a:ext uri="{FF2B5EF4-FFF2-40B4-BE49-F238E27FC236}">
                <a16:creationId xmlns:a16="http://schemas.microsoft.com/office/drawing/2014/main" id="{98059592-854B-40E6-F7F0-9B3A111C9401}"/>
              </a:ext>
            </a:extLst>
          </p:cNvPr>
          <p:cNvSpPr txBox="1"/>
          <p:nvPr/>
        </p:nvSpPr>
        <p:spPr>
          <a:xfrm>
            <a:off x="5305740" y="4499848"/>
            <a:ext cx="2546595" cy="369332"/>
          </a:xfrm>
          <a:prstGeom prst="rect">
            <a:avLst/>
          </a:prstGeom>
          <a:noFill/>
        </p:spPr>
        <p:txBody>
          <a:bodyPr wrap="none" rtlCol="0">
            <a:spAutoFit/>
          </a:bodyPr>
          <a:lstStyle/>
          <a:p>
            <a:r>
              <a:rPr lang="en-US" dirty="0"/>
              <a:t>Select “Cloud Download”</a:t>
            </a:r>
          </a:p>
        </p:txBody>
      </p:sp>
      <p:sp>
        <p:nvSpPr>
          <p:cNvPr id="8" name="TextBox 7">
            <a:extLst>
              <a:ext uri="{FF2B5EF4-FFF2-40B4-BE49-F238E27FC236}">
                <a16:creationId xmlns:a16="http://schemas.microsoft.com/office/drawing/2014/main" id="{10412FF5-42F8-3B43-5931-131AAD235497}"/>
              </a:ext>
            </a:extLst>
          </p:cNvPr>
          <p:cNvSpPr txBox="1"/>
          <p:nvPr/>
        </p:nvSpPr>
        <p:spPr>
          <a:xfrm>
            <a:off x="914400" y="274320"/>
            <a:ext cx="7315200" cy="769441"/>
          </a:xfrm>
          <a:prstGeom prst="rect">
            <a:avLst/>
          </a:prstGeom>
          <a:noFill/>
        </p:spPr>
        <p:txBody>
          <a:bodyPr wrap="square">
            <a:spAutoFit/>
          </a:bodyPr>
          <a:lstStyle/>
          <a:p>
            <a:pPr marL="0" indent="0" algn="ctr">
              <a:buNone/>
              <a:defRPr sz="4400" b="1">
                <a:solidFill>
                  <a:srgbClr val="0078D4"/>
                </a:solidFill>
              </a:defRPr>
            </a:pPr>
            <a:r>
              <a:rPr dirty="0"/>
              <a:t>Phase 2: Windows Reset</a:t>
            </a:r>
          </a:p>
        </p:txBody>
      </p:sp>
    </p:spTree>
    <p:extLst>
      <p:ext uri="{BB962C8B-B14F-4D97-AF65-F5344CB8AC3E}">
        <p14:creationId xmlns:p14="http://schemas.microsoft.com/office/powerpoint/2010/main" val="824481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F93B0-0E54-DAE5-38D7-7B2A2152BA2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7EB35B1-A503-863D-3F7A-8E1690FB95E7}"/>
              </a:ext>
            </a:extLst>
          </p:cNvPr>
          <p:cNvSpPr txBox="1"/>
          <p:nvPr/>
        </p:nvSpPr>
        <p:spPr>
          <a:xfrm>
            <a:off x="881457" y="3730407"/>
            <a:ext cx="2645276" cy="369332"/>
          </a:xfrm>
          <a:prstGeom prst="rect">
            <a:avLst/>
          </a:prstGeom>
          <a:noFill/>
        </p:spPr>
        <p:txBody>
          <a:bodyPr wrap="none" rtlCol="0">
            <a:spAutoFit/>
          </a:bodyPr>
          <a:lstStyle/>
          <a:p>
            <a:r>
              <a:rPr lang="en-US" dirty="0"/>
              <a:t>Click on “Change Settings”</a:t>
            </a:r>
          </a:p>
        </p:txBody>
      </p:sp>
      <p:sp>
        <p:nvSpPr>
          <p:cNvPr id="8" name="TextBox 7">
            <a:extLst>
              <a:ext uri="{FF2B5EF4-FFF2-40B4-BE49-F238E27FC236}">
                <a16:creationId xmlns:a16="http://schemas.microsoft.com/office/drawing/2014/main" id="{B676C6A1-1259-A1F1-C80D-4CE64343BD68}"/>
              </a:ext>
            </a:extLst>
          </p:cNvPr>
          <p:cNvSpPr txBox="1"/>
          <p:nvPr/>
        </p:nvSpPr>
        <p:spPr>
          <a:xfrm>
            <a:off x="914400" y="274320"/>
            <a:ext cx="7315200" cy="769441"/>
          </a:xfrm>
          <a:prstGeom prst="rect">
            <a:avLst/>
          </a:prstGeom>
          <a:noFill/>
        </p:spPr>
        <p:txBody>
          <a:bodyPr wrap="square">
            <a:spAutoFit/>
          </a:bodyPr>
          <a:lstStyle/>
          <a:p>
            <a:pPr marL="0" indent="0" algn="ctr">
              <a:buNone/>
              <a:defRPr sz="4400" b="1">
                <a:solidFill>
                  <a:srgbClr val="0078D4"/>
                </a:solidFill>
              </a:defRPr>
            </a:pPr>
            <a:r>
              <a:rPr dirty="0"/>
              <a:t>Phase 2: Windows Reset</a:t>
            </a:r>
          </a:p>
        </p:txBody>
      </p:sp>
      <p:pic>
        <p:nvPicPr>
          <p:cNvPr id="3" name="Picture 2">
            <a:extLst>
              <a:ext uri="{FF2B5EF4-FFF2-40B4-BE49-F238E27FC236}">
                <a16:creationId xmlns:a16="http://schemas.microsoft.com/office/drawing/2014/main" id="{F60394A1-1FDD-DAA6-AB91-01E4B292FD55}"/>
              </a:ext>
            </a:extLst>
          </p:cNvPr>
          <p:cNvPicPr>
            <a:picLocks noChangeAspect="1"/>
          </p:cNvPicPr>
          <p:nvPr/>
        </p:nvPicPr>
        <p:blipFill>
          <a:blip r:embed="rId2"/>
          <a:stretch>
            <a:fillRect/>
          </a:stretch>
        </p:blipFill>
        <p:spPr>
          <a:xfrm>
            <a:off x="669638" y="1043761"/>
            <a:ext cx="3229151" cy="2571750"/>
          </a:xfrm>
          <a:prstGeom prst="rect">
            <a:avLst/>
          </a:prstGeom>
        </p:spPr>
      </p:pic>
      <p:pic>
        <p:nvPicPr>
          <p:cNvPr id="9" name="Picture 8">
            <a:extLst>
              <a:ext uri="{FF2B5EF4-FFF2-40B4-BE49-F238E27FC236}">
                <a16:creationId xmlns:a16="http://schemas.microsoft.com/office/drawing/2014/main" id="{1A0F8627-578A-BB8F-785F-DBDB6C7732B8}"/>
              </a:ext>
            </a:extLst>
          </p:cNvPr>
          <p:cNvPicPr>
            <a:picLocks noChangeAspect="1"/>
          </p:cNvPicPr>
          <p:nvPr/>
        </p:nvPicPr>
        <p:blipFill>
          <a:blip r:embed="rId3"/>
          <a:stretch>
            <a:fillRect/>
          </a:stretch>
        </p:blipFill>
        <p:spPr>
          <a:xfrm>
            <a:off x="5390093" y="1043761"/>
            <a:ext cx="3229150" cy="2571750"/>
          </a:xfrm>
          <a:prstGeom prst="rect">
            <a:avLst/>
          </a:prstGeom>
        </p:spPr>
      </p:pic>
      <p:sp>
        <p:nvSpPr>
          <p:cNvPr id="10" name="TextBox 9">
            <a:extLst>
              <a:ext uri="{FF2B5EF4-FFF2-40B4-BE49-F238E27FC236}">
                <a16:creationId xmlns:a16="http://schemas.microsoft.com/office/drawing/2014/main" id="{0A4CBF9C-E899-5005-AA07-73C5DF8EEF3A}"/>
              </a:ext>
            </a:extLst>
          </p:cNvPr>
          <p:cNvSpPr txBox="1"/>
          <p:nvPr/>
        </p:nvSpPr>
        <p:spPr>
          <a:xfrm>
            <a:off x="5245212" y="3730407"/>
            <a:ext cx="3518912" cy="369332"/>
          </a:xfrm>
          <a:prstGeom prst="rect">
            <a:avLst/>
          </a:prstGeom>
          <a:noFill/>
        </p:spPr>
        <p:txBody>
          <a:bodyPr wrap="none" rtlCol="0">
            <a:spAutoFit/>
          </a:bodyPr>
          <a:lstStyle/>
          <a:p>
            <a:r>
              <a:rPr lang="en-US" dirty="0"/>
              <a:t>Ensure “Clean Data?” is set to “Yes”</a:t>
            </a:r>
          </a:p>
        </p:txBody>
      </p:sp>
    </p:spTree>
    <p:extLst>
      <p:ext uri="{BB962C8B-B14F-4D97-AF65-F5344CB8AC3E}">
        <p14:creationId xmlns:p14="http://schemas.microsoft.com/office/powerpoint/2010/main" val="571523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053EC-86F8-31BB-330C-1F957A0EA0A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CC14E6D-6097-FAF7-2800-9B60D0749DE7}"/>
              </a:ext>
            </a:extLst>
          </p:cNvPr>
          <p:cNvSpPr txBox="1"/>
          <p:nvPr/>
        </p:nvSpPr>
        <p:spPr>
          <a:xfrm>
            <a:off x="5880668" y="4027132"/>
            <a:ext cx="2645276" cy="369332"/>
          </a:xfrm>
          <a:prstGeom prst="rect">
            <a:avLst/>
          </a:prstGeom>
          <a:noFill/>
        </p:spPr>
        <p:txBody>
          <a:bodyPr wrap="square" rtlCol="0">
            <a:spAutoFit/>
          </a:bodyPr>
          <a:lstStyle/>
          <a:p>
            <a:pPr algn="ctr"/>
            <a:r>
              <a:rPr lang="en-US" dirty="0"/>
              <a:t>Click on “Next”</a:t>
            </a:r>
          </a:p>
        </p:txBody>
      </p:sp>
      <p:sp>
        <p:nvSpPr>
          <p:cNvPr id="8" name="TextBox 7">
            <a:extLst>
              <a:ext uri="{FF2B5EF4-FFF2-40B4-BE49-F238E27FC236}">
                <a16:creationId xmlns:a16="http://schemas.microsoft.com/office/drawing/2014/main" id="{BDA8EF64-224A-E828-B8FD-8F1733460357}"/>
              </a:ext>
            </a:extLst>
          </p:cNvPr>
          <p:cNvSpPr txBox="1"/>
          <p:nvPr/>
        </p:nvSpPr>
        <p:spPr>
          <a:xfrm>
            <a:off x="914400" y="274320"/>
            <a:ext cx="7315200" cy="769441"/>
          </a:xfrm>
          <a:prstGeom prst="rect">
            <a:avLst/>
          </a:prstGeom>
          <a:noFill/>
        </p:spPr>
        <p:txBody>
          <a:bodyPr wrap="square">
            <a:spAutoFit/>
          </a:bodyPr>
          <a:lstStyle/>
          <a:p>
            <a:pPr marL="0" indent="0" algn="ctr">
              <a:buNone/>
              <a:defRPr sz="4400" b="1">
                <a:solidFill>
                  <a:srgbClr val="0078D4"/>
                </a:solidFill>
              </a:defRPr>
            </a:pPr>
            <a:r>
              <a:rPr dirty="0"/>
              <a:t>Phase 2: Windows Reset</a:t>
            </a:r>
          </a:p>
        </p:txBody>
      </p:sp>
      <p:pic>
        <p:nvPicPr>
          <p:cNvPr id="4" name="Picture 3">
            <a:extLst>
              <a:ext uri="{FF2B5EF4-FFF2-40B4-BE49-F238E27FC236}">
                <a16:creationId xmlns:a16="http://schemas.microsoft.com/office/drawing/2014/main" id="{DCFA2682-DE94-0879-A288-DE0E119B3C2E}"/>
              </a:ext>
            </a:extLst>
          </p:cNvPr>
          <p:cNvPicPr>
            <a:picLocks noChangeAspect="1"/>
          </p:cNvPicPr>
          <p:nvPr/>
        </p:nvPicPr>
        <p:blipFill>
          <a:blip r:embed="rId2"/>
          <a:stretch>
            <a:fillRect/>
          </a:stretch>
        </p:blipFill>
        <p:spPr>
          <a:xfrm>
            <a:off x="5688766" y="1471547"/>
            <a:ext cx="3029080" cy="2412411"/>
          </a:xfrm>
          <a:prstGeom prst="rect">
            <a:avLst/>
          </a:prstGeom>
        </p:spPr>
      </p:pic>
      <p:sp>
        <p:nvSpPr>
          <p:cNvPr id="5" name="TextBox 4">
            <a:extLst>
              <a:ext uri="{FF2B5EF4-FFF2-40B4-BE49-F238E27FC236}">
                <a16:creationId xmlns:a16="http://schemas.microsoft.com/office/drawing/2014/main" id="{306BC582-C721-07B8-E9C2-02111EC59A8F}"/>
              </a:ext>
            </a:extLst>
          </p:cNvPr>
          <p:cNvSpPr txBox="1"/>
          <p:nvPr/>
        </p:nvSpPr>
        <p:spPr>
          <a:xfrm>
            <a:off x="955134" y="4082642"/>
            <a:ext cx="2645276" cy="369332"/>
          </a:xfrm>
          <a:prstGeom prst="rect">
            <a:avLst/>
          </a:prstGeom>
          <a:noFill/>
        </p:spPr>
        <p:txBody>
          <a:bodyPr wrap="square" rtlCol="0">
            <a:spAutoFit/>
          </a:bodyPr>
          <a:lstStyle/>
          <a:p>
            <a:pPr algn="ctr"/>
            <a:r>
              <a:rPr lang="en-US" dirty="0"/>
              <a:t>Click on “Confirm”</a:t>
            </a:r>
          </a:p>
        </p:txBody>
      </p:sp>
      <p:pic>
        <p:nvPicPr>
          <p:cNvPr id="11" name="Picture 10">
            <a:extLst>
              <a:ext uri="{FF2B5EF4-FFF2-40B4-BE49-F238E27FC236}">
                <a16:creationId xmlns:a16="http://schemas.microsoft.com/office/drawing/2014/main" id="{F0A08F5D-69BB-E86C-7819-7A49B537860B}"/>
              </a:ext>
            </a:extLst>
          </p:cNvPr>
          <p:cNvPicPr>
            <a:picLocks noChangeAspect="1"/>
          </p:cNvPicPr>
          <p:nvPr/>
        </p:nvPicPr>
        <p:blipFill>
          <a:blip r:embed="rId3"/>
          <a:stretch>
            <a:fillRect/>
          </a:stretch>
        </p:blipFill>
        <p:spPr>
          <a:xfrm>
            <a:off x="760837" y="1471547"/>
            <a:ext cx="3033870" cy="2416225"/>
          </a:xfrm>
          <a:prstGeom prst="rect">
            <a:avLst/>
          </a:prstGeom>
        </p:spPr>
      </p:pic>
    </p:spTree>
    <p:extLst>
      <p:ext uri="{BB962C8B-B14F-4D97-AF65-F5344CB8AC3E}">
        <p14:creationId xmlns:p14="http://schemas.microsoft.com/office/powerpoint/2010/main" val="460059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74320"/>
            <a:ext cx="7315200" cy="769441"/>
          </a:xfrm>
          <a:prstGeom prst="rect">
            <a:avLst/>
          </a:prstGeom>
          <a:noFill/>
        </p:spPr>
        <p:txBody>
          <a:bodyPr wrap="square">
            <a:spAutoFit/>
          </a:bodyPr>
          <a:lstStyle/>
          <a:p>
            <a:pPr marL="0" indent="0" algn="ctr">
              <a:buNone/>
              <a:defRPr sz="4400" b="1">
                <a:solidFill>
                  <a:srgbClr val="0078D4"/>
                </a:solidFill>
              </a:defRPr>
            </a:pPr>
            <a:r>
              <a:rPr dirty="0"/>
              <a:t>Understanding the Reset</a:t>
            </a:r>
          </a:p>
        </p:txBody>
      </p:sp>
      <p:sp>
        <p:nvSpPr>
          <p:cNvPr id="4" name="TextBox 3"/>
          <p:cNvSpPr txBox="1"/>
          <p:nvPr/>
        </p:nvSpPr>
        <p:spPr>
          <a:xfrm>
            <a:off x="1371600" y="1645920"/>
            <a:ext cx="6400800" cy="2308324"/>
          </a:xfrm>
          <a:prstGeom prst="rect">
            <a:avLst/>
          </a:prstGeom>
          <a:noFill/>
        </p:spPr>
        <p:txBody>
          <a:bodyPr wrap="square">
            <a:spAutoFit/>
          </a:bodyPr>
          <a:lstStyle/>
          <a:p>
            <a:pPr marL="365760" indent="-182880" algn="l">
              <a:defRPr sz="1800" b="0"/>
            </a:pPr>
            <a:r>
              <a:rPr dirty="0"/>
              <a:t>What will be removed:</a:t>
            </a:r>
          </a:p>
          <a:p>
            <a:pPr lvl="1"/>
            <a:r>
              <a:rPr dirty="0"/>
              <a:t>✗ All apps and programs</a:t>
            </a:r>
          </a:p>
          <a:p>
            <a:pPr lvl="1"/>
            <a:r>
              <a:rPr dirty="0"/>
              <a:t>✗ All personal files and data</a:t>
            </a:r>
          </a:p>
          <a:p>
            <a:pPr lvl="1"/>
            <a:r>
              <a:rPr dirty="0"/>
              <a:t>✗ All user accounts and settings</a:t>
            </a:r>
          </a:p>
          <a:p>
            <a:pPr marL="182880" algn="l"/>
            <a:r>
              <a:rPr dirty="0"/>
              <a:t>What happens next:</a:t>
            </a:r>
          </a:p>
          <a:p>
            <a:pPr lvl="1"/>
            <a:r>
              <a:rPr dirty="0"/>
              <a:t>✓ Windows reinstalls fresh (30-60 min)</a:t>
            </a:r>
          </a:p>
          <a:p>
            <a:pPr lvl="1"/>
            <a:r>
              <a:rPr dirty="0"/>
              <a:t>✓ Autopilot enrollment begins automatically</a:t>
            </a:r>
            <a:endParaRPr lang="en-US" dirty="0"/>
          </a:p>
          <a:p>
            <a:pPr lvl="1"/>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79878-1469-FA90-2473-27BBCD423DF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95D9DA6-49F1-1046-A5F3-0C57B39CAFC7}"/>
              </a:ext>
            </a:extLst>
          </p:cNvPr>
          <p:cNvSpPr txBox="1"/>
          <p:nvPr/>
        </p:nvSpPr>
        <p:spPr>
          <a:xfrm>
            <a:off x="914400" y="274320"/>
            <a:ext cx="7315200" cy="769441"/>
          </a:xfrm>
          <a:prstGeom prst="rect">
            <a:avLst/>
          </a:prstGeom>
          <a:noFill/>
        </p:spPr>
        <p:txBody>
          <a:bodyPr wrap="square">
            <a:spAutoFit/>
          </a:bodyPr>
          <a:lstStyle/>
          <a:p>
            <a:pPr marL="0" indent="0" algn="ctr">
              <a:buNone/>
              <a:defRPr sz="4400" b="1">
                <a:solidFill>
                  <a:srgbClr val="0078D4"/>
                </a:solidFill>
              </a:defRPr>
            </a:pPr>
            <a:r>
              <a:rPr dirty="0"/>
              <a:t>Understanding the Reset</a:t>
            </a:r>
          </a:p>
        </p:txBody>
      </p:sp>
      <p:sp>
        <p:nvSpPr>
          <p:cNvPr id="4" name="TextBox 3">
            <a:extLst>
              <a:ext uri="{FF2B5EF4-FFF2-40B4-BE49-F238E27FC236}">
                <a16:creationId xmlns:a16="http://schemas.microsoft.com/office/drawing/2014/main" id="{FDE3AC24-5117-4A75-4EE1-A848DA39DE2D}"/>
              </a:ext>
            </a:extLst>
          </p:cNvPr>
          <p:cNvSpPr txBox="1"/>
          <p:nvPr/>
        </p:nvSpPr>
        <p:spPr>
          <a:xfrm>
            <a:off x="369393" y="1645920"/>
            <a:ext cx="8671661" cy="1754326"/>
          </a:xfrm>
          <a:prstGeom prst="rect">
            <a:avLst/>
          </a:prstGeom>
          <a:noFill/>
        </p:spPr>
        <p:txBody>
          <a:bodyPr wrap="square">
            <a:spAutoFit/>
          </a:bodyPr>
          <a:lstStyle/>
          <a:p>
            <a:pPr marL="182880" algn="l"/>
            <a:r>
              <a:rPr lang="en-US" dirty="0"/>
              <a:t>Once your Reset Starts</a:t>
            </a:r>
            <a:endParaRPr dirty="0"/>
          </a:p>
          <a:p>
            <a:pPr lvl="1"/>
            <a:r>
              <a:rPr lang="en-US" dirty="0">
                <a:highlight>
                  <a:srgbClr val="00FF00"/>
                </a:highlight>
              </a:rPr>
              <a:t>✓</a:t>
            </a:r>
            <a:r>
              <a:rPr dirty="0"/>
              <a:t> </a:t>
            </a:r>
            <a:r>
              <a:rPr lang="en-US" dirty="0"/>
              <a:t>Join the Teams Call using your Mobile Device </a:t>
            </a:r>
          </a:p>
          <a:p>
            <a:pPr lvl="1"/>
            <a:r>
              <a:rPr lang="en-US" dirty="0">
                <a:highlight>
                  <a:srgbClr val="00FF00"/>
                </a:highlight>
              </a:rPr>
              <a:t>✓</a:t>
            </a:r>
            <a:r>
              <a:rPr lang="en-US" dirty="0"/>
              <a:t> Connect your Laptop to a Power Source</a:t>
            </a:r>
            <a:endParaRPr dirty="0"/>
          </a:p>
          <a:p>
            <a:pPr lvl="1"/>
            <a:r>
              <a:rPr lang="en-US" dirty="0">
                <a:highlight>
                  <a:srgbClr val="00FF00"/>
                </a:highlight>
              </a:rPr>
              <a:t>✓</a:t>
            </a:r>
            <a:r>
              <a:rPr dirty="0"/>
              <a:t> </a:t>
            </a:r>
            <a:r>
              <a:rPr lang="en-US" dirty="0"/>
              <a:t>Verify you are able to connect to your </a:t>
            </a:r>
            <a:r>
              <a:rPr lang="en-US" dirty="0" err="1"/>
              <a:t>Wifi</a:t>
            </a:r>
            <a:r>
              <a:rPr lang="en-US" dirty="0"/>
              <a:t> Network </a:t>
            </a:r>
          </a:p>
          <a:p>
            <a:pPr lvl="1"/>
            <a:r>
              <a:rPr lang="en-US" dirty="0">
                <a:highlight>
                  <a:srgbClr val="00FF00"/>
                </a:highlight>
              </a:rPr>
              <a:t>✓</a:t>
            </a:r>
            <a:r>
              <a:rPr lang="en-US" dirty="0"/>
              <a:t> Verify you are able to log in to your Impact Floors M365 Account at </a:t>
            </a:r>
            <a:r>
              <a:rPr lang="en-US" dirty="0" err="1"/>
              <a:t>www.office.com</a:t>
            </a:r>
            <a:endParaRPr lang="en-US" dirty="0"/>
          </a:p>
          <a:p>
            <a:pPr lvl="1"/>
            <a:endParaRPr lang="en-US" dirty="0"/>
          </a:p>
        </p:txBody>
      </p:sp>
    </p:spTree>
    <p:extLst>
      <p:ext uri="{BB962C8B-B14F-4D97-AF65-F5344CB8AC3E}">
        <p14:creationId xmlns:p14="http://schemas.microsoft.com/office/powerpoint/2010/main" val="12032857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A7538-AD8B-6029-5450-7444FE0227E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EECD8BE2-CC40-3C37-08C7-077C4EFAC751}"/>
              </a:ext>
            </a:extLst>
          </p:cNvPr>
          <p:cNvSpPr txBox="1"/>
          <p:nvPr/>
        </p:nvSpPr>
        <p:spPr>
          <a:xfrm>
            <a:off x="914400" y="274320"/>
            <a:ext cx="7315200" cy="769441"/>
          </a:xfrm>
          <a:prstGeom prst="rect">
            <a:avLst/>
          </a:prstGeom>
          <a:noFill/>
        </p:spPr>
        <p:txBody>
          <a:bodyPr wrap="square">
            <a:spAutoFit/>
          </a:bodyPr>
          <a:lstStyle/>
          <a:p>
            <a:pPr marL="0" indent="0" algn="ctr">
              <a:buNone/>
              <a:defRPr sz="4400" b="1">
                <a:solidFill>
                  <a:srgbClr val="0078D4"/>
                </a:solidFill>
              </a:defRPr>
            </a:pPr>
            <a:r>
              <a:rPr dirty="0"/>
              <a:t>Phase 2: Windows Reset</a:t>
            </a:r>
          </a:p>
        </p:txBody>
      </p:sp>
      <p:sp>
        <p:nvSpPr>
          <p:cNvPr id="5" name="TextBox 4">
            <a:extLst>
              <a:ext uri="{FF2B5EF4-FFF2-40B4-BE49-F238E27FC236}">
                <a16:creationId xmlns:a16="http://schemas.microsoft.com/office/drawing/2014/main" id="{48C01F44-3ADF-1D9C-45C5-B7CDFF3620BE}"/>
              </a:ext>
            </a:extLst>
          </p:cNvPr>
          <p:cNvSpPr txBox="1"/>
          <p:nvPr/>
        </p:nvSpPr>
        <p:spPr>
          <a:xfrm>
            <a:off x="3138238" y="4499848"/>
            <a:ext cx="2645276" cy="369332"/>
          </a:xfrm>
          <a:prstGeom prst="rect">
            <a:avLst/>
          </a:prstGeom>
          <a:noFill/>
        </p:spPr>
        <p:txBody>
          <a:bodyPr wrap="square" rtlCol="0">
            <a:spAutoFit/>
          </a:bodyPr>
          <a:lstStyle/>
          <a:p>
            <a:pPr algn="ctr"/>
            <a:r>
              <a:rPr lang="en-US" dirty="0"/>
              <a:t>Finally Click “Reset”</a:t>
            </a:r>
          </a:p>
        </p:txBody>
      </p:sp>
      <p:pic>
        <p:nvPicPr>
          <p:cNvPr id="2" name="Picture 1">
            <a:extLst>
              <a:ext uri="{FF2B5EF4-FFF2-40B4-BE49-F238E27FC236}">
                <a16:creationId xmlns:a16="http://schemas.microsoft.com/office/drawing/2014/main" id="{907D0EAF-6A28-D008-33FC-0B129FD20DB7}"/>
              </a:ext>
            </a:extLst>
          </p:cNvPr>
          <p:cNvPicPr>
            <a:picLocks noChangeAspect="1"/>
          </p:cNvPicPr>
          <p:nvPr/>
        </p:nvPicPr>
        <p:blipFill>
          <a:blip r:embed="rId2"/>
          <a:stretch>
            <a:fillRect/>
          </a:stretch>
        </p:blipFill>
        <p:spPr>
          <a:xfrm>
            <a:off x="2654642" y="1564363"/>
            <a:ext cx="3612469" cy="2877031"/>
          </a:xfrm>
          <a:prstGeom prst="rect">
            <a:avLst/>
          </a:prstGeom>
        </p:spPr>
      </p:pic>
      <p:sp>
        <p:nvSpPr>
          <p:cNvPr id="3" name="TextBox 2">
            <a:extLst>
              <a:ext uri="{FF2B5EF4-FFF2-40B4-BE49-F238E27FC236}">
                <a16:creationId xmlns:a16="http://schemas.microsoft.com/office/drawing/2014/main" id="{CF831CA6-7CCB-C46B-9804-376366EC49A2}"/>
              </a:ext>
            </a:extLst>
          </p:cNvPr>
          <p:cNvSpPr txBox="1"/>
          <p:nvPr/>
        </p:nvSpPr>
        <p:spPr>
          <a:xfrm>
            <a:off x="1825896" y="914400"/>
            <a:ext cx="5492209" cy="830997"/>
          </a:xfrm>
          <a:prstGeom prst="rect">
            <a:avLst/>
          </a:prstGeom>
          <a:noFill/>
        </p:spPr>
        <p:txBody>
          <a:bodyPr wrap="none">
            <a:spAutoFit/>
          </a:bodyPr>
          <a:lstStyle/>
          <a:p>
            <a:pPr marL="0" indent="0" algn="ctr">
              <a:buNone/>
              <a:defRPr sz="1600" b="1">
                <a:solidFill>
                  <a:srgbClr val="D13438"/>
                </a:solidFill>
              </a:defRPr>
            </a:pPr>
            <a:r>
              <a:rPr dirty="0"/>
              <a:t>⚠️ This process is irreversibl</a:t>
            </a:r>
            <a:r>
              <a:rPr lang="en-US" dirty="0"/>
              <a:t>e</a:t>
            </a:r>
          </a:p>
          <a:p>
            <a:pPr algn="ctr">
              <a:defRPr sz="1600" b="1">
                <a:solidFill>
                  <a:srgbClr val="D13438"/>
                </a:solidFill>
              </a:defRPr>
            </a:pPr>
            <a:r>
              <a:rPr lang="en-US" dirty="0"/>
              <a:t>⚠️ Verify ALL Phase 1 backups are complete before proceeding</a:t>
            </a:r>
          </a:p>
          <a:p>
            <a:pPr marL="0" indent="0" algn="ctr">
              <a:buNone/>
              <a:defRPr sz="1600" b="1">
                <a:solidFill>
                  <a:srgbClr val="D13438"/>
                </a:solidFill>
              </a:defRPr>
            </a:pPr>
            <a:endParaRPr dirty="0"/>
          </a:p>
        </p:txBody>
      </p:sp>
    </p:spTree>
    <p:extLst>
      <p:ext uri="{BB962C8B-B14F-4D97-AF65-F5344CB8AC3E}">
        <p14:creationId xmlns:p14="http://schemas.microsoft.com/office/powerpoint/2010/main" val="6373218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284F8-A8A8-A9B5-B064-25DDC5A291E3}"/>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6CF693E3-B38F-7B60-0F49-8907EB5A332B}"/>
              </a:ext>
            </a:extLst>
          </p:cNvPr>
          <p:cNvSpPr txBox="1"/>
          <p:nvPr/>
        </p:nvSpPr>
        <p:spPr>
          <a:xfrm>
            <a:off x="1230806" y="1094422"/>
            <a:ext cx="6682387" cy="1477328"/>
          </a:xfrm>
          <a:prstGeom prst="rect">
            <a:avLst/>
          </a:prstGeom>
          <a:noFill/>
        </p:spPr>
        <p:txBody>
          <a:bodyPr wrap="square">
            <a:spAutoFit/>
          </a:bodyPr>
          <a:lstStyle/>
          <a:p>
            <a:pPr marL="0" indent="0">
              <a:buNone/>
            </a:pPr>
            <a:r>
              <a:rPr lang="en-US" b="1" dirty="0"/>
              <a:t>Your Login Credentials</a:t>
            </a:r>
          </a:p>
          <a:p>
            <a:pPr marL="285750" indent="-285750">
              <a:buFont typeface="Arial" panose="020B0604020202020204" pitchFamily="34" charset="0"/>
              <a:buChar char="•"/>
            </a:pPr>
            <a:r>
              <a:rPr lang="en-US" dirty="0" err="1"/>
              <a:t>FirstName.LastName@impactpropertysolutions.com</a:t>
            </a:r>
            <a:endParaRPr lang="en-US" dirty="0"/>
          </a:p>
          <a:p>
            <a:pPr marL="0" indent="0">
              <a:buNone/>
            </a:pPr>
            <a:r>
              <a:rPr lang="en-US" b="1" dirty="0"/>
              <a:t>What You Will Need</a:t>
            </a:r>
          </a:p>
          <a:p>
            <a:pPr marL="285750" indent="-285750">
              <a:buFont typeface="Arial" panose="020B0604020202020204" pitchFamily="34" charset="0"/>
              <a:buChar char="•"/>
            </a:pPr>
            <a:r>
              <a:rPr lang="en-US" dirty="0" err="1"/>
              <a:t>WiFi</a:t>
            </a:r>
            <a:r>
              <a:rPr lang="en-US" dirty="0"/>
              <a:t> network name and password (from Phase 1)</a:t>
            </a:r>
          </a:p>
          <a:p>
            <a:pPr marL="285750" indent="-285750">
              <a:buFont typeface="Arial" panose="020B0604020202020204" pitchFamily="34" charset="0"/>
              <a:buChar char="•"/>
            </a:pPr>
            <a:r>
              <a:rPr lang="en-US" dirty="0"/>
              <a:t>Your Microsoft 365 password</a:t>
            </a:r>
          </a:p>
        </p:txBody>
      </p:sp>
      <p:sp>
        <p:nvSpPr>
          <p:cNvPr id="10" name="TextBox 9">
            <a:extLst>
              <a:ext uri="{FF2B5EF4-FFF2-40B4-BE49-F238E27FC236}">
                <a16:creationId xmlns:a16="http://schemas.microsoft.com/office/drawing/2014/main" id="{F75D75D6-E01D-92C3-D902-8AB1B22D772A}"/>
              </a:ext>
            </a:extLst>
          </p:cNvPr>
          <p:cNvSpPr txBox="1"/>
          <p:nvPr/>
        </p:nvSpPr>
        <p:spPr>
          <a:xfrm>
            <a:off x="914400" y="274320"/>
            <a:ext cx="7315200" cy="769441"/>
          </a:xfrm>
          <a:prstGeom prst="rect">
            <a:avLst/>
          </a:prstGeom>
          <a:noFill/>
        </p:spPr>
        <p:txBody>
          <a:bodyPr wrap="square">
            <a:spAutoFit/>
          </a:bodyPr>
          <a:lstStyle/>
          <a:p>
            <a:pPr marL="0" indent="0" algn="ctr">
              <a:buNone/>
              <a:defRPr sz="4400" b="1">
                <a:solidFill>
                  <a:srgbClr val="0078D4"/>
                </a:solidFill>
              </a:defRPr>
            </a:pPr>
            <a:r>
              <a:rPr lang="en-US" dirty="0"/>
              <a:t>Out of Box Experience (OOBE)</a:t>
            </a:r>
            <a:endParaRPr dirty="0"/>
          </a:p>
        </p:txBody>
      </p:sp>
    </p:spTree>
    <p:extLst>
      <p:ext uri="{BB962C8B-B14F-4D97-AF65-F5344CB8AC3E}">
        <p14:creationId xmlns:p14="http://schemas.microsoft.com/office/powerpoint/2010/main" val="13404619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74320"/>
            <a:ext cx="7315200" cy="769441"/>
          </a:xfrm>
          <a:prstGeom prst="rect">
            <a:avLst/>
          </a:prstGeom>
          <a:noFill/>
        </p:spPr>
        <p:txBody>
          <a:bodyPr wrap="square">
            <a:spAutoFit/>
          </a:bodyPr>
          <a:lstStyle/>
          <a:p>
            <a:pPr marL="0" indent="0" algn="ctr">
              <a:buNone/>
              <a:defRPr sz="4400" b="1">
                <a:solidFill>
                  <a:srgbClr val="0078D4"/>
                </a:solidFill>
              </a:defRPr>
            </a:pPr>
            <a:r>
              <a:t>Step 1: Select Your Region</a:t>
            </a:r>
          </a:p>
        </p:txBody>
      </p:sp>
      <p:sp>
        <p:nvSpPr>
          <p:cNvPr id="3" name="TextBox 2"/>
          <p:cNvSpPr txBox="1"/>
          <p:nvPr/>
        </p:nvSpPr>
        <p:spPr>
          <a:xfrm>
            <a:off x="1371600" y="914400"/>
            <a:ext cx="6400800" cy="548640"/>
          </a:xfrm>
          <a:prstGeom prst="rect">
            <a:avLst/>
          </a:prstGeom>
          <a:noFill/>
        </p:spPr>
        <p:txBody>
          <a:bodyPr wrap="none">
            <a:spAutoFit/>
          </a:bodyPr>
          <a:lstStyle/>
          <a:p>
            <a:pPr marL="0" indent="0" algn="ctr">
              <a:buNone/>
              <a:defRPr sz="1600" b="1">
                <a:solidFill>
                  <a:srgbClr val="D13438"/>
                </a:solidFill>
              </a:defRPr>
            </a:pPr>
            <a:r>
              <a:t>First screen after Windows reset completes</a:t>
            </a:r>
          </a:p>
        </p:txBody>
      </p:sp>
      <p:sp>
        <p:nvSpPr>
          <p:cNvPr id="4" name="TextBox 3"/>
          <p:cNvSpPr txBox="1"/>
          <p:nvPr/>
        </p:nvSpPr>
        <p:spPr>
          <a:xfrm>
            <a:off x="1371600" y="1645920"/>
            <a:ext cx="6400800" cy="2308324"/>
          </a:xfrm>
          <a:prstGeom prst="rect">
            <a:avLst/>
          </a:prstGeom>
          <a:noFill/>
        </p:spPr>
        <p:txBody>
          <a:bodyPr wrap="square">
            <a:spAutoFit/>
          </a:bodyPr>
          <a:lstStyle/>
          <a:p>
            <a:pPr marL="365760" indent="-182880" algn="l">
              <a:defRPr sz="1800" b="0"/>
            </a:pPr>
            <a:r>
              <a:t>Wait for the 'Let's start with region' screen to appear</a:t>
            </a:r>
          </a:p>
          <a:p>
            <a:pPr marL="365760" indent="-182880" algn="l">
              <a:buChar char="•"/>
            </a:pPr>
            <a:r>
              <a:t>Select United States from the list</a:t>
            </a:r>
          </a:p>
          <a:p>
            <a:pPr marL="365760" indent="-182880" algn="l">
              <a:buChar char="•"/>
            </a:pPr>
            <a:r>
              <a:t>Click Yes to confirm</a:t>
            </a:r>
          </a:p>
        </p:txBody>
      </p:sp>
      <p:pic>
        <p:nvPicPr>
          <p:cNvPr id="1028" name="Picture 4" descr="What's new with the out-of-box experience (OOBE) on Windows 11 | Windows  Central">
            <a:extLst>
              <a:ext uri="{FF2B5EF4-FFF2-40B4-BE49-F238E27FC236}">
                <a16:creationId xmlns:a16="http://schemas.microsoft.com/office/drawing/2014/main" id="{2D58E1B3-4223-E01C-C24D-DEF9A79FD8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5380" y="2614215"/>
            <a:ext cx="6013240" cy="22549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74320"/>
            <a:ext cx="7315200" cy="769441"/>
          </a:xfrm>
          <a:prstGeom prst="rect">
            <a:avLst/>
          </a:prstGeom>
          <a:noFill/>
        </p:spPr>
        <p:txBody>
          <a:bodyPr wrap="square">
            <a:spAutoFit/>
          </a:bodyPr>
          <a:lstStyle/>
          <a:p>
            <a:pPr marL="0" indent="0" algn="ctr">
              <a:buNone/>
              <a:defRPr sz="4400" b="1">
                <a:solidFill>
                  <a:srgbClr val="0078D4"/>
                </a:solidFill>
              </a:defRPr>
            </a:pPr>
            <a:r>
              <a:t>Step 2: Select Keyboard Layout</a:t>
            </a:r>
          </a:p>
        </p:txBody>
      </p:sp>
      <p:sp>
        <p:nvSpPr>
          <p:cNvPr id="3" name="TextBox 2"/>
          <p:cNvSpPr txBox="1"/>
          <p:nvPr/>
        </p:nvSpPr>
        <p:spPr>
          <a:xfrm>
            <a:off x="1371600" y="914400"/>
            <a:ext cx="6400800" cy="548640"/>
          </a:xfrm>
          <a:prstGeom prst="rect">
            <a:avLst/>
          </a:prstGeom>
          <a:noFill/>
        </p:spPr>
        <p:txBody>
          <a:bodyPr wrap="none">
            <a:spAutoFit/>
          </a:bodyPr>
          <a:lstStyle/>
          <a:p>
            <a:pPr marL="0" indent="0" algn="ctr">
              <a:buNone/>
              <a:defRPr sz="1600" b="1">
                <a:solidFill>
                  <a:srgbClr val="D13438"/>
                </a:solidFill>
              </a:defRPr>
            </a:pPr>
            <a:r>
              <a:t>Choose your keyboard configuration</a:t>
            </a:r>
          </a:p>
        </p:txBody>
      </p:sp>
      <p:sp>
        <p:nvSpPr>
          <p:cNvPr id="4" name="TextBox 3"/>
          <p:cNvSpPr txBox="1"/>
          <p:nvPr/>
        </p:nvSpPr>
        <p:spPr>
          <a:xfrm>
            <a:off x="1371600" y="1645920"/>
            <a:ext cx="6400800" cy="2308324"/>
          </a:xfrm>
          <a:prstGeom prst="rect">
            <a:avLst/>
          </a:prstGeom>
          <a:noFill/>
        </p:spPr>
        <p:txBody>
          <a:bodyPr wrap="square">
            <a:spAutoFit/>
          </a:bodyPr>
          <a:lstStyle/>
          <a:p>
            <a:pPr marL="365760" indent="-182880" algn="l">
              <a:defRPr sz="1800" b="0"/>
            </a:pPr>
            <a:r>
              <a:rPr dirty="0"/>
              <a:t>Select US from the keyboard layout list</a:t>
            </a:r>
          </a:p>
          <a:p>
            <a:pPr marL="365760" indent="-182880" algn="l">
              <a:buChar char="•"/>
            </a:pPr>
            <a:r>
              <a:rPr dirty="0"/>
              <a:t>Click Yes to confirm</a:t>
            </a:r>
          </a:p>
          <a:p>
            <a:pPr marL="365760" indent="-182880" algn="l">
              <a:buChar char="•"/>
            </a:pPr>
            <a:r>
              <a:rPr dirty="0"/>
              <a:t>When asked about second keyboard layout:</a:t>
            </a:r>
          </a:p>
          <a:p>
            <a:pPr marL="0" indent="0">
              <a:buNone/>
            </a:pPr>
            <a:r>
              <a:rPr dirty="0"/>
              <a:t>Click Skip (not needed for most users)</a:t>
            </a:r>
          </a:p>
        </p:txBody>
      </p:sp>
      <p:pic>
        <p:nvPicPr>
          <p:cNvPr id="2052" name="Picture 4" descr="SCCM Customize Windows Out Of Box Experience OOBE Using ConfigMgr HTMD Blog">
            <a:extLst>
              <a:ext uri="{FF2B5EF4-FFF2-40B4-BE49-F238E27FC236}">
                <a16:creationId xmlns:a16="http://schemas.microsoft.com/office/drawing/2014/main" id="{847407CD-8957-9498-293C-6C8D51C4A9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7627" y="2861587"/>
            <a:ext cx="2906332" cy="21853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74320"/>
            <a:ext cx="7315200" cy="769441"/>
          </a:xfrm>
          <a:prstGeom prst="rect">
            <a:avLst/>
          </a:prstGeom>
          <a:noFill/>
        </p:spPr>
        <p:txBody>
          <a:bodyPr wrap="square">
            <a:spAutoFit/>
          </a:bodyPr>
          <a:lstStyle/>
          <a:p>
            <a:pPr marL="0" indent="0" algn="ctr">
              <a:buNone/>
              <a:defRPr sz="4400" b="1">
                <a:solidFill>
                  <a:srgbClr val="0078D4"/>
                </a:solidFill>
              </a:defRPr>
            </a:pPr>
            <a:r>
              <a:t>Step 3: Connect to WiFi</a:t>
            </a:r>
          </a:p>
        </p:txBody>
      </p:sp>
      <p:sp>
        <p:nvSpPr>
          <p:cNvPr id="3" name="TextBox 2"/>
          <p:cNvSpPr txBox="1"/>
          <p:nvPr/>
        </p:nvSpPr>
        <p:spPr>
          <a:xfrm>
            <a:off x="1371600" y="914400"/>
            <a:ext cx="6400800" cy="548640"/>
          </a:xfrm>
          <a:prstGeom prst="rect">
            <a:avLst/>
          </a:prstGeom>
          <a:noFill/>
        </p:spPr>
        <p:txBody>
          <a:bodyPr wrap="none">
            <a:spAutoFit/>
          </a:bodyPr>
          <a:lstStyle/>
          <a:p>
            <a:pPr marL="0" indent="0" algn="ctr">
              <a:buNone/>
              <a:defRPr sz="1600" b="1">
                <a:solidFill>
                  <a:srgbClr val="D13438"/>
                </a:solidFill>
              </a:defRPr>
            </a:pPr>
            <a:r>
              <a:t>⚠️ Use the WiFi credentials you recorded in Phase 1</a:t>
            </a:r>
          </a:p>
        </p:txBody>
      </p:sp>
      <p:sp>
        <p:nvSpPr>
          <p:cNvPr id="4" name="TextBox 3"/>
          <p:cNvSpPr txBox="1"/>
          <p:nvPr/>
        </p:nvSpPr>
        <p:spPr>
          <a:xfrm>
            <a:off x="1371600" y="1645920"/>
            <a:ext cx="6400800" cy="2308324"/>
          </a:xfrm>
          <a:prstGeom prst="rect">
            <a:avLst/>
          </a:prstGeom>
          <a:noFill/>
        </p:spPr>
        <p:txBody>
          <a:bodyPr wrap="square">
            <a:spAutoFit/>
          </a:bodyPr>
          <a:lstStyle/>
          <a:p>
            <a:pPr marL="365760" indent="-182880" algn="l">
              <a:defRPr sz="1800" b="0"/>
            </a:pPr>
            <a:r>
              <a:t>Find your office WiFi network in the list</a:t>
            </a:r>
          </a:p>
          <a:p>
            <a:pPr marL="365760" indent="-182880" algn="l">
              <a:buChar char="•"/>
            </a:pPr>
            <a:r>
              <a:t>Click on your network name to select it</a:t>
            </a:r>
          </a:p>
          <a:p>
            <a:pPr marL="365760" indent="-182880" algn="l">
              <a:buChar char="•"/>
            </a:pPr>
            <a:r>
              <a:t>Enter the WiFi password exactly as recorded</a:t>
            </a:r>
          </a:p>
          <a:p>
            <a:pPr marL="365760" indent="-182880" algn="l">
              <a:buChar char="•"/>
            </a:pPr>
            <a:r>
              <a:t>Click Connect and wait for connection</a:t>
            </a:r>
          </a:p>
          <a:p>
            <a:pPr marL="365760" indent="-182880" algn="l">
              <a:buChar char="•"/>
            </a:pPr>
            <a:r>
              <a:t>Click Next once connected</a:t>
            </a:r>
          </a:p>
        </p:txBody>
      </p:sp>
      <p:pic>
        <p:nvPicPr>
          <p:cNvPr id="3074" name="Picture 2" descr="Windows 10 OOBE screen details | Microsoft Learn">
            <a:extLst>
              <a:ext uri="{FF2B5EF4-FFF2-40B4-BE49-F238E27FC236}">
                <a16:creationId xmlns:a16="http://schemas.microsoft.com/office/drawing/2014/main" id="{C9D14303-F480-8AFF-7D35-9C4EF14FD9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4850" y="2571750"/>
            <a:ext cx="3256346" cy="25325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74320"/>
            <a:ext cx="7315200" cy="769441"/>
          </a:xfrm>
          <a:prstGeom prst="rect">
            <a:avLst/>
          </a:prstGeom>
          <a:noFill/>
        </p:spPr>
        <p:txBody>
          <a:bodyPr wrap="square">
            <a:spAutoFit/>
          </a:bodyPr>
          <a:lstStyle/>
          <a:p>
            <a:pPr marL="0" indent="0" algn="ctr">
              <a:buNone/>
              <a:defRPr sz="4400" b="1">
                <a:solidFill>
                  <a:srgbClr val="0078D4"/>
                </a:solidFill>
              </a:defRPr>
            </a:pPr>
            <a:r>
              <a:t>Step 4: Sign In With Work Account</a:t>
            </a:r>
          </a:p>
        </p:txBody>
      </p:sp>
      <p:sp>
        <p:nvSpPr>
          <p:cNvPr id="3" name="TextBox 2"/>
          <p:cNvSpPr txBox="1"/>
          <p:nvPr/>
        </p:nvSpPr>
        <p:spPr>
          <a:xfrm>
            <a:off x="1371600" y="1635025"/>
            <a:ext cx="6400800" cy="548640"/>
          </a:xfrm>
          <a:prstGeom prst="rect">
            <a:avLst/>
          </a:prstGeom>
          <a:noFill/>
        </p:spPr>
        <p:txBody>
          <a:bodyPr wrap="none">
            <a:spAutoFit/>
          </a:bodyPr>
          <a:lstStyle/>
          <a:p>
            <a:pPr marL="0" indent="0" algn="ctr">
              <a:buNone/>
              <a:defRPr sz="1600" b="1">
                <a:solidFill>
                  <a:srgbClr val="D13438"/>
                </a:solidFill>
              </a:defRPr>
            </a:pPr>
            <a:r>
              <a:rPr dirty="0"/>
              <a:t>⚠️ Use your NEW Impact Property Solutions email</a:t>
            </a:r>
          </a:p>
        </p:txBody>
      </p:sp>
      <p:sp>
        <p:nvSpPr>
          <p:cNvPr id="4" name="TextBox 3"/>
          <p:cNvSpPr txBox="1"/>
          <p:nvPr/>
        </p:nvSpPr>
        <p:spPr>
          <a:xfrm>
            <a:off x="0" y="2089192"/>
            <a:ext cx="4959560" cy="1477328"/>
          </a:xfrm>
          <a:prstGeom prst="rect">
            <a:avLst/>
          </a:prstGeom>
          <a:noFill/>
        </p:spPr>
        <p:txBody>
          <a:bodyPr wrap="square">
            <a:spAutoFit/>
          </a:bodyPr>
          <a:lstStyle/>
          <a:p>
            <a:pPr marL="365760" indent="-182880" algn="l">
              <a:defRPr sz="1800" b="0"/>
            </a:pPr>
            <a:r>
              <a:rPr dirty="0"/>
              <a:t>When prompted 'Let's set things up for your work or school</a:t>
            </a:r>
            <a:endParaRPr lang="en-US" dirty="0"/>
          </a:p>
          <a:p>
            <a:pPr marL="365760" indent="-182880" algn="l">
              <a:defRPr sz="1800" b="0"/>
            </a:pPr>
            <a:endParaRPr lang="en-US" dirty="0">
              <a:hlinkClick r:id="rId2"/>
            </a:endParaRPr>
          </a:p>
          <a:p>
            <a:pPr marL="365760" indent="-182880" algn="l">
              <a:defRPr sz="1800" b="0"/>
            </a:pPr>
            <a:r>
              <a:rPr dirty="0">
                <a:hlinkClick r:id="rId2"/>
              </a:rPr>
              <a:t>FirstName.LastName</a:t>
            </a:r>
            <a:endParaRPr lang="en-US" dirty="0">
              <a:hlinkClick r:id="rId2"/>
            </a:endParaRPr>
          </a:p>
          <a:p>
            <a:pPr marL="365760" indent="-182880" algn="l">
              <a:defRPr sz="1800" b="0"/>
            </a:pPr>
            <a:r>
              <a:rPr lang="en-US" dirty="0">
                <a:hlinkClick r:id="rId2"/>
              </a:rPr>
              <a:t>	</a:t>
            </a:r>
            <a:r>
              <a:rPr dirty="0">
                <a:hlinkClick r:id="rId2"/>
              </a:rPr>
              <a:t>@impactpropertysolutions.com</a:t>
            </a:r>
            <a:endParaRPr lang="en-US" dirty="0"/>
          </a:p>
        </p:txBody>
      </p:sp>
      <p:pic>
        <p:nvPicPr>
          <p:cNvPr id="4098" name="Picture 2" descr="Windows 11 New OOBE Experience! — Mauvlan's Ramblings">
            <a:extLst>
              <a:ext uri="{FF2B5EF4-FFF2-40B4-BE49-F238E27FC236}">
                <a16:creationId xmlns:a16="http://schemas.microsoft.com/office/drawing/2014/main" id="{699C7806-9FDC-FB3B-525C-71E8AFA182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1302" y="2089192"/>
            <a:ext cx="3931832" cy="29598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74320"/>
            <a:ext cx="7315200" cy="769441"/>
          </a:xfrm>
          <a:prstGeom prst="rect">
            <a:avLst/>
          </a:prstGeom>
          <a:noFill/>
        </p:spPr>
        <p:txBody>
          <a:bodyPr wrap="square">
            <a:spAutoFit/>
          </a:bodyPr>
          <a:lstStyle/>
          <a:p>
            <a:pPr marL="0" indent="0" algn="ctr">
              <a:buNone/>
              <a:defRPr sz="4400" b="1">
                <a:solidFill>
                  <a:srgbClr val="0078D4"/>
                </a:solidFill>
              </a:defRPr>
            </a:pPr>
            <a:r>
              <a:t>Step 5: Enter Your Password</a:t>
            </a:r>
          </a:p>
        </p:txBody>
      </p:sp>
      <p:sp>
        <p:nvSpPr>
          <p:cNvPr id="3" name="TextBox 2"/>
          <p:cNvSpPr txBox="1"/>
          <p:nvPr/>
        </p:nvSpPr>
        <p:spPr>
          <a:xfrm>
            <a:off x="1371600" y="914400"/>
            <a:ext cx="6400800" cy="548640"/>
          </a:xfrm>
          <a:prstGeom prst="rect">
            <a:avLst/>
          </a:prstGeom>
          <a:noFill/>
        </p:spPr>
        <p:txBody>
          <a:bodyPr wrap="none">
            <a:spAutoFit/>
          </a:bodyPr>
          <a:lstStyle/>
          <a:p>
            <a:pPr marL="0" indent="0" algn="ctr">
              <a:buNone/>
              <a:defRPr sz="1600" b="1">
                <a:solidFill>
                  <a:srgbClr val="D13438"/>
                </a:solidFill>
              </a:defRPr>
            </a:pPr>
            <a:r>
              <a:t>Use your Microsoft 365 password</a:t>
            </a:r>
          </a:p>
        </p:txBody>
      </p:sp>
      <p:sp>
        <p:nvSpPr>
          <p:cNvPr id="4" name="TextBox 3"/>
          <p:cNvSpPr txBox="1"/>
          <p:nvPr/>
        </p:nvSpPr>
        <p:spPr>
          <a:xfrm>
            <a:off x="131495" y="2110085"/>
            <a:ext cx="4899807" cy="923330"/>
          </a:xfrm>
          <a:prstGeom prst="rect">
            <a:avLst/>
          </a:prstGeom>
          <a:noFill/>
        </p:spPr>
        <p:txBody>
          <a:bodyPr wrap="square">
            <a:spAutoFit/>
          </a:bodyPr>
          <a:lstStyle/>
          <a:p>
            <a:pPr marL="365760" indent="-182880" algn="l">
              <a:defRPr sz="1800" b="0"/>
            </a:pPr>
            <a:r>
              <a:rPr dirty="0"/>
              <a:t>Enter your Microsoft 365 password</a:t>
            </a:r>
          </a:p>
          <a:p>
            <a:pPr marL="365760" indent="-182880" algn="l">
              <a:buChar char="•"/>
            </a:pPr>
            <a:r>
              <a:rPr dirty="0"/>
              <a:t>This is the same password you use for Outlook</a:t>
            </a:r>
          </a:p>
          <a:p>
            <a:pPr marL="365760" indent="-182880" algn="l">
              <a:buChar char="•"/>
            </a:pPr>
            <a:r>
              <a:rPr dirty="0"/>
              <a:t>Click Sign in</a:t>
            </a:r>
          </a:p>
        </p:txBody>
      </p:sp>
      <p:pic>
        <p:nvPicPr>
          <p:cNvPr id="5" name="Picture 2" descr="Windows 11 New OOBE Experience! — Mauvlan's Ramblings">
            <a:extLst>
              <a:ext uri="{FF2B5EF4-FFF2-40B4-BE49-F238E27FC236}">
                <a16:creationId xmlns:a16="http://schemas.microsoft.com/office/drawing/2014/main" id="{9023AEB0-D9B7-37BF-408C-C4D54FBFEC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1302" y="2089192"/>
            <a:ext cx="3931832" cy="29598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74320"/>
            <a:ext cx="7315200" cy="769441"/>
          </a:xfrm>
          <a:prstGeom prst="rect">
            <a:avLst/>
          </a:prstGeom>
          <a:noFill/>
        </p:spPr>
        <p:txBody>
          <a:bodyPr wrap="square">
            <a:spAutoFit/>
          </a:bodyPr>
          <a:lstStyle/>
          <a:p>
            <a:pPr marL="0" indent="0" algn="ctr">
              <a:buNone/>
              <a:defRPr sz="4400" b="1">
                <a:solidFill>
                  <a:srgbClr val="0078D4"/>
                </a:solidFill>
              </a:defRPr>
            </a:pPr>
            <a:r>
              <a:t>Step 7: Wait for Autopilot Setup</a:t>
            </a:r>
          </a:p>
        </p:txBody>
      </p:sp>
      <p:sp>
        <p:nvSpPr>
          <p:cNvPr id="3" name="TextBox 2"/>
          <p:cNvSpPr txBox="1"/>
          <p:nvPr/>
        </p:nvSpPr>
        <p:spPr>
          <a:xfrm>
            <a:off x="2639419" y="1647134"/>
            <a:ext cx="3865162" cy="584775"/>
          </a:xfrm>
          <a:prstGeom prst="rect">
            <a:avLst/>
          </a:prstGeom>
          <a:noFill/>
        </p:spPr>
        <p:txBody>
          <a:bodyPr wrap="none">
            <a:spAutoFit/>
          </a:bodyPr>
          <a:lstStyle/>
          <a:p>
            <a:pPr marL="0" indent="0" algn="ctr">
              <a:buNone/>
              <a:defRPr sz="1600" b="1">
                <a:solidFill>
                  <a:srgbClr val="D13438"/>
                </a:solidFill>
              </a:defRPr>
            </a:pPr>
            <a:r>
              <a:rPr dirty="0"/>
              <a:t>⚠️ DO NOT turn off or restart your device!</a:t>
            </a:r>
            <a:endParaRPr lang="en-US" dirty="0"/>
          </a:p>
          <a:p>
            <a:pPr algn="ctr">
              <a:defRPr sz="1600" b="1">
                <a:solidFill>
                  <a:srgbClr val="D13438"/>
                </a:solidFill>
              </a:defRPr>
            </a:pPr>
            <a:r>
              <a:rPr lang="en-US" dirty="0"/>
              <a:t>⚠️ Ensure your Power Source is Connected!</a:t>
            </a:r>
            <a:endParaRPr dirty="0"/>
          </a:p>
        </p:txBody>
      </p:sp>
      <p:sp>
        <p:nvSpPr>
          <p:cNvPr id="4" name="TextBox 3"/>
          <p:cNvSpPr txBox="1"/>
          <p:nvPr/>
        </p:nvSpPr>
        <p:spPr>
          <a:xfrm>
            <a:off x="1371600" y="2378654"/>
            <a:ext cx="6400800" cy="1477328"/>
          </a:xfrm>
          <a:prstGeom prst="rect">
            <a:avLst/>
          </a:prstGeom>
          <a:noFill/>
        </p:spPr>
        <p:txBody>
          <a:bodyPr wrap="square">
            <a:spAutoFit/>
          </a:bodyPr>
          <a:lstStyle/>
          <a:p>
            <a:pPr marL="365760" indent="-182880" algn="l">
              <a:defRPr sz="1800" b="0"/>
            </a:pPr>
            <a:r>
              <a:rPr dirty="0"/>
              <a:t>Autopilot will now configure your device automatically</a:t>
            </a:r>
          </a:p>
          <a:p>
            <a:pPr marL="365760" indent="-182880" algn="l">
              <a:buChar char="•"/>
            </a:pPr>
            <a:r>
              <a:rPr dirty="0"/>
              <a:t>You will see 'Setting up your device for work...'</a:t>
            </a:r>
          </a:p>
          <a:p>
            <a:pPr marL="365760" indent="-182880" algn="l">
              <a:buChar char="•"/>
            </a:pPr>
            <a:r>
              <a:rPr dirty="0"/>
              <a:t>This process takes </a:t>
            </a:r>
            <a:r>
              <a:rPr lang="en-US" dirty="0"/>
              <a:t>can take upwards of an Hour</a:t>
            </a:r>
            <a:endParaRPr dirty="0"/>
          </a:p>
          <a:p>
            <a:pPr marL="365760" indent="-182880" algn="l">
              <a:buChar char="•"/>
            </a:pPr>
            <a:r>
              <a:rPr dirty="0"/>
              <a:t>Your device may restart several times - this is normal</a:t>
            </a:r>
          </a:p>
          <a:p>
            <a:pPr marL="365760" indent="-182880" algn="l">
              <a:buChar char="•"/>
            </a:pPr>
            <a:r>
              <a:rPr dirty="0"/>
              <a:t>Wait until you see the Windows sign-in screen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74320"/>
            <a:ext cx="7315200" cy="769441"/>
          </a:xfrm>
          <a:prstGeom prst="rect">
            <a:avLst/>
          </a:prstGeom>
          <a:noFill/>
        </p:spPr>
        <p:txBody>
          <a:bodyPr wrap="square">
            <a:spAutoFit/>
          </a:bodyPr>
          <a:lstStyle/>
          <a:p>
            <a:pPr marL="0" indent="0" algn="ctr">
              <a:buNone/>
              <a:defRPr sz="4400" b="1">
                <a:solidFill>
                  <a:srgbClr val="0078D4"/>
                </a:solidFill>
              </a:defRPr>
            </a:pPr>
            <a:r>
              <a:rPr dirty="0"/>
              <a:t>Sign In to Windows</a:t>
            </a:r>
          </a:p>
        </p:txBody>
      </p:sp>
      <p:sp>
        <p:nvSpPr>
          <p:cNvPr id="3" name="TextBox 2"/>
          <p:cNvSpPr txBox="1"/>
          <p:nvPr/>
        </p:nvSpPr>
        <p:spPr>
          <a:xfrm>
            <a:off x="1371600" y="914400"/>
            <a:ext cx="6400800" cy="548640"/>
          </a:xfrm>
          <a:prstGeom prst="rect">
            <a:avLst/>
          </a:prstGeom>
          <a:noFill/>
        </p:spPr>
        <p:txBody>
          <a:bodyPr wrap="none">
            <a:spAutoFit/>
          </a:bodyPr>
          <a:lstStyle/>
          <a:p>
            <a:pPr marL="0" indent="0" algn="ctr">
              <a:buNone/>
              <a:defRPr sz="1600" b="1">
                <a:solidFill>
                  <a:srgbClr val="D13438"/>
                </a:solidFill>
              </a:defRPr>
            </a:pPr>
            <a:r>
              <a:t>Final sign-in after Autopilot completes</a:t>
            </a:r>
          </a:p>
        </p:txBody>
      </p:sp>
      <p:sp>
        <p:nvSpPr>
          <p:cNvPr id="4" name="TextBox 3"/>
          <p:cNvSpPr txBox="1"/>
          <p:nvPr/>
        </p:nvSpPr>
        <p:spPr>
          <a:xfrm>
            <a:off x="1371600" y="2480132"/>
            <a:ext cx="6400800" cy="1200329"/>
          </a:xfrm>
          <a:prstGeom prst="rect">
            <a:avLst/>
          </a:prstGeom>
          <a:noFill/>
        </p:spPr>
        <p:txBody>
          <a:bodyPr wrap="square">
            <a:spAutoFit/>
          </a:bodyPr>
          <a:lstStyle/>
          <a:p>
            <a:pPr marL="365760" indent="-182880">
              <a:defRPr sz="1800" b="0"/>
            </a:pPr>
            <a:r>
              <a:rPr dirty="0"/>
              <a:t>At the Windows sign-in screen, enter your email:</a:t>
            </a:r>
            <a:endParaRPr lang="en-US" dirty="0"/>
          </a:p>
          <a:p>
            <a:pPr marL="365760" indent="-182880">
              <a:defRPr sz="1800" b="0"/>
            </a:pPr>
            <a:r>
              <a:rPr lang="en-US" dirty="0"/>
              <a:t>	</a:t>
            </a:r>
            <a:r>
              <a:rPr b="1" u="sng" dirty="0" err="1"/>
              <a:t>FirstName.LastName@impactpropertysolutions.com</a:t>
            </a:r>
            <a:endParaRPr b="1" u="sng" dirty="0"/>
          </a:p>
          <a:p>
            <a:pPr marL="822960" lvl="1" indent="-182880">
              <a:buChar char="•"/>
            </a:pPr>
            <a:r>
              <a:rPr dirty="0"/>
              <a:t>Enter your Microsoft 365 password</a:t>
            </a:r>
          </a:p>
          <a:p>
            <a:pPr marL="822960" lvl="1" indent="-182880">
              <a:buChar char="•"/>
            </a:pPr>
            <a:r>
              <a:rPr dirty="0"/>
              <a:t>Complete MFA</a:t>
            </a:r>
            <a:r>
              <a:rPr lang="en-US" dirty="0"/>
              <a:t>/Password Reset</a:t>
            </a:r>
            <a:r>
              <a:rPr dirty="0"/>
              <a:t> </a:t>
            </a:r>
            <a:r>
              <a:rPr lang="en-US" dirty="0"/>
              <a:t>as </a:t>
            </a:r>
            <a:r>
              <a:rPr dirty="0"/>
              <a:t>prompted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74320"/>
            <a:ext cx="7315200" cy="769441"/>
          </a:xfrm>
          <a:prstGeom prst="rect">
            <a:avLst/>
          </a:prstGeom>
          <a:noFill/>
        </p:spPr>
        <p:txBody>
          <a:bodyPr wrap="square">
            <a:spAutoFit/>
          </a:bodyPr>
          <a:lstStyle/>
          <a:p>
            <a:pPr marL="0" indent="0" algn="ctr">
              <a:buNone/>
              <a:defRPr sz="4400" b="1">
                <a:solidFill>
                  <a:srgbClr val="0078D4"/>
                </a:solidFill>
              </a:defRPr>
            </a:pPr>
            <a:r>
              <a:t>Step 1: Verify OneDrive Sync</a:t>
            </a:r>
          </a:p>
        </p:txBody>
      </p:sp>
      <p:sp>
        <p:nvSpPr>
          <p:cNvPr id="3" name="TextBox 2"/>
          <p:cNvSpPr txBox="1"/>
          <p:nvPr/>
        </p:nvSpPr>
        <p:spPr>
          <a:xfrm>
            <a:off x="1371600" y="914400"/>
            <a:ext cx="6400800" cy="548640"/>
          </a:xfrm>
          <a:prstGeom prst="rect">
            <a:avLst/>
          </a:prstGeom>
          <a:noFill/>
        </p:spPr>
        <p:txBody>
          <a:bodyPr wrap="none">
            <a:spAutoFit/>
          </a:bodyPr>
          <a:lstStyle/>
          <a:p>
            <a:pPr marL="0" indent="0" algn="ctr">
              <a:buNone/>
              <a:defRPr sz="1600" b="1">
                <a:solidFill>
                  <a:srgbClr val="D13438"/>
                </a:solidFill>
              </a:defRPr>
            </a:pPr>
            <a:r>
              <a:t>Your files should sync automatically after sign-in</a:t>
            </a:r>
          </a:p>
        </p:txBody>
      </p:sp>
      <p:sp>
        <p:nvSpPr>
          <p:cNvPr id="4" name="TextBox 3"/>
          <p:cNvSpPr txBox="1"/>
          <p:nvPr/>
        </p:nvSpPr>
        <p:spPr>
          <a:xfrm>
            <a:off x="1371600" y="1645920"/>
            <a:ext cx="6400800" cy="2585323"/>
          </a:xfrm>
          <a:prstGeom prst="rect">
            <a:avLst/>
          </a:prstGeom>
          <a:noFill/>
        </p:spPr>
        <p:txBody>
          <a:bodyPr wrap="square">
            <a:spAutoFit/>
          </a:bodyPr>
          <a:lstStyle/>
          <a:p>
            <a:pPr marL="365760" indent="-182880" algn="l">
              <a:defRPr sz="1800" b="0"/>
            </a:pPr>
            <a:r>
              <a:rPr dirty="0"/>
              <a:t>Look for the OneDrive cloud icon in system tray (bottom right)</a:t>
            </a:r>
          </a:p>
          <a:p>
            <a:pPr marL="365760" indent="-182880" algn="l">
              <a:buChar char="•"/>
            </a:pPr>
            <a:r>
              <a:rPr dirty="0"/>
              <a:t>Click the cloud icon to check sync status</a:t>
            </a:r>
          </a:p>
          <a:p>
            <a:pPr marL="365760" indent="-182880" algn="l">
              <a:buChar char="•"/>
            </a:pPr>
            <a:r>
              <a:rPr dirty="0"/>
              <a:t>You should see 'Your files are syncing' or green checkmark</a:t>
            </a:r>
          </a:p>
          <a:p>
            <a:pPr marL="365760" indent="-182880" algn="l">
              <a:buChar char="•"/>
            </a:pPr>
            <a:r>
              <a:rPr dirty="0"/>
              <a:t>Open File Explorer - check Desktop, Documents, Pictures folders</a:t>
            </a:r>
          </a:p>
          <a:p>
            <a:pPr marL="0" indent="0">
              <a:buNone/>
            </a:pPr>
            <a:endParaRPr lang="en-US" dirty="0"/>
          </a:p>
          <a:p>
            <a:pPr marL="0" indent="0">
              <a:buNone/>
            </a:pPr>
            <a:r>
              <a:rPr dirty="0"/>
              <a:t>✓ Files will download as you access them</a:t>
            </a:r>
          </a:p>
          <a:p>
            <a:pPr marL="0" indent="0">
              <a:buNone/>
            </a:pPr>
            <a:endParaRPr lang="en-US" dirty="0"/>
          </a:p>
          <a:p>
            <a:pPr marL="0" indent="0">
              <a:buNone/>
            </a:pPr>
            <a:r>
              <a:rPr dirty="0"/>
              <a:t>💡 Large files may take time - prioritize what you need first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74320"/>
            <a:ext cx="7315200" cy="769441"/>
          </a:xfrm>
          <a:prstGeom prst="rect">
            <a:avLst/>
          </a:prstGeom>
          <a:noFill/>
        </p:spPr>
        <p:txBody>
          <a:bodyPr wrap="square">
            <a:spAutoFit/>
          </a:bodyPr>
          <a:lstStyle/>
          <a:p>
            <a:pPr marL="0" indent="0" algn="ctr">
              <a:buNone/>
              <a:defRPr sz="4400" b="1">
                <a:solidFill>
                  <a:srgbClr val="0078D4"/>
                </a:solidFill>
              </a:defRPr>
            </a:pPr>
            <a:r>
              <a:t>Step 2: Restore Browser Profile</a:t>
            </a:r>
          </a:p>
        </p:txBody>
      </p:sp>
      <p:sp>
        <p:nvSpPr>
          <p:cNvPr id="3" name="TextBox 2"/>
          <p:cNvSpPr txBox="1"/>
          <p:nvPr/>
        </p:nvSpPr>
        <p:spPr>
          <a:xfrm>
            <a:off x="2392557" y="1683327"/>
            <a:ext cx="4358886" cy="338554"/>
          </a:xfrm>
          <a:prstGeom prst="rect">
            <a:avLst/>
          </a:prstGeom>
          <a:noFill/>
        </p:spPr>
        <p:txBody>
          <a:bodyPr wrap="none">
            <a:spAutoFit/>
          </a:bodyPr>
          <a:lstStyle/>
          <a:p>
            <a:pPr algn="ctr">
              <a:defRPr sz="1600" b="1">
                <a:solidFill>
                  <a:srgbClr val="D13438"/>
                </a:solidFill>
              </a:defRPr>
            </a:pPr>
            <a:r>
              <a:rPr lang="en-US" dirty="0"/>
              <a:t>☐ </a:t>
            </a:r>
            <a:r>
              <a:rPr dirty="0"/>
              <a:t>Sign in to sync your bookmarks and passwords</a:t>
            </a:r>
          </a:p>
        </p:txBody>
      </p:sp>
      <p:sp>
        <p:nvSpPr>
          <p:cNvPr id="4" name="TextBox 3"/>
          <p:cNvSpPr txBox="1"/>
          <p:nvPr/>
        </p:nvSpPr>
        <p:spPr>
          <a:xfrm>
            <a:off x="1371600" y="2414847"/>
            <a:ext cx="6400800" cy="2308324"/>
          </a:xfrm>
          <a:prstGeom prst="rect">
            <a:avLst/>
          </a:prstGeom>
          <a:noFill/>
        </p:spPr>
        <p:txBody>
          <a:bodyPr wrap="square">
            <a:spAutoFit/>
          </a:bodyPr>
          <a:lstStyle/>
          <a:p>
            <a:pPr marL="365760" indent="-182880" algn="l">
              <a:defRPr sz="1800" b="0"/>
            </a:pPr>
            <a:r>
              <a:rPr dirty="0"/>
              <a:t>Open Chrome or Edge browser</a:t>
            </a:r>
          </a:p>
          <a:p>
            <a:pPr marL="365760" indent="-182880" algn="l">
              <a:buChar char="•"/>
            </a:pPr>
            <a:r>
              <a:rPr dirty="0"/>
              <a:t>Click the profile icon (top right corner)</a:t>
            </a:r>
          </a:p>
          <a:p>
            <a:pPr marL="365760" indent="-182880" algn="l">
              <a:buChar char="•"/>
            </a:pPr>
            <a:r>
              <a:rPr dirty="0"/>
              <a:t>Click 'Turn on sync' or 'Sign in'</a:t>
            </a:r>
          </a:p>
          <a:p>
            <a:pPr marL="365760" indent="-182880" algn="l">
              <a:buChar char="•"/>
            </a:pPr>
            <a:r>
              <a:rPr dirty="0"/>
              <a:t>Sign in with: </a:t>
            </a:r>
            <a:r>
              <a:rPr dirty="0" err="1"/>
              <a:t>FirstName.LastName@impactpropertysolutions.com</a:t>
            </a:r>
            <a:endParaRPr dirty="0"/>
          </a:p>
          <a:p>
            <a:pPr marL="365760" indent="-182880" algn="l">
              <a:buChar char="•"/>
            </a:pPr>
            <a:r>
              <a:rPr dirty="0"/>
              <a:t>Click 'Yes, I'm in' to enable sync</a:t>
            </a:r>
          </a:p>
          <a:p>
            <a:pPr marL="0" indent="0">
              <a:buNone/>
            </a:pPr>
            <a:r>
              <a:rPr dirty="0"/>
              <a:t>✓ Bookmarks, passwords, and settings will restore automatically</a:t>
            </a:r>
          </a:p>
        </p:txBody>
      </p:sp>
      <p:pic>
        <p:nvPicPr>
          <p:cNvPr id="5" name="Picture 4" descr="How to Sync Page Tabs Between Google Chrome, Firefox, and Edge">
            <a:extLst>
              <a:ext uri="{FF2B5EF4-FFF2-40B4-BE49-F238E27FC236}">
                <a16:creationId xmlns:a16="http://schemas.microsoft.com/office/drawing/2014/main" id="{D59BFBB1-E5AF-161A-B12A-9A48ADE976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4464" y="2021881"/>
            <a:ext cx="2771598" cy="145508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74320"/>
            <a:ext cx="7315200" cy="769441"/>
          </a:xfrm>
          <a:prstGeom prst="rect">
            <a:avLst/>
          </a:prstGeom>
          <a:noFill/>
        </p:spPr>
        <p:txBody>
          <a:bodyPr wrap="square">
            <a:spAutoFit/>
          </a:bodyPr>
          <a:lstStyle/>
          <a:p>
            <a:pPr marL="0" indent="0" algn="ctr">
              <a:buNone/>
              <a:defRPr sz="4400" b="1">
                <a:solidFill>
                  <a:srgbClr val="0078D4"/>
                </a:solidFill>
              </a:defRPr>
            </a:pPr>
            <a:r>
              <a:rPr dirty="0"/>
              <a:t>Step 3: Import Bookmarks</a:t>
            </a:r>
          </a:p>
        </p:txBody>
      </p:sp>
      <p:sp>
        <p:nvSpPr>
          <p:cNvPr id="4" name="TextBox 3"/>
          <p:cNvSpPr txBox="1"/>
          <p:nvPr/>
        </p:nvSpPr>
        <p:spPr>
          <a:xfrm>
            <a:off x="457199" y="1680555"/>
            <a:ext cx="8146473" cy="2031325"/>
          </a:xfrm>
          <a:prstGeom prst="rect">
            <a:avLst/>
          </a:prstGeom>
          <a:noFill/>
        </p:spPr>
        <p:txBody>
          <a:bodyPr wrap="square">
            <a:spAutoFit/>
          </a:bodyPr>
          <a:lstStyle/>
          <a:p>
            <a:pPr marL="365760" indent="-182880" algn="l">
              <a:defRPr sz="1800" b="0"/>
            </a:pPr>
            <a:r>
              <a:rPr dirty="0"/>
              <a:t>Open browser Menu (three dots) → Bookmarks → Import</a:t>
            </a:r>
          </a:p>
          <a:p>
            <a:pPr marL="365760" indent="-182880" algn="l">
              <a:buChar char="•"/>
            </a:pPr>
            <a:r>
              <a:rPr dirty="0"/>
              <a:t>Select 'Bookmarks HTML file'</a:t>
            </a:r>
          </a:p>
          <a:p>
            <a:pPr marL="365760" indent="-182880" algn="l">
              <a:buChar char="•"/>
            </a:pPr>
            <a:r>
              <a:rPr dirty="0"/>
              <a:t>Navigate to OneDrive → Documents</a:t>
            </a:r>
          </a:p>
          <a:p>
            <a:pPr marL="365760" indent="-182880" algn="l">
              <a:buChar char="•"/>
            </a:pPr>
            <a:r>
              <a:rPr dirty="0"/>
              <a:t>Select your exported bookmarks file</a:t>
            </a:r>
          </a:p>
          <a:p>
            <a:pPr marL="365760" indent="-182880" algn="l">
              <a:buChar char="•"/>
            </a:pPr>
            <a:r>
              <a:rPr dirty="0"/>
              <a:t>Click Import</a:t>
            </a:r>
          </a:p>
          <a:p>
            <a:pPr marL="0" indent="0">
              <a:buNone/>
            </a:pPr>
            <a:r>
              <a:rPr dirty="0"/>
              <a:t>For passwords: Settings → Passwords → Import (use saved CSV)</a:t>
            </a:r>
          </a:p>
          <a:p>
            <a:pPr marL="0" indent="0">
              <a:buNone/>
            </a:pPr>
            <a:r>
              <a:rPr dirty="0"/>
              <a:t>⚠️ Delete the password CSV file after import!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74320"/>
            <a:ext cx="7315200" cy="769441"/>
          </a:xfrm>
          <a:prstGeom prst="rect">
            <a:avLst/>
          </a:prstGeom>
          <a:noFill/>
        </p:spPr>
        <p:txBody>
          <a:bodyPr wrap="square">
            <a:spAutoFit/>
          </a:bodyPr>
          <a:lstStyle/>
          <a:p>
            <a:pPr marL="0" indent="0" algn="ctr">
              <a:buNone/>
              <a:defRPr sz="4400" b="1">
                <a:solidFill>
                  <a:srgbClr val="0078D4"/>
                </a:solidFill>
              </a:defRPr>
            </a:pPr>
            <a:r>
              <a:t>Step 4: Restore Printers</a:t>
            </a:r>
          </a:p>
        </p:txBody>
      </p:sp>
      <p:sp>
        <p:nvSpPr>
          <p:cNvPr id="3" name="TextBox 2"/>
          <p:cNvSpPr txBox="1"/>
          <p:nvPr/>
        </p:nvSpPr>
        <p:spPr>
          <a:xfrm>
            <a:off x="1371600" y="1205344"/>
            <a:ext cx="6400800" cy="548640"/>
          </a:xfrm>
          <a:prstGeom prst="rect">
            <a:avLst/>
          </a:prstGeom>
          <a:noFill/>
        </p:spPr>
        <p:txBody>
          <a:bodyPr wrap="none">
            <a:spAutoFit/>
          </a:bodyPr>
          <a:lstStyle/>
          <a:p>
            <a:pPr marL="0" indent="0" algn="ctr">
              <a:buNone/>
              <a:defRPr sz="1600" b="1">
                <a:solidFill>
                  <a:srgbClr val="D13438"/>
                </a:solidFill>
              </a:defRPr>
            </a:pPr>
            <a:r>
              <a:rPr dirty="0"/>
              <a:t>Use your screenshot from Phase 1 to re-add printers</a:t>
            </a:r>
          </a:p>
        </p:txBody>
      </p:sp>
      <p:sp>
        <p:nvSpPr>
          <p:cNvPr id="4" name="TextBox 3"/>
          <p:cNvSpPr txBox="1"/>
          <p:nvPr/>
        </p:nvSpPr>
        <p:spPr>
          <a:xfrm>
            <a:off x="1371600" y="1645920"/>
            <a:ext cx="6400800" cy="2308324"/>
          </a:xfrm>
          <a:prstGeom prst="rect">
            <a:avLst/>
          </a:prstGeom>
          <a:noFill/>
        </p:spPr>
        <p:txBody>
          <a:bodyPr wrap="square">
            <a:spAutoFit/>
          </a:bodyPr>
          <a:lstStyle/>
          <a:p>
            <a:pPr marL="365760" indent="-182880" algn="l">
              <a:defRPr sz="1800" b="0"/>
            </a:pPr>
            <a:r>
              <a:t>Open your printer screenshot from OneDrive → Documents</a:t>
            </a:r>
          </a:p>
          <a:p>
            <a:pPr marL="365760" indent="-182880" algn="l">
              <a:buChar char="•"/>
            </a:pPr>
            <a:r>
              <a:t>Go to Settings → Devices → Printers &amp; scanners</a:t>
            </a:r>
          </a:p>
          <a:p>
            <a:pPr marL="365760" indent="-182880" algn="l">
              <a:buChar char="•"/>
            </a:pPr>
            <a:r>
              <a:t>Click 'Add a printer or scanner'</a:t>
            </a:r>
          </a:p>
          <a:p>
            <a:pPr marL="365760" indent="-182880" algn="l">
              <a:buChar char="•"/>
            </a:pPr>
            <a:r>
              <a:t>Select each printer from the list that matches your screenshot</a:t>
            </a:r>
          </a:p>
          <a:p>
            <a:pPr marL="365760" indent="-182880" algn="l">
              <a:buChar char="•"/>
            </a:pPr>
            <a:r>
              <a:t>If printer not found, click 'The printer I want isn't listed'</a:t>
            </a:r>
          </a:p>
          <a:p>
            <a:pPr marL="0" indent="0">
              <a:buNone/>
            </a:pPr>
            <a:r>
              <a:t>Enter printer IP address or name from screenshot</a:t>
            </a:r>
          </a:p>
          <a:p>
            <a:pPr marL="0" indent="0">
              <a:buNone/>
            </a:pPr>
            <a:r>
              <a:t>💡 Contact IT if you need help locating network printers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74320"/>
            <a:ext cx="7315200" cy="769441"/>
          </a:xfrm>
          <a:prstGeom prst="rect">
            <a:avLst/>
          </a:prstGeom>
          <a:noFill/>
        </p:spPr>
        <p:txBody>
          <a:bodyPr wrap="square">
            <a:spAutoFit/>
          </a:bodyPr>
          <a:lstStyle/>
          <a:p>
            <a:pPr marL="0" indent="0" algn="ctr">
              <a:buNone/>
              <a:defRPr sz="4400" b="1">
                <a:solidFill>
                  <a:srgbClr val="0078D4"/>
                </a:solidFill>
              </a:defRPr>
            </a:pPr>
            <a:r>
              <a:rPr dirty="0"/>
              <a:t>Step 5: </a:t>
            </a:r>
            <a:r>
              <a:rPr lang="en-US" dirty="0"/>
              <a:t>Attach</a:t>
            </a:r>
            <a:r>
              <a:rPr dirty="0"/>
              <a:t> Outlook PST</a:t>
            </a:r>
          </a:p>
        </p:txBody>
      </p:sp>
      <p:sp>
        <p:nvSpPr>
          <p:cNvPr id="3" name="TextBox 2"/>
          <p:cNvSpPr txBox="1"/>
          <p:nvPr/>
        </p:nvSpPr>
        <p:spPr>
          <a:xfrm>
            <a:off x="1371600" y="1503219"/>
            <a:ext cx="6400800" cy="548640"/>
          </a:xfrm>
          <a:prstGeom prst="rect">
            <a:avLst/>
          </a:prstGeom>
          <a:noFill/>
        </p:spPr>
        <p:txBody>
          <a:bodyPr wrap="none">
            <a:spAutoFit/>
          </a:bodyPr>
          <a:lstStyle/>
          <a:p>
            <a:pPr marL="0" indent="0" algn="ctr">
              <a:buNone/>
              <a:defRPr sz="1600" b="1">
                <a:solidFill>
                  <a:srgbClr val="D13438"/>
                </a:solidFill>
              </a:defRPr>
            </a:pPr>
            <a:r>
              <a:rPr dirty="0"/>
              <a:t>⚠️ Only if you had PST files backed up in Phase 1</a:t>
            </a:r>
          </a:p>
        </p:txBody>
      </p:sp>
      <p:sp>
        <p:nvSpPr>
          <p:cNvPr id="4" name="TextBox 3"/>
          <p:cNvSpPr txBox="1"/>
          <p:nvPr/>
        </p:nvSpPr>
        <p:spPr>
          <a:xfrm>
            <a:off x="1371600" y="2234739"/>
            <a:ext cx="6400800" cy="2308324"/>
          </a:xfrm>
          <a:prstGeom prst="rect">
            <a:avLst/>
          </a:prstGeom>
          <a:noFill/>
        </p:spPr>
        <p:txBody>
          <a:bodyPr wrap="square">
            <a:spAutoFit/>
          </a:bodyPr>
          <a:lstStyle/>
          <a:p>
            <a:pPr marL="365760" indent="-182880" algn="l">
              <a:defRPr sz="1800" b="0"/>
            </a:pPr>
            <a:r>
              <a:rPr dirty="0"/>
              <a:t>Open Outlook and wait for mailbox to fully sync</a:t>
            </a:r>
          </a:p>
          <a:p>
            <a:pPr marL="365760" indent="-182880" algn="l">
              <a:buChar char="•"/>
            </a:pPr>
            <a:r>
              <a:rPr dirty="0"/>
              <a:t>Go to File → Open &amp; Export → Open Outlook Data File</a:t>
            </a:r>
          </a:p>
          <a:p>
            <a:pPr marL="365760" indent="-182880" algn="l">
              <a:buChar char="•"/>
            </a:pPr>
            <a:r>
              <a:rPr dirty="0"/>
              <a:t>Navigate to OneDrive → Documents</a:t>
            </a:r>
          </a:p>
          <a:p>
            <a:pPr marL="365760" indent="-182880" algn="l">
              <a:buChar char="•"/>
            </a:pPr>
            <a:r>
              <a:rPr dirty="0"/>
              <a:t>Select your backed up .</a:t>
            </a:r>
            <a:r>
              <a:rPr dirty="0" err="1"/>
              <a:t>pst</a:t>
            </a:r>
            <a:r>
              <a:rPr dirty="0"/>
              <a:t> file</a:t>
            </a:r>
          </a:p>
          <a:p>
            <a:pPr marL="365760" indent="-182880" algn="l">
              <a:buChar char="•"/>
            </a:pPr>
            <a:r>
              <a:rPr dirty="0"/>
              <a:t>Click OK - the PST will appear in your folder list</a:t>
            </a:r>
          </a:p>
          <a:p>
            <a:pPr marL="0" indent="0">
              <a:buNone/>
            </a:pPr>
            <a:endParaRPr lang="en-US" dirty="0"/>
          </a:p>
          <a:p>
            <a:pPr marL="0" indent="0">
              <a:buNone/>
            </a:pPr>
            <a:r>
              <a:rPr dirty="0"/>
              <a:t>💡 PST folders appear at bottom of folder pane</a:t>
            </a:r>
          </a:p>
          <a:p>
            <a:pPr marL="0" indent="0">
              <a:buNone/>
            </a:pPr>
            <a:r>
              <a:rPr dirty="0"/>
              <a:t>💡 You can drag emails from PST to your main mailbox if needed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74320"/>
            <a:ext cx="7315200" cy="769441"/>
          </a:xfrm>
          <a:prstGeom prst="rect">
            <a:avLst/>
          </a:prstGeom>
          <a:noFill/>
        </p:spPr>
        <p:txBody>
          <a:bodyPr wrap="square">
            <a:spAutoFit/>
          </a:bodyPr>
          <a:lstStyle/>
          <a:p>
            <a:pPr marL="0" indent="0" algn="ctr">
              <a:buNone/>
              <a:defRPr sz="4400" b="1">
                <a:solidFill>
                  <a:srgbClr val="0078D4"/>
                </a:solidFill>
              </a:defRPr>
            </a:pPr>
            <a:r>
              <a:t>Restoration Checklist</a:t>
            </a:r>
          </a:p>
        </p:txBody>
      </p:sp>
      <p:sp>
        <p:nvSpPr>
          <p:cNvPr id="3" name="TextBox 2"/>
          <p:cNvSpPr txBox="1"/>
          <p:nvPr/>
        </p:nvSpPr>
        <p:spPr>
          <a:xfrm>
            <a:off x="1371600" y="1097280"/>
            <a:ext cx="6400800" cy="2585323"/>
          </a:xfrm>
          <a:prstGeom prst="rect">
            <a:avLst/>
          </a:prstGeom>
          <a:noFill/>
        </p:spPr>
        <p:txBody>
          <a:bodyPr wrap="square">
            <a:spAutoFit/>
          </a:bodyPr>
          <a:lstStyle/>
          <a:p>
            <a:pPr marL="0" indent="0">
              <a:buNone/>
              <a:defRPr sz="1800" b="1">
                <a:solidFill>
                  <a:srgbClr val="107C10"/>
                </a:solidFill>
              </a:defRPr>
            </a:pPr>
            <a:r>
              <a:rPr dirty="0"/>
              <a:t>☐ OneDrive syncing and files accessible</a:t>
            </a:r>
          </a:p>
          <a:p>
            <a:pPr marL="0" indent="0">
              <a:buNone/>
            </a:pPr>
            <a:r>
              <a:rPr dirty="0"/>
              <a:t>☐ Browser signed in and bookmarks restored</a:t>
            </a:r>
          </a:p>
          <a:p>
            <a:pPr marL="0" indent="0">
              <a:buNone/>
            </a:pPr>
            <a:r>
              <a:rPr dirty="0"/>
              <a:t>☐ Browser passwords </a:t>
            </a:r>
            <a:r>
              <a:rPr lang="en-US" dirty="0"/>
              <a:t>and bookmarks </a:t>
            </a:r>
          </a:p>
          <a:p>
            <a:pPr marL="285750" indent="-285750">
              <a:buFont typeface="Arial" panose="020B0604020202020204" pitchFamily="34" charset="0"/>
              <a:buChar char="•"/>
            </a:pPr>
            <a:r>
              <a:rPr lang="en-US" dirty="0"/>
              <a:t>Imported synchronized from OneDrive Account </a:t>
            </a:r>
          </a:p>
          <a:p>
            <a:pPr marL="285750" indent="-285750">
              <a:buFont typeface="Arial" panose="020B0604020202020204" pitchFamily="34" charset="0"/>
              <a:buChar char="•"/>
            </a:pPr>
            <a:r>
              <a:rPr lang="en-US" dirty="0"/>
              <a:t>I</a:t>
            </a:r>
            <a:r>
              <a:rPr dirty="0"/>
              <a:t>mported from</a:t>
            </a:r>
            <a:r>
              <a:rPr lang="en-US" dirty="0"/>
              <a:t> Backup in Phase 1</a:t>
            </a:r>
            <a:endParaRPr dirty="0"/>
          </a:p>
          <a:p>
            <a:pPr marL="0" indent="0">
              <a:buNone/>
            </a:pPr>
            <a:r>
              <a:rPr dirty="0"/>
              <a:t>☐ Printers re-added and tested</a:t>
            </a:r>
          </a:p>
          <a:p>
            <a:pPr marL="0" indent="0">
              <a:buNone/>
            </a:pPr>
            <a:r>
              <a:rPr dirty="0"/>
              <a:t>☐ Outlook PST files </a:t>
            </a:r>
            <a:r>
              <a:rPr lang="en-US" dirty="0"/>
              <a:t>attached </a:t>
            </a:r>
            <a:r>
              <a:rPr dirty="0"/>
              <a:t>(if applicable)</a:t>
            </a:r>
          </a:p>
          <a:p>
            <a:pPr marL="0" indent="0">
              <a:buNone/>
            </a:pPr>
            <a:r>
              <a:rPr dirty="0"/>
              <a:t>☐ Password</a:t>
            </a:r>
            <a:r>
              <a:rPr lang="en-US" dirty="0"/>
              <a:t>/Bookmarks</a:t>
            </a:r>
            <a:r>
              <a:rPr dirty="0"/>
              <a:t> deleted from OneDrive</a:t>
            </a:r>
            <a:r>
              <a:rPr lang="en-US" dirty="0"/>
              <a:t> backup</a:t>
            </a:r>
            <a:endParaRPr dirty="0"/>
          </a:p>
          <a:p>
            <a:pPr marL="0" indent="0">
              <a:buNone/>
            </a:pPr>
            <a:r>
              <a:rPr dirty="0"/>
              <a:t>☐ Key applications </a:t>
            </a:r>
            <a:r>
              <a:rPr lang="en-US" dirty="0"/>
              <a:t>Tested </a:t>
            </a:r>
            <a:endParaRPr dirty="0"/>
          </a:p>
        </p:txBody>
      </p:sp>
      <p:sp>
        <p:nvSpPr>
          <p:cNvPr id="4" name="TextBox 3"/>
          <p:cNvSpPr txBox="1"/>
          <p:nvPr/>
        </p:nvSpPr>
        <p:spPr>
          <a:xfrm>
            <a:off x="0" y="3698240"/>
            <a:ext cx="9144000" cy="400110"/>
          </a:xfrm>
          <a:prstGeom prst="rect">
            <a:avLst/>
          </a:prstGeom>
          <a:noFill/>
        </p:spPr>
        <p:txBody>
          <a:bodyPr wrap="square">
            <a:spAutoFit/>
          </a:bodyPr>
          <a:lstStyle/>
          <a:p>
            <a:pPr marL="0" indent="0" algn="ctr">
              <a:buNone/>
              <a:defRPr sz="1800" b="1">
                <a:solidFill>
                  <a:srgbClr val="D13438"/>
                </a:solidFill>
              </a:defRPr>
            </a:pPr>
            <a:r>
              <a:rPr sz="2000" dirty="0"/>
              <a:t>✅ Migration Complete!</a:t>
            </a:r>
            <a:r>
              <a:rPr lang="en-US" sz="2000" dirty="0"/>
              <a:t> </a:t>
            </a:r>
            <a:r>
              <a:rPr sz="2000" dirty="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335</TotalTime>
  <Words>4516</Words>
  <Application>Microsoft Macintosh PowerPoint</Application>
  <PresentationFormat>On-screen Show (16:9)</PresentationFormat>
  <Paragraphs>498</Paragraphs>
  <Slides>29</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Suleman Manji</cp:lastModifiedBy>
  <cp:revision>11</cp:revision>
  <dcterms:created xsi:type="dcterms:W3CDTF">2013-01-27T09:14:16Z</dcterms:created>
  <dcterms:modified xsi:type="dcterms:W3CDTF">2026-01-15T21:42:55Z</dcterms:modified>
  <cp:category/>
</cp:coreProperties>
</file>