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803"/>
    <p:restoredTop sz="94658"/>
  </p:normalViewPr>
  <p:slideViewPr>
    <p:cSldViewPr snapToGrid="0" snapToObjects="1">
      <p:cViewPr varScale="1">
        <p:scale>
          <a:sx n="160" d="100"/>
          <a:sy n="160" d="100"/>
        </p:scale>
        <p:origin x="4568"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494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OPENING SCRIPT:</a:t>
            </a:r>
          </a:p>
          <a:p>
            <a:r>
              <a:t>"Today we're going to walk through backing up your device before we reset it. This process takes about 20-30 minutes, and we'll make sure all your important files, browser settings, and configurations are safely stored in OneDrive. I'll guide you step-by-step through each section. Do you have about 30 minutes to work through this together?"</a:t>
            </a:r>
          </a:p>
          <a:p>
            <a:endParaRPr/>
          </a:p>
          <a:p>
            <a:r>
              <a:t>KEY POINTS:</a:t>
            </a:r>
          </a:p>
          <a:p>
            <a:r>
              <a:t>- Set expectations: 20-30 minutes total</a:t>
            </a:r>
          </a:p>
          <a:p>
            <a:r>
              <a:t>- Emphasize safety: "We won't reset until everything is backed up"</a:t>
            </a:r>
          </a:p>
          <a:p>
            <a:r>
              <a:t>- Reassure: "I'll guide you through every step"</a:t>
            </a:r>
          </a:p>
          <a:p>
            <a:r>
              <a:t>- Check time availability before starting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"Here's what we're going to back up today. The most important part is OneDrive - that's where all your files will be safely stored in the cloud. We'll also save your browser bookmarks and passwords, capture your printer settings, and if you have an iPhone or iPad, we'll verify that's backed up too. Each of these steps is important, but don't worry - I'll walk you through them one at a time."</a:t>
            </a:r>
          </a:p>
          <a:p>
            <a:endParaRPr/>
          </a:p>
          <a:p>
            <a:r>
              <a:t>EMPHASIS:</a:t>
            </a:r>
          </a:p>
          <a:p>
            <a:r>
              <a:t>- OneDrive is the MOST CRITICAL step</a:t>
            </a:r>
          </a:p>
          <a:p>
            <a:r>
              <a:t>- Everything goes to the cloud - safe even if device fails</a:t>
            </a:r>
          </a:p>
          <a:p>
            <a:r>
              <a:t>- User doesn't need to understand technical details</a:t>
            </a:r>
          </a:p>
          <a:p>
            <a:r>
              <a:t>- Focus on: "Your files will be safe"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"Let's start with OneDrive. Look at the bottom right corner of your screen, near the clock. Do you see a little cloud icon? That's OneDrive. Click on it.</a:t>
            </a:r>
          </a:p>
          <a:p>
            <a:endParaRPr/>
          </a:p>
          <a:p>
            <a:r>
              <a:t>If you don't see it, we need to install OneDrive first - we can get that from the Microsoft Store or onedrive.com.</a:t>
            </a:r>
          </a:p>
          <a:p>
            <a:endParaRPr/>
          </a:p>
          <a:p>
            <a:r>
              <a:t>[Once they find it]</a:t>
            </a:r>
          </a:p>
          <a:p>
            <a:r>
              <a:t>Great! Now click on that cloud icon. Do you see where it says 'Sign in'? Click that and use your INGINC.com email address - the same one you use for Outlook.</a:t>
            </a:r>
          </a:p>
          <a:p>
            <a:endParaRPr/>
          </a:p>
          <a:p>
            <a:r>
              <a:t>[After sign in]</a:t>
            </a:r>
          </a:p>
          <a:p>
            <a:r>
              <a:t>Perfect! Now let's set up folder backup. Click the gear icon in the OneDrive window. See where it says 'Sync and backup'? Click that tab. Now click 'Manage backup'.</a:t>
            </a:r>
          </a:p>
          <a:p>
            <a:endParaRPr/>
          </a:p>
          <a:p>
            <a:r>
              <a:t>You should see three folders here: Desktop, Documents, and Pictures. We want to make sure all three have checkmarks. If any are missing checkmarks, click to enable them. Then click 'Start backup' at the bottom.</a:t>
            </a:r>
          </a:p>
          <a:p>
            <a:endParaRPr/>
          </a:p>
          <a:p>
            <a:r>
              <a:t>Now we wait. You'll see the cloud icon has little blue arrows - that means it's uploading your files. This might take 15-30 minutes depending on how many files you have. While it's uploading, we can start working on the next user's backup. We'll come back to check for the green checkmark before we reset your device."</a:t>
            </a:r>
          </a:p>
          <a:p>
            <a:endParaRPr/>
          </a:p>
          <a:p>
            <a:r>
              <a:t>TROUBLESHOOTING:</a:t>
            </a:r>
          </a:p>
          <a:p>
            <a:r>
              <a:t>- No cloud icon: Install OneDrive from Microsoft Store</a:t>
            </a:r>
          </a:p>
          <a:p>
            <a:r>
              <a:t>- Can't sign in: Verify INGINC.com credentials, check MFA</a:t>
            </a:r>
          </a:p>
          <a:p>
            <a:r>
              <a:t>- Known Folder protection already enabled: User may have bypassed - verify in portal.office.com</a:t>
            </a:r>
          </a:p>
          <a:p>
            <a:r>
              <a:t>- Sync stuck: Check internet connection, restart OneDrive</a:t>
            </a:r>
          </a:p>
          <a:p>
            <a:endParaRPr/>
          </a:p>
          <a:p>
            <a:r>
              <a:t>IMPORTANT:</a:t>
            </a:r>
          </a:p>
          <a:p>
            <a:r>
              <a:t>- DO NOT proceed to reset until green checkmark appears</a:t>
            </a:r>
          </a:p>
          <a:p>
            <a:r>
              <a:t>- Use wait time to start another user's Phase 1</a:t>
            </a:r>
          </a:p>
          <a:p>
            <a:r>
              <a:t>- Verify completion in portal.office.com before Phase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"Now let's backup your browser. Are you using Chrome or Edge? Let me show you how to turn on sync for your browser.</a:t>
            </a:r>
          </a:p>
          <a:p>
            <a:endParaRPr/>
          </a:p>
          <a:p>
            <a:r>
              <a:t>[For Chrome]</a:t>
            </a:r>
          </a:p>
          <a:p>
            <a:r>
              <a:t>Click the three dots in the top right corner - that's the menu. Go to Settings. On the left side, click 'You and Google'. Now click 'Turn on sync'. Sign in with your INGINC.com email. Once you see 'Sync is on', you're all set.</a:t>
            </a:r>
          </a:p>
          <a:p>
            <a:endParaRPr/>
          </a:p>
          <a:p>
            <a:r>
              <a:t>[For Edge]</a:t>
            </a:r>
          </a:p>
          <a:p>
            <a:r>
              <a:t>Click the three dots in the top right. Go to Settings. Click on Profiles on the left. Then click Sync. Turn on sync and make sure you're signed in with your INGINC.com account.</a:t>
            </a:r>
          </a:p>
          <a:p>
            <a:endParaRPr/>
          </a:p>
          <a:p>
            <a:r>
              <a:t>Now let's export your bookmarks as a backup. Go to the menu again, then Bookmarks or Favorites, find the three dots, and click Export. Save that file to your OneDrive Documents folder. Name it something like 'Browser Bookmarks Backup'.</a:t>
            </a:r>
          </a:p>
          <a:p>
            <a:endParaRPr/>
          </a:p>
          <a:p>
            <a:r>
              <a:t>If you want to export your passwords too, go back to Settings, click on Passwords, find the three dots next to 'Saved passwords', and click Export passwords. Save that to OneDrive Documents as well. Important: this file contains your passwords, so we'll delete it from OneDrive once everything is restored and working."</a:t>
            </a:r>
          </a:p>
          <a:p>
            <a:endParaRPr/>
          </a:p>
          <a:p>
            <a:r>
              <a:t>KEY POINTS:</a:t>
            </a:r>
          </a:p>
          <a:p>
            <a:r>
              <a:t>- Sync is the primary protection (automatic)</a:t>
            </a:r>
          </a:p>
          <a:p>
            <a:r>
              <a:t>- Export is secondary backup (manual, but safer)</a:t>
            </a:r>
          </a:p>
          <a:p>
            <a:r>
              <a:t>- Password CSV is sensitive - remind to delete later</a:t>
            </a:r>
          </a:p>
          <a:p>
            <a:r>
              <a:t>- Save exports to: OneDrive &gt; Documents &gt; BrowserBackup folder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"Next, let's capture your printer settings. Click the Start button and type 'Settings'. Open Settings, then click on 'Devices', then 'Printers &amp; scanners'.</a:t>
            </a:r>
          </a:p>
          <a:p>
            <a:endParaRPr/>
          </a:p>
          <a:p>
            <a:r>
              <a:t>Perfect - I can see you have [X] printers configured. We're going to take a screenshot of this list so we can set them back up exactly the same way after the reset.</a:t>
            </a:r>
          </a:p>
          <a:p>
            <a:endParaRPr/>
          </a:p>
          <a:p>
            <a:r>
              <a:t>Press the Windows key, Shift, and S all at the same time. Your screen should dim a bit - that's the screenshot tool. Click and drag to capture the entire printer list.</a:t>
            </a:r>
          </a:p>
          <a:p>
            <a:endParaRPr/>
          </a:p>
          <a:p>
            <a:r>
              <a:t>Once you've captured it, a notification will pop up in the corner. Click that notification, and it will open in the Snipping Tool. Click the save button (floppy disk icon) and save it to your OneDrive Documents folder. Name it 'PrinterBackup' or 'Printers Screenshot'."</a:t>
            </a:r>
          </a:p>
          <a:p>
            <a:endParaRPr/>
          </a:p>
          <a:p>
            <a:r>
              <a:t>WHY THIS MATTERS:</a:t>
            </a:r>
          </a:p>
          <a:p>
            <a:r>
              <a:t>- Printer names, IPs, and driver info visible in screenshot</a:t>
            </a:r>
          </a:p>
          <a:p>
            <a:r>
              <a:t>- Makes Phase 3 printer restoration much faster</a:t>
            </a:r>
          </a:p>
          <a:p>
            <a:r>
              <a:t>- Users often don't remember printer names</a:t>
            </a:r>
          </a:p>
          <a:p>
            <a:r>
              <a:t>- Screenshot is faster than manual documentation</a:t>
            </a:r>
          </a:p>
          <a:p>
            <a:endParaRPr/>
          </a:p>
          <a:p>
            <a:r>
              <a:t>ALTERNATIVE:</a:t>
            </a:r>
          </a:p>
          <a:p>
            <a:r>
              <a:t>If user is uncomfortable with screenshots, manually document:</a:t>
            </a:r>
          </a:p>
          <a:p>
            <a:r>
              <a:t>- Printer name</a:t>
            </a:r>
          </a:p>
          <a:p>
            <a:r>
              <a:t>- Printer model</a:t>
            </a:r>
          </a:p>
          <a:p>
            <a:r>
              <a:t>- IP address (if network printer)</a:t>
            </a:r>
          </a:p>
          <a:p>
            <a:r>
              <a:t>- Default printer (marked with checkmark)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"Before we reset your device, let's record which WiFi network you're connected to. Click on the WiFi icon in your taskbar - that's the wireless symbol in the bottom right corner, near the clock.</a:t>
            </a:r>
          </a:p>
          <a:p>
            <a:endParaRPr/>
          </a:p>
          <a:p>
            <a:r>
              <a:t>Can you tell me the name of the network you're connected to? I'm going to write it down.</a:t>
            </a:r>
          </a:p>
          <a:p>
            <a:endParaRPr/>
          </a:p>
          <a:p>
            <a:r>
              <a:t>[Record the SSID]</a:t>
            </a:r>
          </a:p>
          <a:p>
            <a:endParaRPr/>
          </a:p>
          <a:p>
            <a:r>
              <a:t>Great! After the reset, when Windows first starts up, it will ask you to connect to WiFi. We'll use this network name to reconnect quickly."</a:t>
            </a:r>
          </a:p>
          <a:p>
            <a:endParaRPr/>
          </a:p>
          <a:p>
            <a:r>
              <a:t>WHY THIS MATTERS:</a:t>
            </a:r>
          </a:p>
          <a:p>
            <a:r>
              <a:t>- OOBE (Out of Box Experience) requires internet before Autopilot can begin</a:t>
            </a:r>
          </a:p>
          <a:p>
            <a:r>
              <a:t>- Sites often have multiple similar network names (Guest, Corp, VPN, etc.)</a:t>
            </a:r>
          </a:p>
          <a:p>
            <a:r>
              <a:t>- Exact SSID avoids confusion during setup</a:t>
            </a:r>
          </a:p>
          <a:p>
            <a:r>
              <a:t>- Saves time - no hunting for correct network</a:t>
            </a:r>
          </a:p>
          <a:p>
            <a:endParaRPr/>
          </a:p>
          <a:p>
            <a:r>
              <a:t>DOCUMENT:</a:t>
            </a:r>
          </a:p>
          <a:p>
            <a:r>
              <a:t>- Record SSID in your notes or ticket system</a:t>
            </a:r>
          </a:p>
          <a:p>
            <a:r>
              <a:t>- If multiple networks available, note which one to use</a:t>
            </a:r>
          </a:p>
          <a:p>
            <a:r>
              <a:t>- If user is on Guest network, note if Corp network is available</a:t>
            </a:r>
          </a:p>
          <a:p>
            <a:r>
              <a:t>- Check if network requires certificate or special auth</a:t>
            </a:r>
          </a:p>
          <a:p>
            <a:endParaRPr/>
          </a:p>
          <a:p>
            <a:r>
              <a:t>COMMON NETWORKS:</a:t>
            </a:r>
          </a:p>
          <a:p>
            <a:r>
              <a:t>- Impact_Floors_Corp</a:t>
            </a:r>
          </a:p>
          <a:p>
            <a:r>
              <a:t>- Impact_Guest</a:t>
            </a:r>
          </a:p>
          <a:p>
            <a:r>
              <a:t>- INGINC-WiFi</a:t>
            </a:r>
          </a:p>
          <a:p>
            <a:r>
              <a:t>- Site-specific names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DETAILED SCRIPT:</a:t>
            </a:r>
          </a:p>
          <a:p>
            <a:r>
              <a:t>"Now we need to check for Outlook data files. These are special files that store your email archives, and they won't sync automatically to OneDrive.</a:t>
            </a:r>
          </a:p>
          <a:p>
            <a:endParaRPr/>
          </a:p>
          <a:p>
            <a:r>
              <a:t>Open File Explorer - you can click the folder icon in your taskbar. Now, click in the address bar at the top where it shows the folder path, and I'm going to have you type something. Clear that out and type exactly:</a:t>
            </a:r>
          </a:p>
          <a:p>
            <a:r>
              <a:t>%LOCALAPPDATA%\Microsoft\Outlook</a:t>
            </a:r>
          </a:p>
          <a:p>
            <a:endParaRPr/>
          </a:p>
          <a:p>
            <a:r>
              <a:t>Press Enter. This will take you to where Outlook stores its data files.</a:t>
            </a:r>
          </a:p>
          <a:p>
            <a:endParaRPr/>
          </a:p>
          <a:p>
            <a:r>
              <a:t>Do you see any files in this folder? Look for files ending in .ost or .pst.</a:t>
            </a:r>
          </a:p>
          <a:p>
            <a:endParaRPr/>
          </a:p>
          <a:p>
            <a:r>
              <a:t>[If OST files only]</a:t>
            </a:r>
          </a:p>
          <a:p>
            <a:r>
              <a:t>Perfect - I see OST files, but no PST files. The OST files are just a cached copy of your mailbox - those get recreated automatically after migration. You're all set here.</a:t>
            </a:r>
          </a:p>
          <a:p>
            <a:endParaRPr/>
          </a:p>
          <a:p>
            <a:r>
              <a:t>[If PST files exist]</a:t>
            </a:r>
          </a:p>
          <a:p>
            <a:r>
              <a:t>Okay, I see you have PST files. These are personal archives - maybe old emails you wanted to keep. We need to copy these to your OneDrive.</a:t>
            </a:r>
          </a:p>
          <a:p>
            <a:endParaRPr/>
          </a:p>
          <a:p>
            <a:r>
              <a:t>Right-click on the PST file and select Copy. Now navigate to your OneDrive Documents folder - you can click 'OneDrive - INGINC.com' in the left sidebar of File Explorer, then Documents. Right-click in an empty area and select Paste.</a:t>
            </a:r>
          </a:p>
          <a:p>
            <a:endParaRPr/>
          </a:p>
          <a:p>
            <a:r>
              <a:t>Great! Now let's verify it copied correctly. Open your web browser and go to portal.office.com. Sign in if needed, then click on OneDrive. Go to the Documents folder - can you see the PST file there?"</a:t>
            </a:r>
          </a:p>
          <a:p>
            <a:endParaRPr/>
          </a:p>
          <a:p>
            <a:r>
              <a:t>TECHNICAL DETAILS:</a:t>
            </a:r>
          </a:p>
          <a:p>
            <a:r>
              <a:t>OST Files:</a:t>
            </a:r>
          </a:p>
          <a:p>
            <a:r>
              <a:t>- Offline cache of Exchange mailbox</a:t>
            </a:r>
          </a:p>
          <a:p>
            <a:r>
              <a:t>- Stored locally for performance</a:t>
            </a:r>
          </a:p>
          <a:p>
            <a:r>
              <a:t>- Automatically recreated when Outlook connects to Exchange</a:t>
            </a:r>
          </a:p>
          <a:p>
            <a:r>
              <a:t>- Can be large (5-50 GB typical)</a:t>
            </a:r>
          </a:p>
          <a:p>
            <a:r>
              <a:t>- NO ACTION NEEDED - let them be deleted with reset</a:t>
            </a:r>
          </a:p>
          <a:p>
            <a:endParaRPr/>
          </a:p>
          <a:p>
            <a:r>
              <a:t>PST Files:</a:t>
            </a:r>
          </a:p>
          <a:p>
            <a:r>
              <a:t>- Personal archive created by USER</a:t>
            </a:r>
          </a:p>
          <a:p>
            <a:r>
              <a:t>- Contains emails moved OUT of main mailbox</a:t>
            </a:r>
          </a:p>
          <a:p>
            <a:r>
              <a:t>- Often used for old emails, projects, legal hold</a:t>
            </a:r>
          </a:p>
          <a:p>
            <a:r>
              <a:t>- NOT automatically backed up</a:t>
            </a:r>
          </a:p>
          <a:p>
            <a:r>
              <a:t>- DATA LOSS if not manually backed up</a:t>
            </a:r>
          </a:p>
          <a:p>
            <a:r>
              <a:t>- MUST be copied to OneDrive or will be lost forever</a:t>
            </a:r>
          </a:p>
          <a:p>
            <a:endParaRPr/>
          </a:p>
          <a:p>
            <a:r>
              <a:t>COMMON SCENARIOS:</a:t>
            </a:r>
          </a:p>
          <a:p>
            <a:r>
              <a:t>1. No PST files (most common): Quick check, move on</a:t>
            </a:r>
          </a:p>
          <a:p>
            <a:r>
              <a:t>2. Old PST from previous company: Ask if user wants to keep</a:t>
            </a:r>
          </a:p>
          <a:p>
            <a:r>
              <a:t>3. Multiple PST files: Copy all to OneDrive</a:t>
            </a:r>
          </a:p>
          <a:p>
            <a:r>
              <a:t>4. PST file very large (&gt;10 GB): May take time to upload, monitor progress</a:t>
            </a:r>
          </a:p>
          <a:p>
            <a:r>
              <a:t>5. User doesn't know what PST is: Explain "it's like a filing cabinet for old emails you wanted to archive"</a:t>
            </a:r>
          </a:p>
          <a:p>
            <a:endParaRPr/>
          </a:p>
          <a:p>
            <a:r>
              <a:t>VERIFICATION:</a:t>
            </a:r>
          </a:p>
          <a:p>
            <a:r>
              <a:t>- Check file size in OneDrive web portal matches local file</a:t>
            </a:r>
          </a:p>
          <a:p>
            <a:r>
              <a:t>- Confirm green checkmark on OneDrive sync</a:t>
            </a:r>
          </a:p>
          <a:p>
            <a:r>
              <a:t>- Note PST file names in ticket/documentation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SCRIPT:</a:t>
            </a:r>
          </a:p>
          <a:p>
            <a:r>
              <a:t>"Do you have an iPhone or iPad that you use for work?</a:t>
            </a:r>
          </a:p>
          <a:p>
            <a:endParaRPr/>
          </a:p>
          <a:p>
            <a:r>
              <a:t>[If yes]</a:t>
            </a:r>
          </a:p>
          <a:p>
            <a:r>
              <a:t>Great, let's make sure that's backed up too. Do you have the charging cable handy? Connect your iPhone/iPad to your computer using the USB cable.</a:t>
            </a:r>
          </a:p>
          <a:p>
            <a:endParaRPr/>
          </a:p>
          <a:p>
            <a:r>
              <a:t>Now we need to open the Apple Devices app. Click Start and search for 'Apple Devices'. If you don't see it, we can get it from the Microsoft Store quickly.</a:t>
            </a:r>
          </a:p>
          <a:p>
            <a:endParaRPr/>
          </a:p>
          <a:p>
            <a:r>
              <a:t>[Once app is open]</a:t>
            </a:r>
          </a:p>
          <a:p>
            <a:r>
              <a:t>Perfect. Click on your device in the left sidebar. Do you see where it shows 'Latest Backup'? When was the last backup?</a:t>
            </a:r>
          </a:p>
          <a:p>
            <a:endParaRPr/>
          </a:p>
          <a:p>
            <a:r>
              <a:t>[If recent - within 24-48 hours]</a:t>
            </a:r>
          </a:p>
          <a:p>
            <a:r>
              <a:t>Great! Your backup is recent. You're all set here.</a:t>
            </a:r>
          </a:p>
          <a:p>
            <a:endParaRPr/>
          </a:p>
          <a:p>
            <a:r>
              <a:t>[If old or no backup]</a:t>
            </a:r>
          </a:p>
          <a:p>
            <a:r>
              <a:t>Let's create a fresh backup just to be safe. Click the 'Back Up Now' button. This will take a few minutes depending on how much data is on your phone.</a:t>
            </a:r>
          </a:p>
          <a:p>
            <a:endParaRPr/>
          </a:p>
          <a:p>
            <a:r>
              <a:t>[If no iOS device]</a:t>
            </a:r>
          </a:p>
          <a:p>
            <a:r>
              <a:t>No problem - we can skip this step then. This is only for people who have work iPhones or iPads."</a:t>
            </a:r>
          </a:p>
          <a:p>
            <a:endParaRPr/>
          </a:p>
          <a:p>
            <a:r>
              <a:t>WHY THIS MATTERS:</a:t>
            </a:r>
          </a:p>
          <a:p>
            <a:r>
              <a:t>- Corporate iOS devices may have work data not in cloud</a:t>
            </a:r>
          </a:p>
          <a:p>
            <a:r>
              <a:t>- Photos, contacts, apps, settings backed up to computer</a:t>
            </a:r>
          </a:p>
          <a:p>
            <a:r>
              <a:t>- Backup is to THIS computer - will be lost after reset</a:t>
            </a:r>
          </a:p>
          <a:p>
            <a:r>
              <a:t>- iCloud backup is separate (not affected by computer reset)</a:t>
            </a:r>
          </a:p>
          <a:p>
            <a:endParaRPr/>
          </a:p>
          <a:p>
            <a:r>
              <a:t>TROUBLESHOOTING:</a:t>
            </a:r>
          </a:p>
          <a:p>
            <a:r>
              <a:t>- Apple Devices app not installed: Download from Microsoft Store (free)</a:t>
            </a:r>
          </a:p>
          <a:p>
            <a:r>
              <a:t>- Device not recognized: Try different USB port, different cable</a:t>
            </a:r>
          </a:p>
          <a:p>
            <a:r>
              <a:t>- Trust dialog on iPhone: User must tap "Trust" on phone screen</a:t>
            </a:r>
          </a:p>
          <a:p>
            <a:r>
              <a:t>- Backup fails: Check available disk space on computer</a:t>
            </a:r>
          </a:p>
          <a:p>
            <a:r>
              <a:t>- User has iCloud backup: Good for personal data, but company apps may not be included</a:t>
            </a:r>
          </a:p>
          <a:p>
            <a:endParaRPr/>
          </a:p>
          <a:p>
            <a:r>
              <a:t>ALTERNATIVE:</a:t>
            </a:r>
          </a:p>
          <a:p>
            <a:r>
              <a:t>If backup won't work:</a:t>
            </a:r>
          </a:p>
          <a:p>
            <a:r>
              <a:t>- Document that backup was attempted but failed</a:t>
            </a:r>
          </a:p>
          <a:p>
            <a:r>
              <a:t>- Note error message</a:t>
            </a:r>
          </a:p>
          <a:p>
            <a:r>
              <a:t>- Proceed with reset (user's iPhone will not be affected)</a:t>
            </a:r>
          </a:p>
          <a:p>
            <a:r>
              <a:t>- iOS device data is independent of Windows computer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a:p>
            <a:r>
              <a:t>CHECKPOINT SCRIPT:</a:t>
            </a:r>
          </a:p>
          <a:p>
            <a:r>
              <a:t>"Alright, let's review everything we've backed up to make sure we're ready for the reset. I'm going to go through the checklist with you:</a:t>
            </a:r>
          </a:p>
          <a:p>
            <a:endParaRPr/>
          </a:p>
          <a:p>
            <a:r>
              <a:t>[Go through each item and check off]</a:t>
            </a:r>
          </a:p>
          <a:p>
            <a:endParaRPr/>
          </a:p>
          <a:p>
            <a:r>
              <a:t>1. OneDrive - Is the cloud icon showing a green checkmark? Perfect.</a:t>
            </a:r>
          </a:p>
          <a:p>
            <a:r>
              <a:t>2. Known Folder Backup - We enabled Desktop, Documents, and Pictures, right? Good.</a:t>
            </a:r>
          </a:p>
          <a:p>
            <a:r>
              <a:t>3. Sync complete - Everything uploaded? Excellent.</a:t>
            </a:r>
          </a:p>
          <a:p>
            <a:r>
              <a:t>4. Browser sync - You signed in to Chrome/Edge? Check.</a:t>
            </a:r>
          </a:p>
          <a:p>
            <a:r>
              <a:t>5. Browser exports - Bookmarks and passwords saved to OneDrive Documents? Got it.</a:t>
            </a:r>
          </a:p>
          <a:p>
            <a:r>
              <a:t>6. Printers - We took that screenshot? Yes.</a:t>
            </a:r>
          </a:p>
          <a:p>
            <a:r>
              <a:t>7. WiFi - I have the network name written down: [SSID]</a:t>
            </a:r>
          </a:p>
          <a:p>
            <a:r>
              <a:t>8. Outlook PST - [We checked/no PST files/copied to OneDrive]</a:t>
            </a:r>
          </a:p>
          <a:p>
            <a:r>
              <a:t>9. iOS - [Backup verified/no iOS device/backup created]</a:t>
            </a:r>
          </a:p>
          <a:p>
            <a:endParaRPr/>
          </a:p>
          <a:p>
            <a:r>
              <a:t>Perfect! Everything is backed up and safe. Your data is secure in OneDrive, and we can now proceed with requesting the device reset. The IT team will send you instructions for Phase 2 once the reset is processed."</a:t>
            </a:r>
          </a:p>
          <a:p>
            <a:endParaRPr/>
          </a:p>
          <a:p>
            <a:r>
              <a:t>CRITICAL CHECKPOINT:</a:t>
            </a:r>
          </a:p>
          <a:p>
            <a:r>
              <a:t>- Review EVERY item before ending call</a:t>
            </a:r>
          </a:p>
          <a:p>
            <a:r>
              <a:t>- Verify green checkmark on OneDrive specifically</a:t>
            </a:r>
          </a:p>
          <a:p>
            <a:r>
              <a:t>- Check portal.office.com to visually confirm files in cloud</a:t>
            </a:r>
          </a:p>
          <a:p>
            <a:r>
              <a:t>- Document checklist completion in ticket</a:t>
            </a:r>
          </a:p>
          <a:p>
            <a:r>
              <a:t>- User should not be able to proceed to Phase 2 until this is 100% complete</a:t>
            </a:r>
          </a:p>
          <a:p>
            <a:endParaRPr/>
          </a:p>
          <a:p>
            <a:r>
              <a:t>IF ANYTHING IS INCOMPLETE:</a:t>
            </a:r>
          </a:p>
          <a:p>
            <a:r>
              <a:t>- Schedule follow-up</a:t>
            </a:r>
          </a:p>
          <a:p>
            <a:r>
              <a:t>- Set reminder to verify OneDrive sync completion</a:t>
            </a:r>
          </a:p>
          <a:p>
            <a:r>
              <a:t>- Do NOT rush - data loss is worse than delay</a:t>
            </a:r>
          </a:p>
          <a:p>
            <a:r>
              <a:t>- Use wait time to help other users</a:t>
            </a:r>
          </a:p>
          <a:p>
            <a:endParaRPr/>
          </a:p>
          <a:p>
            <a:r>
              <a:t>BEST PRACTICE:</a:t>
            </a:r>
          </a:p>
          <a:p>
            <a:r>
              <a:t>While waiting for OneDrive sync (15-30 min):</a:t>
            </a:r>
          </a:p>
          <a:p>
            <a:r>
              <a:t>- Start another user's Phase 1</a:t>
            </a:r>
          </a:p>
          <a:p>
            <a:r>
              <a:t>- Come back to verify this user's sync completion</a:t>
            </a:r>
          </a:p>
          <a:p>
            <a:r>
              <a:t>- Efficient use of time while maintaining safety</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1371600"/>
            <a:ext cx="7315200" cy="1446550"/>
          </a:xfrm>
          <a:prstGeom prst="rect">
            <a:avLst/>
          </a:prstGeom>
          <a:noFill/>
        </p:spPr>
        <p:txBody>
          <a:bodyPr wrap="square">
            <a:spAutoFit/>
          </a:bodyPr>
          <a:lstStyle/>
          <a:p>
            <a:pPr algn="ctr">
              <a:defRPr sz="4400" b="1">
                <a:solidFill>
                  <a:srgbClr val="0078D4"/>
                </a:solidFill>
              </a:defRPr>
            </a:pPr>
            <a:r>
              <a:rPr lang="en-US" dirty="0"/>
              <a:t>ILG Pinnacle </a:t>
            </a:r>
          </a:p>
          <a:p>
            <a:pPr algn="ctr">
              <a:defRPr sz="4400" b="1">
                <a:solidFill>
                  <a:srgbClr val="0078D4"/>
                </a:solidFill>
              </a:defRPr>
            </a:pPr>
            <a:r>
              <a:rPr lang="en-US" dirty="0"/>
              <a:t>Microsoft Windows Migration</a:t>
            </a:r>
            <a:endParaRPr dirty="0"/>
          </a:p>
        </p:txBody>
      </p:sp>
      <p:sp>
        <p:nvSpPr>
          <p:cNvPr id="3" name="TextBox 2"/>
          <p:cNvSpPr txBox="1"/>
          <p:nvPr/>
        </p:nvSpPr>
        <p:spPr>
          <a:xfrm>
            <a:off x="1488228" y="2818150"/>
            <a:ext cx="6167587" cy="954107"/>
          </a:xfrm>
          <a:prstGeom prst="rect">
            <a:avLst/>
          </a:prstGeom>
          <a:noFill/>
        </p:spPr>
        <p:txBody>
          <a:bodyPr wrap="none">
            <a:spAutoFit/>
          </a:bodyPr>
          <a:lstStyle/>
          <a:p>
            <a:pPr algn="ctr">
              <a:defRPr sz="2800">
                <a:solidFill>
                  <a:srgbClr val="323232"/>
                </a:solidFill>
              </a:defRPr>
            </a:pPr>
            <a:r>
              <a:rPr lang="en-US" dirty="0"/>
              <a:t>Preparing You and your Device </a:t>
            </a:r>
          </a:p>
          <a:p>
            <a:pPr algn="ctr">
              <a:defRPr sz="2800">
                <a:solidFill>
                  <a:srgbClr val="323232"/>
                </a:solidFill>
              </a:defRPr>
            </a:pPr>
            <a:r>
              <a:rPr lang="en-US" dirty="0"/>
              <a:t>for the Impact Property Solutions Tenant</a:t>
            </a:r>
          </a:p>
        </p:txBody>
      </p:sp>
      <p:sp>
        <p:nvSpPr>
          <p:cNvPr id="4" name="TextBox 3"/>
          <p:cNvSpPr txBox="1"/>
          <p:nvPr/>
        </p:nvSpPr>
        <p:spPr>
          <a:xfrm>
            <a:off x="3993957" y="3772257"/>
            <a:ext cx="1156086" cy="307777"/>
          </a:xfrm>
          <a:prstGeom prst="rect">
            <a:avLst/>
          </a:prstGeom>
          <a:noFill/>
        </p:spPr>
        <p:txBody>
          <a:bodyPr wrap="none">
            <a:spAutoFit/>
          </a:bodyPr>
          <a:lstStyle/>
          <a:p>
            <a:pPr algn="ctr">
              <a:defRPr sz="1400">
                <a:solidFill>
                  <a:srgbClr val="969696"/>
                </a:solidFill>
              </a:defRPr>
            </a:pPr>
            <a:r>
              <a:rPr dirty="0"/>
              <a:t>January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What We'll Back Up Today</a:t>
            </a:r>
          </a:p>
        </p:txBody>
      </p:sp>
      <p:sp>
        <p:nvSpPr>
          <p:cNvPr id="3" name="TextBox 2"/>
          <p:cNvSpPr txBox="1"/>
          <p:nvPr/>
        </p:nvSpPr>
        <p:spPr>
          <a:xfrm>
            <a:off x="1371600" y="1097280"/>
            <a:ext cx="6400800" cy="3970318"/>
          </a:xfrm>
          <a:prstGeom prst="rect">
            <a:avLst/>
          </a:prstGeom>
          <a:noFill/>
        </p:spPr>
        <p:txBody>
          <a:bodyPr wrap="square">
            <a:spAutoFit/>
          </a:bodyPr>
          <a:lstStyle/>
          <a:p>
            <a:pPr>
              <a:defRPr sz="2400" b="1">
                <a:solidFill>
                  <a:srgbClr val="0078D4"/>
                </a:solidFill>
              </a:defRPr>
            </a:pPr>
            <a:r>
              <a:rPr dirty="0"/>
              <a:t>OneDrive Setup &amp; File Sync</a:t>
            </a:r>
          </a:p>
          <a:p>
            <a:pPr lvl="1">
              <a:defRPr sz="1800" b="0"/>
            </a:pPr>
            <a:r>
              <a:rPr dirty="0"/>
              <a:t>Your Desktop, Documents, and Pictures folders</a:t>
            </a:r>
          </a:p>
          <a:p>
            <a:pPr>
              <a:defRPr sz="2400" b="1">
                <a:solidFill>
                  <a:srgbClr val="0078D4"/>
                </a:solidFill>
              </a:defRPr>
            </a:pPr>
            <a:r>
              <a:rPr dirty="0"/>
              <a:t>Browser Profile</a:t>
            </a:r>
          </a:p>
          <a:p>
            <a:pPr lvl="1">
              <a:defRPr sz="1800" b="0"/>
            </a:pPr>
            <a:r>
              <a:rPr dirty="0"/>
              <a:t>Bookmarks, passwords, and settings</a:t>
            </a:r>
          </a:p>
          <a:p>
            <a:pPr>
              <a:defRPr sz="2400" b="1">
                <a:solidFill>
                  <a:srgbClr val="0078D4"/>
                </a:solidFill>
              </a:defRPr>
            </a:pPr>
            <a:r>
              <a:rPr dirty="0"/>
              <a:t>Printer Configurations</a:t>
            </a:r>
          </a:p>
          <a:p>
            <a:pPr lvl="1">
              <a:defRPr sz="1800" b="0"/>
            </a:pPr>
            <a:r>
              <a:rPr dirty="0"/>
              <a:t>Screenshot of all mapped printers</a:t>
            </a:r>
          </a:p>
          <a:p>
            <a:pPr>
              <a:defRPr sz="2400" b="1">
                <a:solidFill>
                  <a:srgbClr val="0078D4"/>
                </a:solidFill>
              </a:defRPr>
            </a:pPr>
            <a:r>
              <a:rPr dirty="0" err="1"/>
              <a:t>WiFi</a:t>
            </a:r>
            <a:r>
              <a:rPr dirty="0"/>
              <a:t> Network Information</a:t>
            </a:r>
          </a:p>
          <a:p>
            <a:pPr lvl="1">
              <a:defRPr sz="1800" b="0"/>
            </a:pPr>
            <a:r>
              <a:rPr dirty="0"/>
              <a:t>For quick reconnection after reset</a:t>
            </a:r>
          </a:p>
          <a:p>
            <a:pPr>
              <a:defRPr sz="2400" b="1">
                <a:solidFill>
                  <a:srgbClr val="0078D4"/>
                </a:solidFill>
              </a:defRPr>
            </a:pPr>
            <a:r>
              <a:rPr dirty="0"/>
              <a:t>Outlook Data Files (if applicable)</a:t>
            </a:r>
          </a:p>
          <a:p>
            <a:pPr lvl="1">
              <a:defRPr sz="1800" b="0"/>
            </a:pPr>
            <a:r>
              <a:rPr dirty="0"/>
              <a:t>Personal email archives (PST files)</a:t>
            </a:r>
          </a:p>
          <a:p>
            <a:pPr>
              <a:defRPr sz="2400" b="1">
                <a:solidFill>
                  <a:srgbClr val="0078D4"/>
                </a:solidFill>
              </a:defRPr>
            </a:pPr>
            <a:r>
              <a:rPr dirty="0"/>
              <a:t>iOS Device Backup (if applicable)</a:t>
            </a:r>
          </a:p>
          <a:p>
            <a:pPr lvl="1">
              <a:defRPr sz="1800" b="0"/>
            </a:pPr>
            <a:r>
              <a:rPr dirty="0"/>
              <a:t>iPhone or iPad via Apple Devices app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1: OneDrive Setup</a:t>
            </a:r>
          </a:p>
        </p:txBody>
      </p:sp>
      <p:sp>
        <p:nvSpPr>
          <p:cNvPr id="3" name="TextBox 2"/>
          <p:cNvSpPr txBox="1"/>
          <p:nvPr/>
        </p:nvSpPr>
        <p:spPr>
          <a:xfrm>
            <a:off x="1371600" y="914400"/>
            <a:ext cx="6400800" cy="548640"/>
          </a:xfrm>
          <a:prstGeom prst="rect">
            <a:avLst/>
          </a:prstGeom>
          <a:noFill/>
        </p:spPr>
        <p:txBody>
          <a:bodyPr wrap="none">
            <a:spAutoFit/>
          </a:bodyPr>
          <a:lstStyle/>
          <a:p>
            <a:pPr algn="ctr">
              <a:defRPr sz="1600" b="1">
                <a:solidFill>
                  <a:srgbClr val="D13438"/>
                </a:solidFill>
              </a:defRPr>
            </a:pPr>
            <a:r>
              <a:t>⚠️ CRITICAL: OneDrive must be fully synced before proceeding</a:t>
            </a:r>
          </a:p>
        </p:txBody>
      </p:sp>
      <p:sp>
        <p:nvSpPr>
          <p:cNvPr id="4" name="TextBox 3"/>
          <p:cNvSpPr txBox="1"/>
          <p:nvPr/>
        </p:nvSpPr>
        <p:spPr>
          <a:xfrm>
            <a:off x="1371600" y="1645920"/>
            <a:ext cx="6400800" cy="2308324"/>
          </a:xfrm>
          <a:prstGeom prst="rect">
            <a:avLst/>
          </a:prstGeom>
          <a:noFill/>
        </p:spPr>
        <p:txBody>
          <a:bodyPr wrap="square">
            <a:spAutoFit/>
          </a:bodyPr>
          <a:lstStyle/>
          <a:p>
            <a:pPr marL="342900" indent="-342900">
              <a:buFont typeface="+mj-lt"/>
              <a:buAutoNum type="arabicPeriod"/>
              <a:defRPr sz="1800" b="0"/>
            </a:pPr>
            <a:r>
              <a:rPr dirty="0"/>
              <a:t>Find OneDrive icon in system tray (cloud icon, bottom right)</a:t>
            </a:r>
          </a:p>
          <a:p>
            <a:pPr marL="342900" indent="-342900">
              <a:buFont typeface="+mj-lt"/>
              <a:buAutoNum type="arabicPeriod"/>
              <a:defRPr sz="1800" b="0"/>
            </a:pPr>
            <a:r>
              <a:rPr dirty="0"/>
              <a:t>Click icon → Sign in with </a:t>
            </a:r>
            <a:r>
              <a:rPr dirty="0" err="1"/>
              <a:t>INGINC.com</a:t>
            </a:r>
            <a:r>
              <a:rPr dirty="0"/>
              <a:t> account</a:t>
            </a:r>
          </a:p>
          <a:p>
            <a:pPr marL="342900" indent="-342900">
              <a:buFont typeface="+mj-lt"/>
              <a:buAutoNum type="arabicPeriod"/>
              <a:defRPr sz="1800" b="0"/>
            </a:pPr>
            <a:r>
              <a:rPr dirty="0"/>
              <a:t>Settings (gear) → Sync and backup → Manage backup</a:t>
            </a:r>
          </a:p>
          <a:p>
            <a:pPr marL="342900" indent="-342900">
              <a:buFont typeface="+mj-lt"/>
              <a:buAutoNum type="arabicPeriod"/>
              <a:defRPr sz="1800" b="1">
                <a:solidFill>
                  <a:srgbClr val="0078D4"/>
                </a:solidFill>
              </a:defRPr>
            </a:pPr>
            <a:r>
              <a:rPr dirty="0"/>
              <a:t>Enable all three folders:</a:t>
            </a:r>
          </a:p>
          <a:p>
            <a:pPr lvl="1">
              <a:defRPr sz="1800" b="0">
                <a:solidFill>
                  <a:srgbClr val="107C10"/>
                </a:solidFill>
              </a:defRPr>
            </a:pPr>
            <a:r>
              <a:rPr dirty="0"/>
              <a:t>✓ Desktop</a:t>
            </a:r>
          </a:p>
          <a:p>
            <a:pPr lvl="1">
              <a:defRPr sz="1800" b="0">
                <a:solidFill>
                  <a:srgbClr val="107C10"/>
                </a:solidFill>
              </a:defRPr>
            </a:pPr>
            <a:r>
              <a:rPr dirty="0"/>
              <a:t>✓ Documents</a:t>
            </a:r>
          </a:p>
          <a:p>
            <a:pPr lvl="1">
              <a:defRPr sz="1800" b="0">
                <a:solidFill>
                  <a:srgbClr val="107C10"/>
                </a:solidFill>
              </a:defRPr>
            </a:pPr>
            <a:r>
              <a:rPr dirty="0"/>
              <a:t>✓ Pictures</a:t>
            </a:r>
          </a:p>
          <a:p>
            <a:pPr marL="342900" indent="-342900">
              <a:buFont typeface="+mj-lt"/>
              <a:buAutoNum type="arabicPeriod"/>
              <a:defRPr sz="1800" b="1">
                <a:solidFill>
                  <a:srgbClr val="0078D4"/>
                </a:solidFill>
              </a:defRPr>
            </a:pPr>
            <a:r>
              <a:rPr dirty="0"/>
              <a:t>Click 'Start backup' and wait for green checkmark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2: Browser Profile Backup</a:t>
            </a:r>
          </a:p>
        </p:txBody>
      </p:sp>
      <p:sp>
        <p:nvSpPr>
          <p:cNvPr id="3" name="TextBox 2"/>
          <p:cNvSpPr txBox="1"/>
          <p:nvPr/>
        </p:nvSpPr>
        <p:spPr>
          <a:xfrm>
            <a:off x="731520" y="1097280"/>
            <a:ext cx="3657600" cy="2215991"/>
          </a:xfrm>
          <a:prstGeom prst="rect">
            <a:avLst/>
          </a:prstGeom>
          <a:noFill/>
        </p:spPr>
        <p:txBody>
          <a:bodyPr wrap="square">
            <a:spAutoFit/>
          </a:bodyPr>
          <a:lstStyle/>
          <a:p>
            <a:endParaRPr dirty="0"/>
          </a:p>
          <a:p>
            <a:pPr>
              <a:defRPr sz="2000" b="1">
                <a:solidFill>
                  <a:srgbClr val="0078D4"/>
                </a:solidFill>
              </a:defRPr>
            </a:pPr>
            <a:r>
              <a:rPr dirty="0"/>
              <a:t>Chrome / Edge:</a:t>
            </a:r>
          </a:p>
          <a:p>
            <a:pPr lvl="1">
              <a:defRPr sz="1600" b="0"/>
            </a:pPr>
            <a:r>
              <a:rPr dirty="0"/>
              <a:t>Menu → Settings</a:t>
            </a:r>
          </a:p>
          <a:p>
            <a:pPr lvl="1">
              <a:defRPr sz="1600" b="0"/>
            </a:pPr>
            <a:r>
              <a:rPr dirty="0"/>
              <a:t>Turn on sync</a:t>
            </a:r>
          </a:p>
          <a:p>
            <a:pPr lvl="1">
              <a:defRPr sz="1600" b="0"/>
            </a:pPr>
            <a:r>
              <a:rPr dirty="0"/>
              <a:t>Sign in with </a:t>
            </a:r>
            <a:r>
              <a:rPr dirty="0" err="1"/>
              <a:t>INGINC.com</a:t>
            </a:r>
            <a:endParaRPr lang="en-US" dirty="0"/>
          </a:p>
          <a:p>
            <a:pPr>
              <a:defRPr sz="2000" b="1">
                <a:solidFill>
                  <a:srgbClr val="0078D4"/>
                </a:solidFill>
              </a:defRPr>
            </a:pPr>
            <a:r>
              <a:rPr dirty="0"/>
              <a:t>Export bookmarks:</a:t>
            </a:r>
          </a:p>
          <a:p>
            <a:pPr lvl="1">
              <a:defRPr sz="1600" b="0"/>
            </a:pPr>
            <a:r>
              <a:rPr dirty="0"/>
              <a:t>Menu → Bookmarks → Export</a:t>
            </a:r>
          </a:p>
          <a:p>
            <a:pPr lvl="1">
              <a:defRPr sz="1600" b="0"/>
            </a:pPr>
            <a:r>
              <a:rPr dirty="0"/>
              <a:t>Save to OneDrive Documents</a:t>
            </a:r>
          </a:p>
        </p:txBody>
      </p:sp>
      <p:sp>
        <p:nvSpPr>
          <p:cNvPr id="4" name="TextBox 3"/>
          <p:cNvSpPr txBox="1"/>
          <p:nvPr/>
        </p:nvSpPr>
        <p:spPr>
          <a:xfrm>
            <a:off x="4754880" y="1097280"/>
            <a:ext cx="3657600" cy="3200400"/>
          </a:xfrm>
          <a:prstGeom prst="rect">
            <a:avLst/>
          </a:prstGeom>
          <a:noFill/>
        </p:spPr>
        <p:txBody>
          <a:bodyPr wrap="square">
            <a:spAutoFit/>
          </a:bodyPr>
          <a:lstStyle/>
          <a:p>
            <a:endParaRPr dirty="0"/>
          </a:p>
          <a:p>
            <a:pPr>
              <a:defRPr sz="2000" b="1">
                <a:solidFill>
                  <a:srgbClr val="0078D4"/>
                </a:solidFill>
              </a:defRPr>
            </a:pPr>
            <a:r>
              <a:rPr dirty="0"/>
              <a:t>Export passwords:</a:t>
            </a:r>
          </a:p>
          <a:p>
            <a:pPr lvl="1">
              <a:defRPr sz="1600" b="0"/>
            </a:pPr>
            <a:r>
              <a:rPr dirty="0"/>
              <a:t>Settings → Passwords → Export</a:t>
            </a:r>
          </a:p>
          <a:p>
            <a:pPr lvl="1">
              <a:defRPr sz="1600" b="0"/>
            </a:pPr>
            <a:r>
              <a:rPr dirty="0"/>
              <a:t>Save CSV to OneDrive Documents</a:t>
            </a:r>
          </a:p>
        </p:txBody>
      </p:sp>
      <p:sp>
        <p:nvSpPr>
          <p:cNvPr id="5" name="TextBox 4"/>
          <p:cNvSpPr txBox="1"/>
          <p:nvPr/>
        </p:nvSpPr>
        <p:spPr>
          <a:xfrm>
            <a:off x="1371600" y="4389120"/>
            <a:ext cx="6400800" cy="457200"/>
          </a:xfrm>
          <a:prstGeom prst="rect">
            <a:avLst/>
          </a:prstGeom>
          <a:noFill/>
        </p:spPr>
        <p:txBody>
          <a:bodyPr wrap="none">
            <a:spAutoFit/>
          </a:bodyPr>
          <a:lstStyle/>
          <a:p>
            <a:pPr algn="ctr">
              <a:defRPr sz="1400">
                <a:solidFill>
                  <a:srgbClr val="FFB900"/>
                </a:solidFill>
              </a:defRPr>
            </a:pPr>
            <a:r>
              <a:t>⚠️ Delete password CSV files after restoration is confirmed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p:cNvSpPr txBox="1"/>
          <p:nvPr/>
        </p:nvSpPr>
        <p:spPr>
          <a:xfrm>
            <a:off x="360759" y="2814636"/>
            <a:ext cx="2468166" cy="1839516"/>
          </a:xfrm>
          <a:prstGeom prst="rect">
            <a:avLst/>
          </a:prstGeom>
        </p:spPr>
        <p:txBody>
          <a:bodyPr vert="horz" lIns="91440" tIns="45720" rIns="91440" bIns="45720" rtlCol="0" anchor="ctr">
            <a:normAutofit/>
          </a:bodyPr>
          <a:lstStyle/>
          <a:p>
            <a:pPr defTabSz="914400">
              <a:lnSpc>
                <a:spcPct val="90000"/>
              </a:lnSpc>
              <a:spcBef>
                <a:spcPct val="0"/>
              </a:spcBef>
              <a:spcAft>
                <a:spcPts val="600"/>
              </a:spcAft>
              <a:defRPr sz="4400" b="1">
                <a:solidFill>
                  <a:srgbClr val="0078D4"/>
                </a:solidFill>
              </a:defRPr>
            </a:pPr>
            <a:r>
              <a:rPr lang="en-US" sz="2700">
                <a:latin typeface="+mj-lt"/>
                <a:ea typeface="+mj-ea"/>
                <a:cs typeface="+mj-cs"/>
              </a:rPr>
              <a:t>Step 3: Printer Configuration</a:t>
            </a:r>
          </a:p>
        </p:txBody>
      </p:sp>
      <p:pic>
        <p:nvPicPr>
          <p:cNvPr id="4098" name="Picture 2" descr="How to Take Screenshot on Windows 11: 5 Easy Methods">
            <a:extLst>
              <a:ext uri="{FF2B5EF4-FFF2-40B4-BE49-F238E27FC236}">
                <a16:creationId xmlns:a16="http://schemas.microsoft.com/office/drawing/2014/main" id="{9EDBF8EA-D65E-5849-3CE7-B38E947F8F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14677" b="9708"/>
          <a:stretch>
            <a:fillRect/>
          </a:stretch>
        </p:blipFill>
        <p:spPr bwMode="auto">
          <a:xfrm>
            <a:off x="20" y="10"/>
            <a:ext cx="9143980" cy="2782949"/>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3167986" y="2814637"/>
            <a:ext cx="5614060" cy="1839515"/>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endParaRPr lang="en-US" sz="1300"/>
          </a:p>
          <a:p>
            <a:pPr indent="-228600" defTabSz="914400">
              <a:lnSpc>
                <a:spcPct val="90000"/>
              </a:lnSpc>
              <a:spcAft>
                <a:spcPts val="600"/>
              </a:spcAft>
              <a:buFont typeface="Arial" panose="020B0604020202020204" pitchFamily="34" charset="0"/>
              <a:buChar char="•"/>
              <a:defRPr sz="2200" b="1">
                <a:solidFill>
                  <a:srgbClr val="0078D4"/>
                </a:solidFill>
              </a:defRPr>
            </a:pPr>
            <a:r>
              <a:rPr lang="en-US" sz="1300"/>
              <a:t>Open Settings → Devices → Printers &amp; scanners</a:t>
            </a:r>
          </a:p>
          <a:p>
            <a:pPr indent="-228600" defTabSz="914400">
              <a:lnSpc>
                <a:spcPct val="90000"/>
              </a:lnSpc>
              <a:spcAft>
                <a:spcPts val="600"/>
              </a:spcAft>
              <a:buFont typeface="Arial" panose="020B0604020202020204" pitchFamily="34" charset="0"/>
              <a:buChar char="•"/>
              <a:defRPr sz="1800" b="0"/>
            </a:pPr>
            <a:endParaRPr lang="en-US" sz="1300"/>
          </a:p>
          <a:p>
            <a:pPr indent="-228600" defTabSz="914400">
              <a:lnSpc>
                <a:spcPct val="90000"/>
              </a:lnSpc>
              <a:spcAft>
                <a:spcPts val="600"/>
              </a:spcAft>
              <a:buFont typeface="Arial" panose="020B0604020202020204" pitchFamily="34" charset="0"/>
              <a:buChar char="•"/>
              <a:defRPr sz="2000" b="0"/>
            </a:pPr>
            <a:r>
              <a:rPr lang="en-US" sz="1300"/>
              <a:t>Take screenshot of all mapped printers:</a:t>
            </a:r>
          </a:p>
          <a:p>
            <a:pPr marL="742950" lvl="1" indent="-228600" defTabSz="914400">
              <a:lnSpc>
                <a:spcPct val="90000"/>
              </a:lnSpc>
              <a:spcAft>
                <a:spcPts val="600"/>
              </a:spcAft>
              <a:buFont typeface="Arial" panose="020B0604020202020204" pitchFamily="34" charset="0"/>
              <a:buChar char="•"/>
              <a:defRPr sz="1800" b="0"/>
            </a:pPr>
            <a:r>
              <a:rPr lang="en-US" sz="1300"/>
              <a:t>Press Win + Shift + S</a:t>
            </a:r>
          </a:p>
          <a:p>
            <a:pPr marL="742950" lvl="1" indent="-228600" defTabSz="914400">
              <a:lnSpc>
                <a:spcPct val="90000"/>
              </a:lnSpc>
              <a:spcAft>
                <a:spcPts val="600"/>
              </a:spcAft>
              <a:buFont typeface="Arial" panose="020B0604020202020204" pitchFamily="34" charset="0"/>
              <a:buChar char="•"/>
              <a:defRPr sz="1800" b="0"/>
            </a:pPr>
            <a:r>
              <a:rPr lang="en-US" sz="1300"/>
              <a:t>Select entire printer list</a:t>
            </a:r>
          </a:p>
          <a:p>
            <a:pPr marL="742950" lvl="1" indent="-228600" defTabSz="914400">
              <a:lnSpc>
                <a:spcPct val="90000"/>
              </a:lnSpc>
              <a:spcAft>
                <a:spcPts val="600"/>
              </a:spcAft>
              <a:buFont typeface="Arial" panose="020B0604020202020204" pitchFamily="34" charset="0"/>
              <a:buChar char="•"/>
              <a:defRPr sz="1800" b="0"/>
            </a:pPr>
            <a:r>
              <a:rPr lang="en-US" sz="1300"/>
              <a:t>Save to OneDrive &gt; Documents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4: WiFi Network Documentation</a:t>
            </a:r>
          </a:p>
        </p:txBody>
      </p:sp>
      <p:sp>
        <p:nvSpPr>
          <p:cNvPr id="3" name="TextBox 2"/>
          <p:cNvSpPr txBox="1"/>
          <p:nvPr/>
        </p:nvSpPr>
        <p:spPr>
          <a:xfrm>
            <a:off x="1828800" y="1371600"/>
            <a:ext cx="5486400" cy="2400657"/>
          </a:xfrm>
          <a:prstGeom prst="rect">
            <a:avLst/>
          </a:prstGeom>
          <a:noFill/>
        </p:spPr>
        <p:txBody>
          <a:bodyPr wrap="square">
            <a:spAutoFit/>
          </a:bodyPr>
          <a:lstStyle/>
          <a:p>
            <a:endParaRPr dirty="0"/>
          </a:p>
          <a:p>
            <a:pPr>
              <a:defRPr sz="1800" b="0"/>
            </a:pPr>
            <a:endParaRPr dirty="0"/>
          </a:p>
          <a:p>
            <a:pPr>
              <a:defRPr sz="2000" b="1">
                <a:solidFill>
                  <a:srgbClr val="0078D4"/>
                </a:solidFill>
              </a:defRPr>
            </a:pPr>
            <a:r>
              <a:rPr dirty="0"/>
              <a:t>Record the network name (SSID)</a:t>
            </a:r>
            <a:r>
              <a:rPr lang="en-US" dirty="0"/>
              <a:t> and Password</a:t>
            </a:r>
            <a:r>
              <a:rPr dirty="0"/>
              <a:t>:</a:t>
            </a:r>
          </a:p>
          <a:p>
            <a:pPr lvl="1">
              <a:defRPr sz="1800" b="0"/>
            </a:pPr>
            <a:r>
              <a:rPr dirty="0"/>
              <a:t>Network: _______________________</a:t>
            </a:r>
            <a:endParaRPr lang="en-US" dirty="0"/>
          </a:p>
          <a:p>
            <a:pPr lvl="1">
              <a:defRPr sz="1800" b="0"/>
            </a:pPr>
            <a:r>
              <a:rPr lang="en-US" dirty="0"/>
              <a:t>Password: _______________________</a:t>
            </a:r>
          </a:p>
          <a:p>
            <a:pPr>
              <a:defRPr sz="1800" b="0"/>
            </a:pPr>
            <a:endParaRPr lang="en-US" dirty="0"/>
          </a:p>
          <a:p>
            <a:pPr algn="ctr">
              <a:defRPr sz="1800" b="0"/>
            </a:pPr>
            <a:r>
              <a:rPr lang="en-US" sz="1100" dirty="0"/>
              <a:t>💡 Why this matters: You'll need to reconnect during device setup (OOBE). Having the exact network name ensures smooth reconnection.</a:t>
            </a:r>
          </a:p>
          <a:p>
            <a:pPr>
              <a:defRPr sz="1800" b="0"/>
            </a:pPr>
            <a:endParaRPr lang="en-US" dirty="0"/>
          </a:p>
        </p:txBody>
      </p:sp>
      <p:pic>
        <p:nvPicPr>
          <p:cNvPr id="3074" name="Picture 2" descr="Wifi Signal Icon Wireless Symbol Connection. Web Network ...">
            <a:extLst>
              <a:ext uri="{FF2B5EF4-FFF2-40B4-BE49-F238E27FC236}">
                <a16:creationId xmlns:a16="http://schemas.microsoft.com/office/drawing/2014/main" id="{0F1E6619-668F-741B-E27A-D04847D2B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3766801"/>
            <a:ext cx="1371600" cy="13766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5: Outlook Data Files (OST/PST)</a:t>
            </a:r>
          </a:p>
        </p:txBody>
      </p:sp>
      <p:sp>
        <p:nvSpPr>
          <p:cNvPr id="3" name="TextBox 2"/>
          <p:cNvSpPr txBox="1"/>
          <p:nvPr/>
        </p:nvSpPr>
        <p:spPr>
          <a:xfrm>
            <a:off x="1371600" y="1645920"/>
            <a:ext cx="6400800" cy="548640"/>
          </a:xfrm>
          <a:prstGeom prst="rect">
            <a:avLst/>
          </a:prstGeom>
          <a:noFill/>
        </p:spPr>
        <p:txBody>
          <a:bodyPr wrap="none">
            <a:spAutoFit/>
          </a:bodyPr>
          <a:lstStyle/>
          <a:p>
            <a:pPr algn="ctr">
              <a:defRPr sz="1600" b="1">
                <a:solidFill>
                  <a:srgbClr val="D13438"/>
                </a:solidFill>
              </a:defRPr>
            </a:pPr>
            <a:r>
              <a:t>⚠️ PST files are NOT backed up by OneDrive automatically</a:t>
            </a:r>
          </a:p>
        </p:txBody>
      </p:sp>
      <p:sp>
        <p:nvSpPr>
          <p:cNvPr id="4" name="TextBox 3"/>
          <p:cNvSpPr txBox="1"/>
          <p:nvPr/>
        </p:nvSpPr>
        <p:spPr>
          <a:xfrm>
            <a:off x="67586" y="1920240"/>
            <a:ext cx="6400800" cy="3416320"/>
          </a:xfrm>
          <a:prstGeom prst="rect">
            <a:avLst/>
          </a:prstGeom>
          <a:noFill/>
        </p:spPr>
        <p:txBody>
          <a:bodyPr wrap="square">
            <a:spAutoFit/>
          </a:bodyPr>
          <a:lstStyle/>
          <a:p>
            <a:pPr marL="342900" indent="-342900">
              <a:buFont typeface="+mj-lt"/>
              <a:buAutoNum type="arabicPeriod"/>
              <a:defRPr sz="1800" b="0"/>
            </a:pPr>
            <a:r>
              <a:rPr lang="en-US" dirty="0"/>
              <a:t>Open Outlook </a:t>
            </a:r>
          </a:p>
          <a:p>
            <a:pPr marL="342900" indent="-342900">
              <a:buFont typeface="+mj-lt"/>
              <a:buAutoNum type="arabicPeriod"/>
              <a:defRPr sz="1800" b="0"/>
            </a:pPr>
            <a:r>
              <a:rPr lang="en-US" dirty="0"/>
              <a:t>Click on “Home”</a:t>
            </a:r>
          </a:p>
          <a:p>
            <a:pPr marL="342900" indent="-342900">
              <a:buFont typeface="+mj-lt"/>
              <a:buAutoNum type="arabicPeriod"/>
              <a:defRPr sz="1800" b="0"/>
            </a:pPr>
            <a:r>
              <a:rPr lang="en-US" dirty="0"/>
              <a:t>Click on “Account Settings”</a:t>
            </a:r>
          </a:p>
          <a:p>
            <a:pPr marL="342900" indent="-342900">
              <a:buFont typeface="+mj-lt"/>
              <a:buAutoNum type="arabicPeriod"/>
              <a:defRPr sz="1800" b="0"/>
            </a:pPr>
            <a:r>
              <a:rPr lang="en-US" dirty="0"/>
              <a:t>Click on the “Data Files” Tab</a:t>
            </a:r>
            <a:endParaRPr dirty="0"/>
          </a:p>
          <a:p>
            <a:pPr marL="342900" indent="-342900">
              <a:buFont typeface="+mj-lt"/>
              <a:buAutoNum type="arabicPeriod"/>
              <a:defRPr sz="1800" b="0">
                <a:solidFill>
                  <a:srgbClr val="0078D4"/>
                </a:solidFill>
              </a:defRPr>
            </a:pPr>
            <a:r>
              <a:rPr lang="en-US" dirty="0">
                <a:solidFill>
                  <a:srgbClr val="FF0000"/>
                </a:solidFill>
              </a:rPr>
              <a:t>If there are any items listed</a:t>
            </a:r>
          </a:p>
          <a:p>
            <a:pPr marL="742950" lvl="1" indent="-285750">
              <a:buFontTx/>
              <a:buChar char="-"/>
              <a:defRPr sz="1800" b="0">
                <a:solidFill>
                  <a:srgbClr val="0078D4"/>
                </a:solidFill>
              </a:defRPr>
            </a:pPr>
            <a:r>
              <a:rPr lang="en-US" dirty="0"/>
              <a:t>Click on “Open File Location”</a:t>
            </a:r>
          </a:p>
          <a:p>
            <a:pPr marL="742950" lvl="1" indent="-285750">
              <a:buFontTx/>
              <a:buChar char="-"/>
              <a:defRPr sz="1800" b="0">
                <a:solidFill>
                  <a:srgbClr val="0078D4"/>
                </a:solidFill>
              </a:defRPr>
            </a:pPr>
            <a:r>
              <a:rPr lang="en-US" dirty="0"/>
              <a:t>Select all Files </a:t>
            </a:r>
          </a:p>
          <a:p>
            <a:pPr marL="742950" lvl="1" indent="-285750">
              <a:buFontTx/>
              <a:buChar char="-"/>
              <a:defRPr sz="1800" b="0">
                <a:solidFill>
                  <a:srgbClr val="0078D4"/>
                </a:solidFill>
              </a:defRPr>
            </a:pPr>
            <a:r>
              <a:rPr lang="en-US" dirty="0"/>
              <a:t>Right-click → Cut → OneDrive Documents</a:t>
            </a:r>
          </a:p>
          <a:p>
            <a:pPr>
              <a:defRPr sz="1800" b="0">
                <a:solidFill>
                  <a:srgbClr val="0078D4"/>
                </a:solidFill>
              </a:defRPr>
            </a:pPr>
            <a:endParaRPr dirty="0"/>
          </a:p>
          <a:p>
            <a:pPr>
              <a:defRPr sz="1800" b="0">
                <a:solidFill>
                  <a:srgbClr val="107C10"/>
                </a:solidFill>
              </a:defRPr>
            </a:pPr>
            <a:r>
              <a:rPr dirty="0"/>
              <a:t>OST files (.</a:t>
            </a:r>
            <a:r>
              <a:rPr dirty="0" err="1"/>
              <a:t>ost</a:t>
            </a:r>
            <a:r>
              <a:rPr dirty="0"/>
              <a:t>) - No action needed (will be recreated)</a:t>
            </a:r>
          </a:p>
          <a:p>
            <a:pPr>
              <a:defRPr sz="1800" b="1">
                <a:solidFill>
                  <a:srgbClr val="D13438"/>
                </a:solidFill>
              </a:defRPr>
            </a:pPr>
            <a:r>
              <a:rPr dirty="0"/>
              <a:t>PST files (.</a:t>
            </a:r>
            <a:r>
              <a:rPr dirty="0" err="1"/>
              <a:t>pst</a:t>
            </a:r>
            <a:r>
              <a:rPr dirty="0"/>
              <a:t>) - MUST be copied to OneDrive Documents</a:t>
            </a:r>
          </a:p>
          <a:p>
            <a:pPr>
              <a:defRPr sz="1800" b="0"/>
            </a:pPr>
            <a:endParaRPr dirty="0"/>
          </a:p>
        </p:txBody>
      </p:sp>
      <p:pic>
        <p:nvPicPr>
          <p:cNvPr id="2052" name="Picture 4" descr="Search PST File in Outlook 2021, 2019, 2016, 2013 (Top Ways)">
            <a:extLst>
              <a:ext uri="{FF2B5EF4-FFF2-40B4-BE49-F238E27FC236}">
                <a16:creationId xmlns:a16="http://schemas.microsoft.com/office/drawing/2014/main" id="{B7029386-0222-0BE6-0924-338AAAD8552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84996" y="1645920"/>
            <a:ext cx="4174808" cy="311739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914400"/>
          </a:xfrm>
          <a:prstGeom prst="rect">
            <a:avLst/>
          </a:prstGeom>
          <a:noFill/>
        </p:spPr>
        <p:txBody>
          <a:bodyPr wrap="square">
            <a:spAutoFit/>
          </a:bodyPr>
          <a:lstStyle/>
          <a:p>
            <a:pPr algn="ctr">
              <a:defRPr sz="4400" b="1">
                <a:solidFill>
                  <a:srgbClr val="0078D4"/>
                </a:solidFill>
              </a:defRPr>
            </a:pPr>
            <a:r>
              <a:t>Step 6: iOS Backup Verification</a:t>
            </a:r>
          </a:p>
        </p:txBody>
      </p:sp>
      <p:sp>
        <p:nvSpPr>
          <p:cNvPr id="3" name="TextBox 2"/>
          <p:cNvSpPr txBox="1"/>
          <p:nvPr/>
        </p:nvSpPr>
        <p:spPr>
          <a:xfrm>
            <a:off x="914400" y="1371600"/>
            <a:ext cx="7315200" cy="2616101"/>
          </a:xfrm>
          <a:prstGeom prst="rect">
            <a:avLst/>
          </a:prstGeom>
          <a:noFill/>
        </p:spPr>
        <p:txBody>
          <a:bodyPr wrap="square">
            <a:spAutoFit/>
          </a:bodyPr>
          <a:lstStyle/>
          <a:p>
            <a:endParaRPr dirty="0"/>
          </a:p>
          <a:p>
            <a:pPr>
              <a:defRPr sz="2000" b="1">
                <a:solidFill>
                  <a:srgbClr val="0078D4"/>
                </a:solidFill>
              </a:defRPr>
            </a:pPr>
            <a:r>
              <a:rPr dirty="0"/>
              <a:t>If user has iPhone or iPad:</a:t>
            </a:r>
          </a:p>
          <a:p>
            <a:pPr>
              <a:defRPr sz="1800" b="0"/>
            </a:pPr>
            <a:endParaRPr dirty="0"/>
          </a:p>
          <a:p>
            <a:pPr marL="800100" lvl="1" indent="-342900">
              <a:buFont typeface="+mj-lt"/>
              <a:buAutoNum type="arabicPeriod"/>
              <a:defRPr sz="1800" b="0"/>
            </a:pPr>
            <a:r>
              <a:rPr dirty="0"/>
              <a:t>Connect iOS device via USB cable</a:t>
            </a:r>
          </a:p>
          <a:p>
            <a:pPr marL="800100" lvl="1" indent="-342900">
              <a:buFont typeface="+mj-lt"/>
              <a:buAutoNum type="arabicPeriod"/>
              <a:defRPr sz="1800" b="0"/>
            </a:pPr>
            <a:r>
              <a:rPr dirty="0"/>
              <a:t>Open Apple Devices app from Microsoft Store</a:t>
            </a:r>
          </a:p>
          <a:p>
            <a:pPr marL="800100" lvl="1" indent="-342900">
              <a:buFont typeface="+mj-lt"/>
              <a:buAutoNum type="arabicPeriod"/>
              <a:defRPr sz="1800" b="0"/>
            </a:pPr>
            <a:r>
              <a:rPr dirty="0"/>
              <a:t>Check backup status - verify recent backup exists</a:t>
            </a:r>
          </a:p>
          <a:p>
            <a:pPr marL="800100" lvl="1" indent="-342900">
              <a:buFont typeface="+mj-lt"/>
              <a:buAutoNum type="arabicPeriod"/>
              <a:defRPr sz="1800" b="0"/>
            </a:pPr>
            <a:r>
              <a:rPr dirty="0"/>
              <a:t>If no backup: Click 'Back Up Now'</a:t>
            </a:r>
          </a:p>
          <a:p>
            <a:pPr>
              <a:defRPr sz="1800" b="0"/>
            </a:pPr>
            <a:endParaRPr dirty="0"/>
          </a:p>
          <a:p>
            <a:pPr>
              <a:defRPr sz="1800" b="0">
                <a:solidFill>
                  <a:srgbClr val="969696"/>
                </a:solidFill>
              </a:defRPr>
            </a:pPr>
            <a:r>
              <a:rPr dirty="0"/>
              <a:t>If no iOS device: Skip this step</a:t>
            </a:r>
          </a:p>
        </p:txBody>
      </p:sp>
      <p:pic>
        <p:nvPicPr>
          <p:cNvPr id="1026" name="Picture 2">
            <a:extLst>
              <a:ext uri="{FF2B5EF4-FFF2-40B4-BE49-F238E27FC236}">
                <a16:creationId xmlns:a16="http://schemas.microsoft.com/office/drawing/2014/main" id="{37111060-213A-E944-07E7-4F1078DD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99350" y="1478942"/>
            <a:ext cx="1460500" cy="14605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74320"/>
            <a:ext cx="7315200" cy="769441"/>
          </a:xfrm>
          <a:prstGeom prst="rect">
            <a:avLst/>
          </a:prstGeom>
          <a:noFill/>
        </p:spPr>
        <p:txBody>
          <a:bodyPr wrap="square">
            <a:spAutoFit/>
          </a:bodyPr>
          <a:lstStyle/>
          <a:p>
            <a:pPr algn="ctr">
              <a:defRPr sz="4400" b="1">
                <a:solidFill>
                  <a:srgbClr val="0078D4"/>
                </a:solidFill>
              </a:defRPr>
            </a:pPr>
            <a:r>
              <a:rPr dirty="0"/>
              <a:t>Phase 1 Checklist</a:t>
            </a:r>
          </a:p>
        </p:txBody>
      </p:sp>
      <p:sp>
        <p:nvSpPr>
          <p:cNvPr id="3" name="TextBox 2"/>
          <p:cNvSpPr txBox="1"/>
          <p:nvPr/>
        </p:nvSpPr>
        <p:spPr>
          <a:xfrm>
            <a:off x="1371600" y="1097280"/>
            <a:ext cx="6400800" cy="2031325"/>
          </a:xfrm>
          <a:prstGeom prst="rect">
            <a:avLst/>
          </a:prstGeom>
          <a:noFill/>
        </p:spPr>
        <p:txBody>
          <a:bodyPr wrap="square">
            <a:spAutoFit/>
          </a:bodyPr>
          <a:lstStyle/>
          <a:p>
            <a:pPr>
              <a:defRPr sz="1800" b="1">
                <a:solidFill>
                  <a:srgbClr val="107C10"/>
                </a:solidFill>
              </a:defRPr>
            </a:pPr>
            <a:r>
              <a:rPr lang="en-US" dirty="0"/>
              <a:t>☐ OneDrive sync complete </a:t>
            </a:r>
          </a:p>
          <a:p>
            <a:pPr>
              <a:defRPr sz="1800" b="1">
                <a:solidFill>
                  <a:srgbClr val="107C10"/>
                </a:solidFill>
              </a:defRPr>
            </a:pPr>
            <a:r>
              <a:rPr dirty="0"/>
              <a:t>☐ Browser sync enabled</a:t>
            </a:r>
            <a:endParaRPr lang="en-US" dirty="0"/>
          </a:p>
          <a:p>
            <a:pPr>
              <a:defRPr sz="1800" b="1">
                <a:solidFill>
                  <a:srgbClr val="107C10"/>
                </a:solidFill>
              </a:defRPr>
            </a:pPr>
            <a:r>
              <a:rPr dirty="0"/>
              <a:t>☐ Browser bookmarks/passwords exported to OneDrive</a:t>
            </a:r>
            <a:endParaRPr lang="en-US" dirty="0"/>
          </a:p>
          <a:p>
            <a:pPr>
              <a:defRPr sz="1800" b="1">
                <a:solidFill>
                  <a:srgbClr val="107C10"/>
                </a:solidFill>
              </a:defRPr>
            </a:pPr>
            <a:r>
              <a:rPr dirty="0"/>
              <a:t>☐ Printer configuration screenshot saved</a:t>
            </a:r>
            <a:endParaRPr lang="en-US" dirty="0"/>
          </a:p>
          <a:p>
            <a:pPr>
              <a:defRPr sz="1800" b="1">
                <a:solidFill>
                  <a:srgbClr val="107C10"/>
                </a:solidFill>
              </a:defRPr>
            </a:pPr>
            <a:r>
              <a:rPr dirty="0"/>
              <a:t>☐ </a:t>
            </a:r>
            <a:r>
              <a:rPr dirty="0" err="1"/>
              <a:t>WiFi</a:t>
            </a:r>
            <a:r>
              <a:rPr dirty="0"/>
              <a:t> SSID recorded</a:t>
            </a:r>
            <a:endParaRPr lang="en-US" dirty="0"/>
          </a:p>
          <a:p>
            <a:pPr>
              <a:defRPr sz="1800" b="1">
                <a:solidFill>
                  <a:srgbClr val="107C10"/>
                </a:solidFill>
              </a:defRPr>
            </a:pPr>
            <a:r>
              <a:rPr dirty="0"/>
              <a:t>☐ Outlook PST files checked and moved (if applicable)</a:t>
            </a:r>
            <a:endParaRPr lang="en-US" dirty="0"/>
          </a:p>
          <a:p>
            <a:pPr>
              <a:defRPr sz="1800" b="1">
                <a:solidFill>
                  <a:srgbClr val="107C10"/>
                </a:solidFill>
              </a:defRPr>
            </a:pPr>
            <a:r>
              <a:rPr dirty="0"/>
              <a:t>☐ iOS backup verified or created (if applicable)</a:t>
            </a:r>
          </a:p>
        </p:txBody>
      </p:sp>
      <p:sp>
        <p:nvSpPr>
          <p:cNvPr id="4" name="TextBox 3"/>
          <p:cNvSpPr txBox="1"/>
          <p:nvPr/>
        </p:nvSpPr>
        <p:spPr>
          <a:xfrm>
            <a:off x="914400" y="4572000"/>
            <a:ext cx="7315200" cy="457200"/>
          </a:xfrm>
          <a:prstGeom prst="rect">
            <a:avLst/>
          </a:prstGeom>
          <a:noFill/>
        </p:spPr>
        <p:txBody>
          <a:bodyPr wrap="square">
            <a:spAutoFit/>
          </a:bodyPr>
          <a:lstStyle/>
          <a:p>
            <a:pPr algn="ctr">
              <a:defRPr sz="1800" b="1">
                <a:solidFill>
                  <a:srgbClr val="D13438"/>
                </a:solidFill>
              </a:defRPr>
            </a:pPr>
            <a:r>
              <a:t>🛑 DO NOT request device reset until ALL items above are complete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2998</Words>
  <Application>Microsoft Macintosh PowerPoint</Application>
  <PresentationFormat>On-screen Show (16:9)</PresentationFormat>
  <Paragraphs>326</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Suleman Manji</cp:lastModifiedBy>
  <cp:revision>3</cp:revision>
  <dcterms:created xsi:type="dcterms:W3CDTF">2013-01-27T09:14:16Z</dcterms:created>
  <dcterms:modified xsi:type="dcterms:W3CDTF">2026-01-12T19:20:36Z</dcterms:modified>
  <cp:category/>
</cp:coreProperties>
</file>