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4" r:id="rId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81"/>
    <p:restoredTop sz="94658"/>
  </p:normalViewPr>
  <p:slideViewPr>
    <p:cSldViewPr snapToGrid="0" snapToObjects="1">
      <p:cViewPr varScale="1">
        <p:scale>
          <a:sx n="160" d="100"/>
          <a:sy n="160" d="100"/>
        </p:scale>
        <p:origin x="1152"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494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endParaRPr/>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"Now let's backup your browser. Are you using Chrome or Edge? Let me show you how to turn on sync for your browser.</a:t>
            </a:r>
          </a:p>
          <a:p>
            <a:endParaRPr/>
          </a:p>
          <a:p>
            <a:r>
              <a:t>[For Chrome]</a:t>
            </a:r>
          </a:p>
          <a:p>
            <a:r>
              <a:t>Click the three dots in the top right corner - that's the menu. Go to Settings. On the left side, click 'You and Google'. Now click 'Turn on sync'. Sign in with your INGINC.com email. Once you see 'Sync is on', you're all set.</a:t>
            </a:r>
          </a:p>
          <a:p>
            <a:endParaRPr/>
          </a:p>
          <a:p>
            <a:r>
              <a:t>[For Edge]</a:t>
            </a:r>
          </a:p>
          <a:p>
            <a:r>
              <a:t>Click the three dots in the top right. Go to Settings. Click on Profiles on the left. Then click Sync. Turn on sync and make sure you're signed in with your INGINC.com account.</a:t>
            </a:r>
          </a:p>
          <a:p>
            <a:endParaRPr/>
          </a:p>
          <a:p>
            <a:r>
              <a:t>Now let's export your bookmarks as a backup. Go to the menu again, then Bookmarks or Favorites, find the three dots, and click Export. Save that file to your OneDrive Documents folder. Name it something like 'Browser Bookmarks Backup'.</a:t>
            </a:r>
          </a:p>
          <a:p>
            <a:endParaRPr/>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endParaRPr/>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"Next, let's capture your printer settings. Click the Start button and type 'Settings'. Open Settings, then click on 'Devices', then 'Printers &amp; scanners'.</a:t>
            </a:r>
          </a:p>
          <a:p>
            <a:endParaRPr/>
          </a:p>
          <a:p>
            <a:r>
              <a:t>Perfect - I can see you have [X] printers configured. We're going to take a screenshot of this list so we can set them back up exactly the same way after the reset.</a:t>
            </a:r>
          </a:p>
          <a:p>
            <a:endParaRPr/>
          </a:p>
          <a:p>
            <a:r>
              <a:t>Press the Windows key, Shift, and S all at the same time. Your screen should dim a bit - that's the screenshot tool. Click and drag to capture the entire printer list.</a:t>
            </a:r>
          </a:p>
          <a:p>
            <a:endParaRPr/>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endParaRPr/>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endParaRPr/>
          </a:p>
          <a:p>
            <a:r>
              <a:t>ALTERNATIVE:</a:t>
            </a:r>
          </a:p>
          <a:p>
            <a:r>
              <a:t>If user is uncomfortable with screenshots, manually document:</a:t>
            </a:r>
          </a:p>
          <a:p>
            <a:r>
              <a:t>- Printer name</a:t>
            </a:r>
          </a:p>
          <a:p>
            <a:r>
              <a:t>- Printer model</a:t>
            </a:r>
          </a:p>
          <a:p>
            <a:r>
              <a:t>- IP address (if network printer)</a:t>
            </a:r>
          </a:p>
          <a:p>
            <a:r>
              <a:t>- Default printer (marked with checkmark)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"Before we reset your device, let's record which WiFi network you're connected to. Click on the WiFi icon in your taskbar - that's the wireless symbol in the bottom right corner, near the clock.</a:t>
            </a:r>
          </a:p>
          <a:p>
            <a:endParaRPr/>
          </a:p>
          <a:p>
            <a:r>
              <a:t>Can you tell me the name of the network you're connected to? I'm going to write it down.</a:t>
            </a:r>
          </a:p>
          <a:p>
            <a:endParaRPr/>
          </a:p>
          <a:p>
            <a:r>
              <a:t>[Record the SSID]</a:t>
            </a:r>
          </a:p>
          <a:p>
            <a:endParaRPr/>
          </a:p>
          <a:p>
            <a:r>
              <a:t>Great! After the reset, when Windows first starts up, it will ask you to connect to WiFi. We'll use this network name to reconnect quickly."</a:t>
            </a:r>
          </a:p>
          <a:p>
            <a:endParaRPr/>
          </a:p>
          <a:p>
            <a:r>
              <a:t>WHY THIS MATTERS:</a:t>
            </a:r>
          </a:p>
          <a:p>
            <a:r>
              <a:t>- OOBE (Out of Box Experience) requires internet before Autopilot can begin</a:t>
            </a:r>
          </a:p>
          <a:p>
            <a:r>
              <a:t>- Sites often have multiple similar network names (Guest, Corp, VPN, etc.)</a:t>
            </a:r>
          </a:p>
          <a:p>
            <a:r>
              <a:t>- Exact SSID avoids confusion during setup</a:t>
            </a:r>
          </a:p>
          <a:p>
            <a:r>
              <a:t>- Saves time - no hunting for correct network</a:t>
            </a:r>
          </a:p>
          <a:p>
            <a:endParaRPr/>
          </a:p>
          <a:p>
            <a:r>
              <a:t>DOCUMENT:</a:t>
            </a:r>
          </a:p>
          <a:p>
            <a:r>
              <a:t>- Record SSID in your notes or ticket system</a:t>
            </a:r>
          </a:p>
          <a:p>
            <a:r>
              <a:t>- If multiple networks available, note which one to use</a:t>
            </a:r>
          </a:p>
          <a:p>
            <a:r>
              <a:t>- If user is on Guest network, note if Corp network is available</a:t>
            </a:r>
          </a:p>
          <a:p>
            <a:r>
              <a:t>- Check if network requires certificate or special auth</a:t>
            </a:r>
          </a:p>
          <a:p>
            <a:endParaRPr/>
          </a:p>
          <a:p>
            <a:r>
              <a:t>COMMON NETWORKS:</a:t>
            </a:r>
          </a:p>
          <a:p>
            <a:r>
              <a:t>- Impact_Floors_Corp</a:t>
            </a:r>
          </a:p>
          <a:p>
            <a:r>
              <a:t>- Impact_Guest</a:t>
            </a:r>
          </a:p>
          <a:p>
            <a:r>
              <a:t>- INGINC-WiFi</a:t>
            </a:r>
          </a:p>
          <a:p>
            <a:r>
              <a:t>- Site-specific names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"Now we need to check for Outlook data files. These are special files that store your email archives, and they won't sync automatically to OneDrive.</a:t>
            </a:r>
          </a:p>
          <a:p>
            <a:endParaRPr/>
          </a:p>
          <a:p>
            <a:r>
              <a:t>Open File Explorer - you can click the folder icon in your taskbar. Now, click in the address bar at the top where it shows the folder path, and I'm going to have you type something. Clear that out and type exactly:</a:t>
            </a:r>
          </a:p>
          <a:p>
            <a:r>
              <a:t>%LOCALAPPDATA%\Microsoft\Outlook</a:t>
            </a:r>
          </a:p>
          <a:p>
            <a:endParaRPr/>
          </a:p>
          <a:p>
            <a:r>
              <a:t>Press Enter. This will take you to where Outlook stores its data files.</a:t>
            </a:r>
          </a:p>
          <a:p>
            <a:endParaRPr/>
          </a:p>
          <a:p>
            <a:r>
              <a:t>Do you see any files in this folder? Look for files ending in .ost or .pst.</a:t>
            </a:r>
          </a:p>
          <a:p>
            <a:endParaRPr/>
          </a:p>
          <a:p>
            <a:r>
              <a:t>[If OST files only]</a:t>
            </a:r>
          </a:p>
          <a:p>
            <a:r>
              <a:t>Perfect - I see OST files, but no PST files. The OST files are just a cached copy of your mailbox - those get recreated automatically after migration. You're all set here.</a:t>
            </a:r>
          </a:p>
          <a:p>
            <a:endParaRPr/>
          </a:p>
          <a:p>
            <a:r>
              <a:t>[If PST files exist]</a:t>
            </a:r>
          </a:p>
          <a:p>
            <a:r>
              <a:t>Okay, I see you have PST files. These are personal archives - maybe old emails you wanted to keep. We need to copy these to your OneDrive.</a:t>
            </a:r>
          </a:p>
          <a:p>
            <a:endParaRPr/>
          </a:p>
          <a:p>
            <a:r>
              <a:t>Right-click on the PST file and select Copy. Now navigate to your OneDrive Documents folder - you can click 'OneDrive - INGINC.com' in the left sidebar of File Explorer, then Documents. Right-click in an empty area and select Paste.</a:t>
            </a:r>
          </a:p>
          <a:p>
            <a:endParaRPr/>
          </a:p>
          <a:p>
            <a:r>
              <a:t>Great! Now let's verify it copied correctly. Open your web browser and go to portal.office.com. Sign in if needed, then click on OneDrive. Go to the Documents folder - can you see the PST file there?"</a:t>
            </a:r>
          </a:p>
          <a:p>
            <a:endParaRPr/>
          </a:p>
          <a:p>
            <a:r>
              <a:t>TECHNICAL DETAILS:</a:t>
            </a:r>
          </a:p>
          <a:p>
            <a:r>
              <a:t>OST Files:</a:t>
            </a:r>
          </a:p>
          <a:p>
            <a:r>
              <a:t>- Offline cache of Exchange mailbox</a:t>
            </a:r>
          </a:p>
          <a:p>
            <a:r>
              <a:t>- Stored locally for performance</a:t>
            </a:r>
          </a:p>
          <a:p>
            <a:r>
              <a:t>- Automatically recreated when Outlook connects to Exchange</a:t>
            </a:r>
          </a:p>
          <a:p>
            <a:r>
              <a:t>- Can be large (5-50 GB typical)</a:t>
            </a:r>
          </a:p>
          <a:p>
            <a:r>
              <a:t>- NO ACTION NEEDED - let them be deleted with reset</a:t>
            </a:r>
          </a:p>
          <a:p>
            <a:endParaRPr/>
          </a:p>
          <a:p>
            <a:r>
              <a:t>PST Files:</a:t>
            </a:r>
          </a:p>
          <a:p>
            <a:r>
              <a:t>- Personal archive created by USER</a:t>
            </a:r>
          </a:p>
          <a:p>
            <a:r>
              <a:t>- Contains emails moved OUT of main mailbox</a:t>
            </a:r>
          </a:p>
          <a:p>
            <a:r>
              <a:t>- Often used for old emails, projects, legal hold</a:t>
            </a:r>
          </a:p>
          <a:p>
            <a:r>
              <a:t>- NOT automatically backed up</a:t>
            </a:r>
          </a:p>
          <a:p>
            <a:r>
              <a:t>- DATA LOSS if not manually backed up</a:t>
            </a:r>
          </a:p>
          <a:p>
            <a:r>
              <a:t>- MUST be copied to OneDrive or will be lost forever</a:t>
            </a:r>
          </a:p>
          <a:p>
            <a:endParaRPr/>
          </a:p>
          <a:p>
            <a:r>
              <a:t>COMMON SCENARIOS:</a:t>
            </a:r>
          </a:p>
          <a:p>
            <a:r>
              <a:t>1. No PST files (most common): Quick check, move on</a:t>
            </a:r>
          </a:p>
          <a:p>
            <a:r>
              <a:t>2. Old PST from previous company: Ask if user wants to keep</a:t>
            </a:r>
          </a:p>
          <a:p>
            <a:r>
              <a:t>3. Multiple PST files: Copy all to OneDrive</a:t>
            </a:r>
          </a:p>
          <a:p>
            <a:r>
              <a:t>4. PST file very large (&gt;10 GB): May take time to upload, monitor progress</a:t>
            </a:r>
          </a:p>
          <a:p>
            <a:r>
              <a:t>5. User doesn't know what PST is: Explain "it's like a filing cabinet for old emails you wanted to archive"</a:t>
            </a:r>
          </a:p>
          <a:p>
            <a:endParaRPr/>
          </a:p>
          <a:p>
            <a:r>
              <a:t>VERIFICATION:</a:t>
            </a:r>
          </a:p>
          <a:p>
            <a:r>
              <a:t>- Check file size in OneDrive web portal matches local file</a:t>
            </a:r>
          </a:p>
          <a:p>
            <a:r>
              <a:t>- Confirm green checkmark on OneDrive sync</a:t>
            </a:r>
          </a:p>
          <a:p>
            <a:r>
              <a:t>- Note PST file names in ticket/documentation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CHECKPOINT SCRIPT:</a:t>
            </a:r>
          </a:p>
          <a:p>
            <a:r>
              <a:t>"Alright, let's review everything we've backed up to make sure we're ready for the reset. I'm going to go through the checklist with you:</a:t>
            </a:r>
          </a:p>
          <a:p>
            <a:endParaRPr/>
          </a:p>
          <a:p>
            <a:r>
              <a:t>[Go through each item and check off]</a:t>
            </a:r>
          </a:p>
          <a:p>
            <a:endParaRPr/>
          </a:p>
          <a:p>
            <a:r>
              <a:t>1. OneDrive - Is the cloud icon showing a green checkmark? Perfect.</a:t>
            </a:r>
          </a:p>
          <a:p>
            <a:r>
              <a:t>2. Known Folder Backup - We enabled Desktop, Documents, and Pictures, right? Good.</a:t>
            </a:r>
          </a:p>
          <a:p>
            <a:r>
              <a:t>3. Sync complete - Everything uploaded? Excellent.</a:t>
            </a:r>
          </a:p>
          <a:p>
            <a:r>
              <a:t>4. Browser sync - You signed in to Chrome/Edge? Check.</a:t>
            </a:r>
          </a:p>
          <a:p>
            <a:r>
              <a:t>5. Browser exports - Bookmarks and passwords saved to OneDrive Documents? Got it.</a:t>
            </a:r>
          </a:p>
          <a:p>
            <a:r>
              <a:t>6. Printers - We took that screenshot? Yes.</a:t>
            </a:r>
          </a:p>
          <a:p>
            <a:r>
              <a:t>7. WiFi - I have the network name written down: [SSID]</a:t>
            </a:r>
          </a:p>
          <a:p>
            <a:r>
              <a:t>8. Outlook PST - [We checked/no PST files/copied to OneDrive]</a:t>
            </a:r>
          </a:p>
          <a:p>
            <a:r>
              <a:t>9. iOS - [Backup verified/no iOS device/backup created]</a:t>
            </a:r>
          </a:p>
          <a:p>
            <a:endParaRPr/>
          </a:p>
          <a:p>
            <a:r>
              <a:t>Perfect! Everything is backed up and safe. Your data is secure in OneDrive, and we can now proceed with requesting the device reset. The IT team will send you instructions for Phase 2 once the reset is processed."</a:t>
            </a:r>
          </a:p>
          <a:p>
            <a:endParaRPr/>
          </a:p>
          <a:p>
            <a:r>
              <a:t>CRITICAL CHECKPOINT:</a:t>
            </a:r>
          </a:p>
          <a:p>
            <a:r>
              <a:t>- Review EVERY item before ending call</a:t>
            </a:r>
          </a:p>
          <a:p>
            <a:r>
              <a:t>- Verify green checkmark on OneDrive specifically</a:t>
            </a:r>
          </a:p>
          <a:p>
            <a:r>
              <a:t>- Check portal.office.com to visually confirm files in cloud</a:t>
            </a:r>
          </a:p>
          <a:p>
            <a:r>
              <a:t>- Document checklist completion in ticket</a:t>
            </a:r>
          </a:p>
          <a:p>
            <a:r>
              <a:t>- User should not be able to proceed to Phase 2 until this is 100% complete</a:t>
            </a:r>
          </a:p>
          <a:p>
            <a:endParaRPr/>
          </a:p>
          <a:p>
            <a:r>
              <a:t>IF ANYTHING IS INCOMPLETE:</a:t>
            </a:r>
          </a:p>
          <a:p>
            <a:r>
              <a:t>- Schedule follow-up</a:t>
            </a:r>
          </a:p>
          <a:p>
            <a:r>
              <a:t>- Set reminder to verify OneDrive sync completion</a:t>
            </a:r>
          </a:p>
          <a:p>
            <a:r>
              <a:t>- Do NOT rush - data loss is worse than delay</a:t>
            </a:r>
          </a:p>
          <a:p>
            <a:r>
              <a:t>- Use wait time to help other users</a:t>
            </a:r>
          </a:p>
          <a:p>
            <a:endParaRPr/>
          </a:p>
          <a:p>
            <a:r>
              <a:t>BEST PRACTICE:</a:t>
            </a:r>
          </a:p>
          <a:p>
            <a:r>
              <a:t>While waiting for OneDrive sync (15-30 min):</a:t>
            </a:r>
          </a:p>
          <a:p>
            <a:r>
              <a:t>- Start another user's Phase 1</a:t>
            </a:r>
          </a:p>
          <a:p>
            <a:r>
              <a:t>- Come back to verify this user's sync completion</a:t>
            </a:r>
          </a:p>
          <a:p>
            <a:r>
              <a:t>- Efficient use of time while maintaining safety</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371600"/>
            <a:ext cx="7315200" cy="1446550"/>
          </a:xfrm>
          <a:prstGeom prst="rect">
            <a:avLst/>
          </a:prstGeom>
          <a:noFill/>
        </p:spPr>
        <p:txBody>
          <a:bodyPr wrap="square">
            <a:spAutoFit/>
          </a:bodyPr>
          <a:lstStyle/>
          <a:p>
            <a:pPr algn="ctr">
              <a:defRPr sz="4400" b="1">
                <a:solidFill>
                  <a:srgbClr val="0078D4"/>
                </a:solidFill>
              </a:defRPr>
            </a:pPr>
            <a:r>
              <a:rPr lang="en-US" dirty="0"/>
              <a:t>ILG Pinnacle </a:t>
            </a:r>
          </a:p>
          <a:p>
            <a:pPr algn="ctr">
              <a:defRPr sz="4400" b="1">
                <a:solidFill>
                  <a:srgbClr val="0078D4"/>
                </a:solidFill>
              </a:defRPr>
            </a:pPr>
            <a:r>
              <a:rPr lang="en-US" dirty="0"/>
              <a:t>Microsoft Windows Migration</a:t>
            </a:r>
            <a:endParaRPr dirty="0"/>
          </a:p>
        </p:txBody>
      </p:sp>
      <p:sp>
        <p:nvSpPr>
          <p:cNvPr id="3" name="TextBox 2"/>
          <p:cNvSpPr txBox="1"/>
          <p:nvPr/>
        </p:nvSpPr>
        <p:spPr>
          <a:xfrm>
            <a:off x="1488228" y="2818150"/>
            <a:ext cx="6167587" cy="954107"/>
          </a:xfrm>
          <a:prstGeom prst="rect">
            <a:avLst/>
          </a:prstGeom>
          <a:noFill/>
        </p:spPr>
        <p:txBody>
          <a:bodyPr wrap="none">
            <a:spAutoFit/>
          </a:bodyPr>
          <a:lstStyle/>
          <a:p>
            <a:pPr algn="ctr">
              <a:defRPr sz="2800">
                <a:solidFill>
                  <a:srgbClr val="323232"/>
                </a:solidFill>
              </a:defRPr>
            </a:pPr>
            <a:r>
              <a:rPr lang="en-US" dirty="0"/>
              <a:t>Preparing You and your Device </a:t>
            </a:r>
          </a:p>
          <a:p>
            <a:pPr algn="ctr">
              <a:defRPr sz="2800">
                <a:solidFill>
                  <a:srgbClr val="323232"/>
                </a:solidFill>
              </a:defRPr>
            </a:pPr>
            <a:r>
              <a:rPr lang="en-US" dirty="0"/>
              <a:t>for the Impact Property Solutions Tenant</a:t>
            </a:r>
          </a:p>
        </p:txBody>
      </p:sp>
      <p:sp>
        <p:nvSpPr>
          <p:cNvPr id="4" name="TextBox 3"/>
          <p:cNvSpPr txBox="1"/>
          <p:nvPr/>
        </p:nvSpPr>
        <p:spPr>
          <a:xfrm>
            <a:off x="3993957" y="3772257"/>
            <a:ext cx="1156086" cy="307777"/>
          </a:xfrm>
          <a:prstGeom prst="rect">
            <a:avLst/>
          </a:prstGeom>
          <a:noFill/>
        </p:spPr>
        <p:txBody>
          <a:bodyPr wrap="none">
            <a:spAutoFit/>
          </a:bodyPr>
          <a:lstStyle/>
          <a:p>
            <a:pPr algn="ctr">
              <a:defRPr sz="1400">
                <a:solidFill>
                  <a:srgbClr val="969696"/>
                </a:solidFill>
              </a:defRPr>
            </a:pPr>
            <a:r>
              <a:rPr dirty="0"/>
              <a:t>January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970318"/>
          </a:xfrm>
          <a:prstGeom prst="rect">
            <a:avLst/>
          </a:prstGeom>
          <a:noFill/>
        </p:spPr>
        <p:txBody>
          <a:bodyPr wrap="square">
            <a:spAutoFit/>
          </a:bodyPr>
          <a:lstStyle/>
          <a:p>
            <a:pPr>
              <a:defRPr sz="2400" b="1">
                <a:solidFill>
                  <a:srgbClr val="0078D4"/>
                </a:solidFill>
              </a:defRPr>
            </a:pPr>
            <a:r>
              <a:rPr dirty="0"/>
              <a:t>OneDrive Setup &amp; File Sync</a:t>
            </a:r>
          </a:p>
          <a:p>
            <a:pPr lvl="1">
              <a:defRPr sz="1800" b="0"/>
            </a:pPr>
            <a:r>
              <a:rPr dirty="0"/>
              <a:t>Your Desktop, Documents, and Pictures folders</a:t>
            </a:r>
          </a:p>
          <a:p>
            <a:pPr>
              <a:defRPr sz="2400" b="1">
                <a:solidFill>
                  <a:srgbClr val="0078D4"/>
                </a:solidFill>
              </a:defRPr>
            </a:pPr>
            <a:r>
              <a:rPr dirty="0"/>
              <a:t>Browser Profile</a:t>
            </a:r>
          </a:p>
          <a:p>
            <a:pPr lvl="1">
              <a:defRPr sz="1800" b="0"/>
            </a:pPr>
            <a:r>
              <a:rPr dirty="0"/>
              <a:t>Bookmarks, passwords, and settings</a:t>
            </a:r>
          </a:p>
          <a:p>
            <a:pPr>
              <a:defRPr sz="2400" b="1">
                <a:solidFill>
                  <a:srgbClr val="0078D4"/>
                </a:solidFill>
              </a:defRPr>
            </a:pPr>
            <a:r>
              <a:rPr dirty="0"/>
              <a:t>Printer Configurations</a:t>
            </a:r>
          </a:p>
          <a:p>
            <a:pPr lvl="1">
              <a:defRPr sz="1800" b="0"/>
            </a:pPr>
            <a:r>
              <a:rPr dirty="0"/>
              <a:t>Screenshot of all mapped printers</a:t>
            </a:r>
          </a:p>
          <a:p>
            <a:pPr>
              <a:defRPr sz="2400" b="1">
                <a:solidFill>
                  <a:srgbClr val="0078D4"/>
                </a:solidFill>
              </a:defRPr>
            </a:pPr>
            <a:r>
              <a:rPr dirty="0" err="1"/>
              <a:t>WiFi</a:t>
            </a:r>
            <a:r>
              <a:rPr dirty="0"/>
              <a:t> Network Information</a:t>
            </a:r>
          </a:p>
          <a:p>
            <a:pPr lvl="1">
              <a:defRPr sz="1800" b="0"/>
            </a:pPr>
            <a:r>
              <a:rPr dirty="0"/>
              <a:t>For quick reconnection after reset</a:t>
            </a:r>
          </a:p>
          <a:p>
            <a:pPr>
              <a:defRPr sz="2400" b="1">
                <a:solidFill>
                  <a:srgbClr val="0078D4"/>
                </a:solidFill>
              </a:defRPr>
            </a:pPr>
            <a:r>
              <a:rPr dirty="0"/>
              <a:t>Outlook Data Files (if applicable)</a:t>
            </a:r>
          </a:p>
          <a:p>
            <a:pPr lvl="1">
              <a:defRPr sz="1800" b="0"/>
            </a:pPr>
            <a:r>
              <a:rPr dirty="0"/>
              <a:t>Personal email archives (PST files)</a:t>
            </a:r>
          </a:p>
          <a:p>
            <a:pPr>
              <a:defRPr sz="2400" b="1">
                <a:solidFill>
                  <a:srgbClr val="0078D4"/>
                </a:solidFill>
              </a:defRPr>
            </a:pPr>
            <a:r>
              <a:rPr dirty="0"/>
              <a:t>iOS Device Backup (if applicable)</a:t>
            </a:r>
          </a:p>
          <a:p>
            <a:pPr lvl="1">
              <a:defRPr sz="1800" b="0"/>
            </a:pPr>
            <a:r>
              <a:rPr dirty="0"/>
              <a:t>iPhone or iPad via Apple Devices app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1: 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1371600" y="1645920"/>
            <a:ext cx="6400800" cy="2308324"/>
          </a:xfrm>
          <a:prstGeom prst="rect">
            <a:avLst/>
          </a:prstGeom>
          <a:noFill/>
        </p:spPr>
        <p:txBody>
          <a:bodyPr wrap="square">
            <a:spAutoFit/>
          </a:bodyPr>
          <a:lstStyle/>
          <a:p>
            <a:pPr marL="342900" indent="-342900">
              <a:buFont typeface="+mj-lt"/>
              <a:buAutoNum type="arabicPeriod"/>
              <a:defRPr sz="1800" b="0"/>
            </a:pPr>
            <a:r>
              <a:rPr dirty="0"/>
              <a:t>Find OneDrive icon in system tray (cloud icon, bottom right)</a:t>
            </a:r>
          </a:p>
          <a:p>
            <a:pPr marL="342900" indent="-342900">
              <a:buFont typeface="+mj-lt"/>
              <a:buAutoNum type="arabicPeriod"/>
              <a:defRPr sz="1800" b="0"/>
            </a:pPr>
            <a:r>
              <a:rPr dirty="0"/>
              <a:t>Click icon → Sign in with </a:t>
            </a:r>
            <a:r>
              <a:rPr dirty="0" err="1"/>
              <a:t>INGINC.com</a:t>
            </a:r>
            <a:r>
              <a:rPr dirty="0"/>
              <a:t> account</a:t>
            </a:r>
          </a:p>
          <a:p>
            <a:pPr marL="342900" indent="-342900">
              <a:buFont typeface="+mj-lt"/>
              <a:buAutoNum type="arabicPeriod"/>
              <a:defRPr sz="1800" b="0"/>
            </a:pPr>
            <a:r>
              <a:rPr dirty="0"/>
              <a:t>Settings (gear) → Sync and backup → Manage backup</a:t>
            </a:r>
          </a:p>
          <a:p>
            <a:pPr marL="342900" indent="-342900">
              <a:buFont typeface="+mj-lt"/>
              <a:buAutoNum type="arabicPeriod"/>
              <a:defRPr sz="1800" b="1">
                <a:solidFill>
                  <a:srgbClr val="0078D4"/>
                </a:solidFill>
              </a:defRPr>
            </a:pPr>
            <a:r>
              <a:rPr dirty="0"/>
              <a:t>Enable all three folders:</a:t>
            </a:r>
          </a:p>
          <a:p>
            <a:pPr lvl="1">
              <a:defRPr sz="1800" b="0">
                <a:solidFill>
                  <a:srgbClr val="107C10"/>
                </a:solidFill>
              </a:defRPr>
            </a:pPr>
            <a:r>
              <a:rPr dirty="0"/>
              <a:t>✓ Desktop</a:t>
            </a:r>
          </a:p>
          <a:p>
            <a:pPr lvl="1">
              <a:defRPr sz="1800" b="0">
                <a:solidFill>
                  <a:srgbClr val="107C10"/>
                </a:solidFill>
              </a:defRPr>
            </a:pPr>
            <a:r>
              <a:rPr dirty="0"/>
              <a:t>✓ Documents</a:t>
            </a:r>
          </a:p>
          <a:p>
            <a:pPr lvl="1">
              <a:defRPr sz="1800" b="0">
                <a:solidFill>
                  <a:srgbClr val="107C10"/>
                </a:solidFill>
              </a:defRPr>
            </a:pPr>
            <a:r>
              <a:rPr dirty="0"/>
              <a:t>✓ Pictures</a:t>
            </a:r>
          </a:p>
          <a:p>
            <a:pPr marL="342900" indent="-342900">
              <a:buFont typeface="+mj-lt"/>
              <a:buAutoNum type="arabicPeriod"/>
              <a:defRPr sz="1800" b="1">
                <a:solidFill>
                  <a:srgbClr val="0078D4"/>
                </a:solidFill>
              </a:defRPr>
            </a:pPr>
            <a:r>
              <a:rPr dirty="0"/>
              <a:t>Click 'Start backup' and wait for green checkmark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2: Browser Profile Backup</a:t>
            </a:r>
          </a:p>
        </p:txBody>
      </p:sp>
      <p:sp>
        <p:nvSpPr>
          <p:cNvPr id="3" name="TextBox 2"/>
          <p:cNvSpPr txBox="1"/>
          <p:nvPr/>
        </p:nvSpPr>
        <p:spPr>
          <a:xfrm>
            <a:off x="326003" y="1097280"/>
            <a:ext cx="4428877" cy="1415772"/>
          </a:xfrm>
          <a:prstGeom prst="rect">
            <a:avLst/>
          </a:prstGeom>
          <a:noFill/>
        </p:spPr>
        <p:txBody>
          <a:bodyPr wrap="square">
            <a:spAutoFit/>
          </a:bodyPr>
          <a:lstStyle/>
          <a:p>
            <a:endParaRPr dirty="0"/>
          </a:p>
          <a:p>
            <a:pPr>
              <a:defRPr sz="2000" b="1">
                <a:solidFill>
                  <a:srgbClr val="0078D4"/>
                </a:solidFill>
              </a:defRPr>
            </a:pPr>
            <a:r>
              <a:rPr dirty="0"/>
              <a:t>Chrome / Edge:</a:t>
            </a:r>
          </a:p>
          <a:p>
            <a:pPr lvl="1">
              <a:defRPr sz="1600" b="0"/>
            </a:pPr>
            <a:r>
              <a:rPr dirty="0"/>
              <a:t>Menu → Settings</a:t>
            </a:r>
          </a:p>
          <a:p>
            <a:pPr lvl="1">
              <a:defRPr sz="1600" b="0"/>
            </a:pPr>
            <a:r>
              <a:rPr dirty="0"/>
              <a:t>Turn on sync</a:t>
            </a:r>
          </a:p>
          <a:p>
            <a:pPr lvl="1">
              <a:defRPr sz="1600" b="0"/>
            </a:pPr>
            <a:r>
              <a:rPr dirty="0"/>
              <a:t>Sign in with </a:t>
            </a:r>
            <a:r>
              <a:rPr lang="en-US" dirty="0"/>
              <a:t>your Company M365 Account</a:t>
            </a:r>
          </a:p>
        </p:txBody>
      </p:sp>
      <p:sp>
        <p:nvSpPr>
          <p:cNvPr id="4" name="TextBox 3"/>
          <p:cNvSpPr txBox="1"/>
          <p:nvPr/>
        </p:nvSpPr>
        <p:spPr>
          <a:xfrm>
            <a:off x="4754880" y="1097280"/>
            <a:ext cx="3657600" cy="2246769"/>
          </a:xfrm>
          <a:prstGeom prst="rect">
            <a:avLst/>
          </a:prstGeom>
          <a:noFill/>
        </p:spPr>
        <p:txBody>
          <a:bodyPr wrap="square">
            <a:spAutoFit/>
          </a:bodyPr>
          <a:lstStyle/>
          <a:p>
            <a:pPr>
              <a:defRPr sz="2000" b="1">
                <a:solidFill>
                  <a:srgbClr val="0078D4"/>
                </a:solidFill>
              </a:defRPr>
            </a:pPr>
            <a:r>
              <a:rPr dirty="0"/>
              <a:t>Export passwords:</a:t>
            </a:r>
          </a:p>
          <a:p>
            <a:pPr lvl="1">
              <a:defRPr sz="1600" b="0"/>
            </a:pPr>
            <a:r>
              <a:rPr dirty="0"/>
              <a:t>Settings → Passwords → Export</a:t>
            </a:r>
          </a:p>
          <a:p>
            <a:pPr lvl="1">
              <a:defRPr sz="1600" b="0"/>
            </a:pPr>
            <a:r>
              <a:rPr dirty="0"/>
              <a:t>Save CSV to OneDrive Documents</a:t>
            </a:r>
            <a:endParaRPr lang="en-US" dirty="0"/>
          </a:p>
          <a:p>
            <a:pPr>
              <a:defRPr sz="2000" b="1">
                <a:solidFill>
                  <a:srgbClr val="0078D4"/>
                </a:solidFill>
              </a:defRPr>
            </a:pPr>
            <a:endParaRPr lang="en-US" dirty="0"/>
          </a:p>
          <a:p>
            <a:pPr>
              <a:defRPr sz="2000" b="1">
                <a:solidFill>
                  <a:srgbClr val="0078D4"/>
                </a:solidFill>
              </a:defRPr>
            </a:pPr>
            <a:r>
              <a:rPr lang="en-US" dirty="0"/>
              <a:t>Export bookmarks:</a:t>
            </a:r>
          </a:p>
          <a:p>
            <a:pPr lvl="1">
              <a:defRPr sz="1600" b="0"/>
            </a:pPr>
            <a:r>
              <a:rPr lang="en-US" dirty="0"/>
              <a:t>Menu → Bookmarks → Export</a:t>
            </a:r>
          </a:p>
          <a:p>
            <a:pPr lvl="1">
              <a:defRPr sz="1600" b="0"/>
            </a:pPr>
            <a:r>
              <a:rPr lang="en-US" dirty="0"/>
              <a:t>Save to OneDrive Documents</a:t>
            </a:r>
          </a:p>
          <a:p>
            <a:pPr>
              <a:defRPr sz="1600" b="0"/>
            </a:pPr>
            <a:endParaRPr lang="en-US" dirty="0"/>
          </a:p>
        </p:txBody>
      </p:sp>
      <p:sp>
        <p:nvSpPr>
          <p:cNvPr id="5" name="TextBox 4"/>
          <p:cNvSpPr txBox="1"/>
          <p:nvPr/>
        </p:nvSpPr>
        <p:spPr>
          <a:xfrm>
            <a:off x="1371600" y="4640580"/>
            <a:ext cx="6400800" cy="457200"/>
          </a:xfrm>
          <a:prstGeom prst="rect">
            <a:avLst/>
          </a:prstGeom>
          <a:noFill/>
        </p:spPr>
        <p:txBody>
          <a:bodyPr wrap="none">
            <a:spAutoFit/>
          </a:bodyPr>
          <a:lstStyle/>
          <a:p>
            <a:pPr algn="ctr">
              <a:defRPr sz="1400">
                <a:solidFill>
                  <a:srgbClr val="FFB900"/>
                </a:solidFill>
              </a:defRPr>
            </a:pPr>
            <a:r>
              <a:rPr dirty="0"/>
              <a:t>⚠️ Delete password CSV files after restoration is confirmed</a:t>
            </a:r>
          </a:p>
        </p:txBody>
      </p:sp>
      <p:pic>
        <p:nvPicPr>
          <p:cNvPr id="1028" name="Picture 4" descr="How to Sync Page Tabs Between Google Chrome, Firefox, and Edge">
            <a:extLst>
              <a:ext uri="{FF2B5EF4-FFF2-40B4-BE49-F238E27FC236}">
                <a16:creationId xmlns:a16="http://schemas.microsoft.com/office/drawing/2014/main" id="{946157C4-1F22-B57E-294D-D958E76663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003" y="2978289"/>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0759" y="2814636"/>
            <a:ext cx="2468166" cy="1839516"/>
          </a:xfrm>
          <a:prstGeom prst="rect">
            <a:avLst/>
          </a:prstGeom>
        </p:spPr>
        <p:txBody>
          <a:bodyPr vert="horz" lIns="91440" tIns="45720" rIns="91440" bIns="45720" rtlCol="0" anchor="ctr">
            <a:normAutofit/>
          </a:bodyPr>
          <a:lstStyle/>
          <a:p>
            <a:pPr defTabSz="914400">
              <a:lnSpc>
                <a:spcPct val="90000"/>
              </a:lnSpc>
              <a:spcBef>
                <a:spcPct val="0"/>
              </a:spcBef>
              <a:spcAft>
                <a:spcPts val="600"/>
              </a:spcAft>
              <a:defRPr sz="4400" b="1">
                <a:solidFill>
                  <a:srgbClr val="0078D4"/>
                </a:solidFill>
              </a:defRPr>
            </a:pPr>
            <a:r>
              <a:rPr lang="en-US" sz="2700">
                <a:latin typeface="+mj-lt"/>
                <a:ea typeface="+mj-ea"/>
                <a:cs typeface="+mj-cs"/>
              </a:rPr>
              <a:t>Step 3: Printer Configuration</a:t>
            </a:r>
          </a:p>
        </p:txBody>
      </p:sp>
      <p:pic>
        <p:nvPicPr>
          <p:cNvPr id="4098" name="Picture 2" descr="How to Take Screenshot on Windows 11: 5 Easy Methods">
            <a:extLst>
              <a:ext uri="{FF2B5EF4-FFF2-40B4-BE49-F238E27FC236}">
                <a16:creationId xmlns:a16="http://schemas.microsoft.com/office/drawing/2014/main" id="{9EDBF8EA-D65E-5849-3CE7-B38E947F8F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677" b="9708"/>
          <a:stretch>
            <a:fillRect/>
          </a:stretch>
        </p:blipFill>
        <p:spPr bwMode="auto">
          <a:xfrm>
            <a:off x="20" y="10"/>
            <a:ext cx="9143980" cy="2782949"/>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167986" y="2814637"/>
            <a:ext cx="5614060" cy="1839515"/>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endParaRPr lang="en-US" sz="1300"/>
          </a:p>
          <a:p>
            <a:pPr indent="-228600" defTabSz="914400">
              <a:lnSpc>
                <a:spcPct val="90000"/>
              </a:lnSpc>
              <a:spcAft>
                <a:spcPts val="600"/>
              </a:spcAft>
              <a:buFont typeface="Arial" panose="020B0604020202020204" pitchFamily="34" charset="0"/>
              <a:buChar char="•"/>
              <a:defRPr sz="2200" b="1">
                <a:solidFill>
                  <a:srgbClr val="0078D4"/>
                </a:solidFill>
              </a:defRPr>
            </a:pPr>
            <a:r>
              <a:rPr lang="en-US" sz="1300"/>
              <a:t>Open Settings → Devices → Printers &amp; scanners</a:t>
            </a:r>
          </a:p>
          <a:p>
            <a:pPr indent="-228600" defTabSz="914400">
              <a:lnSpc>
                <a:spcPct val="90000"/>
              </a:lnSpc>
              <a:spcAft>
                <a:spcPts val="600"/>
              </a:spcAft>
              <a:buFont typeface="Arial" panose="020B0604020202020204" pitchFamily="34" charset="0"/>
              <a:buChar char="•"/>
              <a:defRPr sz="1800" b="0"/>
            </a:pPr>
            <a:endParaRPr lang="en-US" sz="1300"/>
          </a:p>
          <a:p>
            <a:pPr indent="-228600" defTabSz="914400">
              <a:lnSpc>
                <a:spcPct val="90000"/>
              </a:lnSpc>
              <a:spcAft>
                <a:spcPts val="600"/>
              </a:spcAft>
              <a:buFont typeface="Arial" panose="020B0604020202020204" pitchFamily="34" charset="0"/>
              <a:buChar char="•"/>
              <a:defRPr sz="2000" b="0"/>
            </a:pPr>
            <a:r>
              <a:rPr lang="en-US" sz="1300"/>
              <a:t>Take screenshot of all mapped printers:</a:t>
            </a:r>
          </a:p>
          <a:p>
            <a:pPr marL="742950" lvl="1" indent="-228600" defTabSz="914400">
              <a:lnSpc>
                <a:spcPct val="90000"/>
              </a:lnSpc>
              <a:spcAft>
                <a:spcPts val="600"/>
              </a:spcAft>
              <a:buFont typeface="Arial" panose="020B0604020202020204" pitchFamily="34" charset="0"/>
              <a:buChar char="•"/>
              <a:defRPr sz="1800" b="0"/>
            </a:pPr>
            <a:r>
              <a:rPr lang="en-US" sz="1300"/>
              <a:t>Press Win + Shift + S</a:t>
            </a:r>
          </a:p>
          <a:p>
            <a:pPr marL="742950" lvl="1" indent="-228600" defTabSz="914400">
              <a:lnSpc>
                <a:spcPct val="90000"/>
              </a:lnSpc>
              <a:spcAft>
                <a:spcPts val="600"/>
              </a:spcAft>
              <a:buFont typeface="Arial" panose="020B0604020202020204" pitchFamily="34" charset="0"/>
              <a:buChar char="•"/>
              <a:defRPr sz="1800" b="0"/>
            </a:pPr>
            <a:r>
              <a:rPr lang="en-US" sz="1300"/>
              <a:t>Select entire printer list</a:t>
            </a:r>
          </a:p>
          <a:p>
            <a:pPr marL="742950" lvl="1" indent="-228600" defTabSz="914400">
              <a:lnSpc>
                <a:spcPct val="90000"/>
              </a:lnSpc>
              <a:spcAft>
                <a:spcPts val="600"/>
              </a:spcAft>
              <a:buFont typeface="Arial" panose="020B0604020202020204" pitchFamily="34" charset="0"/>
              <a:buChar char="•"/>
              <a:defRPr sz="1800" b="0"/>
            </a:pPr>
            <a:r>
              <a:rPr lang="en-US" sz="1300"/>
              <a:t>Save to OneDrive &gt; Documents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4: WiFi Network Documentation</a:t>
            </a:r>
          </a:p>
        </p:txBody>
      </p:sp>
      <p:sp>
        <p:nvSpPr>
          <p:cNvPr id="3" name="TextBox 2"/>
          <p:cNvSpPr txBox="1"/>
          <p:nvPr/>
        </p:nvSpPr>
        <p:spPr>
          <a:xfrm>
            <a:off x="1828800" y="1371600"/>
            <a:ext cx="5486400" cy="2400657"/>
          </a:xfrm>
          <a:prstGeom prst="rect">
            <a:avLst/>
          </a:prstGeom>
          <a:noFill/>
        </p:spPr>
        <p:txBody>
          <a:bodyPr wrap="square">
            <a:spAutoFit/>
          </a:bodyPr>
          <a:lstStyle/>
          <a:p>
            <a:endParaRPr dirty="0"/>
          </a:p>
          <a:p>
            <a:pPr>
              <a:defRPr sz="1800" b="0"/>
            </a:pPr>
            <a:endParaRPr dirty="0"/>
          </a:p>
          <a:p>
            <a:pPr>
              <a:defRPr sz="2000" b="1">
                <a:solidFill>
                  <a:srgbClr val="0078D4"/>
                </a:solidFill>
              </a:defRPr>
            </a:pPr>
            <a:r>
              <a:rPr dirty="0"/>
              <a:t>Record the network name (SSID)</a:t>
            </a:r>
            <a:r>
              <a:rPr lang="en-US" dirty="0"/>
              <a:t> and Password</a:t>
            </a:r>
            <a:r>
              <a:rPr dirty="0"/>
              <a:t>:</a:t>
            </a:r>
          </a:p>
          <a:p>
            <a:pPr lvl="1">
              <a:defRPr sz="1800" b="0"/>
            </a:pPr>
            <a:r>
              <a:rPr dirty="0"/>
              <a:t>Network: _______________________</a:t>
            </a:r>
            <a:endParaRPr lang="en-US" dirty="0"/>
          </a:p>
          <a:p>
            <a:pPr lvl="1">
              <a:defRPr sz="1800" b="0"/>
            </a:pPr>
            <a:r>
              <a:rPr lang="en-US" dirty="0"/>
              <a:t>Password: _______________________</a:t>
            </a:r>
          </a:p>
          <a:p>
            <a:pPr>
              <a:defRPr sz="1800" b="0"/>
            </a:pPr>
            <a:endParaRPr lang="en-US" dirty="0"/>
          </a:p>
          <a:p>
            <a:pPr algn="ctr">
              <a:defRPr sz="1800" b="0"/>
            </a:pPr>
            <a:r>
              <a:rPr lang="en-US" sz="1100" dirty="0"/>
              <a:t>💡 Why this matters: You'll need to reconnect during device setup (OOBE). Having the exact network name ensures smooth reconnection.</a:t>
            </a:r>
          </a:p>
          <a:p>
            <a:pPr>
              <a:defRPr sz="1800" b="0"/>
            </a:pPr>
            <a:endParaRPr lang="en-US" dirty="0"/>
          </a:p>
        </p:txBody>
      </p:sp>
      <p:pic>
        <p:nvPicPr>
          <p:cNvPr id="3074" name="Picture 2" descr="Wifi Signal Icon Wireless Symbol Connection. Web Network ...">
            <a:extLst>
              <a:ext uri="{FF2B5EF4-FFF2-40B4-BE49-F238E27FC236}">
                <a16:creationId xmlns:a16="http://schemas.microsoft.com/office/drawing/2014/main" id="{0F1E6619-668F-741B-E27A-D04847D2B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3766801"/>
            <a:ext cx="1371600" cy="13766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5: Outlook Data Files (OST/PST)</a:t>
            </a:r>
          </a:p>
        </p:txBody>
      </p:sp>
      <p:sp>
        <p:nvSpPr>
          <p:cNvPr id="3" name="TextBox 2"/>
          <p:cNvSpPr txBox="1"/>
          <p:nvPr/>
        </p:nvSpPr>
        <p:spPr>
          <a:xfrm>
            <a:off x="1988600" y="1645920"/>
            <a:ext cx="5166799" cy="338554"/>
          </a:xfrm>
          <a:prstGeom prst="rect">
            <a:avLst/>
          </a:prstGeom>
          <a:noFill/>
        </p:spPr>
        <p:txBody>
          <a:bodyPr wrap="none">
            <a:spAutoFit/>
          </a:bodyPr>
          <a:lstStyle/>
          <a:p>
            <a:pPr algn="ctr">
              <a:defRPr sz="1600" b="1">
                <a:solidFill>
                  <a:srgbClr val="D13438"/>
                </a:solidFill>
              </a:defRPr>
            </a:pPr>
            <a:r>
              <a:rPr dirty="0"/>
              <a:t>⚠️ PST files are NOT backed up by OneDrive automatically</a:t>
            </a:r>
            <a:r>
              <a:rPr lang="en-US" dirty="0"/>
              <a:t>!</a:t>
            </a:r>
            <a:endParaRPr dirty="0"/>
          </a:p>
        </p:txBody>
      </p:sp>
      <p:sp>
        <p:nvSpPr>
          <p:cNvPr id="4" name="TextBox 3"/>
          <p:cNvSpPr txBox="1"/>
          <p:nvPr/>
        </p:nvSpPr>
        <p:spPr>
          <a:xfrm>
            <a:off x="67586" y="1920240"/>
            <a:ext cx="6400800" cy="3416320"/>
          </a:xfrm>
          <a:prstGeom prst="rect">
            <a:avLst/>
          </a:prstGeom>
          <a:noFill/>
        </p:spPr>
        <p:txBody>
          <a:bodyPr wrap="square">
            <a:spAutoFit/>
          </a:bodyPr>
          <a:lstStyle/>
          <a:p>
            <a:pPr marL="342900" indent="-342900">
              <a:buFont typeface="+mj-lt"/>
              <a:buAutoNum type="arabicPeriod"/>
              <a:defRPr sz="1800" b="0"/>
            </a:pPr>
            <a:r>
              <a:rPr lang="en-US" dirty="0"/>
              <a:t>Open Outlook </a:t>
            </a:r>
          </a:p>
          <a:p>
            <a:pPr marL="342900" indent="-342900">
              <a:buFont typeface="+mj-lt"/>
              <a:buAutoNum type="arabicPeriod"/>
              <a:defRPr sz="1800" b="0"/>
            </a:pPr>
            <a:r>
              <a:rPr lang="en-US" dirty="0"/>
              <a:t>Click on “Home”</a:t>
            </a:r>
          </a:p>
          <a:p>
            <a:pPr marL="342900" indent="-342900">
              <a:buFont typeface="+mj-lt"/>
              <a:buAutoNum type="arabicPeriod"/>
              <a:defRPr sz="1800" b="0"/>
            </a:pPr>
            <a:r>
              <a:rPr lang="en-US" dirty="0"/>
              <a:t>Click on “Account Settings”</a:t>
            </a:r>
          </a:p>
          <a:p>
            <a:pPr marL="342900" indent="-342900">
              <a:buFont typeface="+mj-lt"/>
              <a:buAutoNum type="arabicPeriod"/>
              <a:defRPr sz="1800" b="0"/>
            </a:pPr>
            <a:r>
              <a:rPr lang="en-US" dirty="0"/>
              <a:t>Click on the “Data Files” Tab</a:t>
            </a:r>
            <a:endParaRPr dirty="0"/>
          </a:p>
          <a:p>
            <a:pPr marL="342900" indent="-342900">
              <a:buFont typeface="+mj-lt"/>
              <a:buAutoNum type="arabicPeriod"/>
              <a:defRPr sz="1800" b="0">
                <a:solidFill>
                  <a:srgbClr val="0078D4"/>
                </a:solidFill>
              </a:defRPr>
            </a:pPr>
            <a:r>
              <a:rPr lang="en-US" dirty="0">
                <a:solidFill>
                  <a:srgbClr val="FF0000"/>
                </a:solidFill>
              </a:rPr>
              <a:t>If there are any items listed</a:t>
            </a:r>
          </a:p>
          <a:p>
            <a:pPr marL="742950" lvl="1" indent="-285750">
              <a:buFontTx/>
              <a:buChar char="-"/>
              <a:defRPr sz="1800" b="0">
                <a:solidFill>
                  <a:srgbClr val="0078D4"/>
                </a:solidFill>
              </a:defRPr>
            </a:pPr>
            <a:r>
              <a:rPr lang="en-US" dirty="0"/>
              <a:t>Click on “Open File Location”</a:t>
            </a:r>
          </a:p>
          <a:p>
            <a:pPr marL="742950" lvl="1" indent="-285750">
              <a:buFontTx/>
              <a:buChar char="-"/>
              <a:defRPr sz="1800" b="0">
                <a:solidFill>
                  <a:srgbClr val="0078D4"/>
                </a:solidFill>
              </a:defRPr>
            </a:pPr>
            <a:r>
              <a:rPr lang="en-US" dirty="0"/>
              <a:t>Select all Files </a:t>
            </a:r>
          </a:p>
          <a:p>
            <a:pPr marL="742950" lvl="1" indent="-285750">
              <a:buFontTx/>
              <a:buChar char="-"/>
              <a:defRPr sz="1800" b="0">
                <a:solidFill>
                  <a:srgbClr val="0078D4"/>
                </a:solidFill>
              </a:defRPr>
            </a:pPr>
            <a:r>
              <a:rPr lang="en-US" dirty="0"/>
              <a:t>Right-click → Cut → OneDrive Documents</a:t>
            </a:r>
          </a:p>
          <a:p>
            <a:pPr>
              <a:defRPr sz="1800" b="0">
                <a:solidFill>
                  <a:srgbClr val="0078D4"/>
                </a:solidFill>
              </a:defRPr>
            </a:pPr>
            <a:endParaRPr dirty="0"/>
          </a:p>
          <a:p>
            <a:pPr>
              <a:defRPr sz="1800" b="0">
                <a:solidFill>
                  <a:srgbClr val="107C10"/>
                </a:solidFill>
              </a:defRPr>
            </a:pPr>
            <a:r>
              <a:rPr dirty="0"/>
              <a:t>OST files (.</a:t>
            </a:r>
            <a:r>
              <a:rPr dirty="0" err="1"/>
              <a:t>ost</a:t>
            </a:r>
            <a:r>
              <a:rPr dirty="0"/>
              <a:t>) - No action needed (will be recreated)</a:t>
            </a:r>
          </a:p>
          <a:p>
            <a:pPr>
              <a:defRPr sz="1800" b="1">
                <a:solidFill>
                  <a:srgbClr val="D13438"/>
                </a:solidFill>
              </a:defRPr>
            </a:pPr>
            <a:r>
              <a:rPr dirty="0"/>
              <a:t>PST files (.</a:t>
            </a:r>
            <a:r>
              <a:rPr dirty="0" err="1"/>
              <a:t>pst</a:t>
            </a:r>
            <a:r>
              <a:rPr dirty="0"/>
              <a:t>) - MUST be copied to OneDrive Documents</a:t>
            </a:r>
          </a:p>
          <a:p>
            <a:pPr>
              <a:defRPr sz="1800" b="0"/>
            </a:pPr>
            <a:endParaRPr dirty="0"/>
          </a:p>
        </p:txBody>
      </p:sp>
      <p:pic>
        <p:nvPicPr>
          <p:cNvPr id="2052" name="Picture 4" descr="Search PST File in Outlook 2021, 2019, 2016, 2013 (Top Ways)">
            <a:extLst>
              <a:ext uri="{FF2B5EF4-FFF2-40B4-BE49-F238E27FC236}">
                <a16:creationId xmlns:a16="http://schemas.microsoft.com/office/drawing/2014/main" id="{B7029386-0222-0BE6-0924-338AAAD855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4996" y="1920240"/>
            <a:ext cx="4174808" cy="31173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Phase 1 Checklist</a:t>
            </a:r>
          </a:p>
        </p:txBody>
      </p:sp>
      <p:sp>
        <p:nvSpPr>
          <p:cNvPr id="3" name="TextBox 2"/>
          <p:cNvSpPr txBox="1"/>
          <p:nvPr/>
        </p:nvSpPr>
        <p:spPr>
          <a:xfrm>
            <a:off x="1371600" y="1097280"/>
            <a:ext cx="6400800" cy="2031325"/>
          </a:xfrm>
          <a:prstGeom prst="rect">
            <a:avLst/>
          </a:prstGeom>
          <a:noFill/>
        </p:spPr>
        <p:txBody>
          <a:bodyPr wrap="square">
            <a:spAutoFit/>
          </a:bodyPr>
          <a:lstStyle/>
          <a:p>
            <a:pPr>
              <a:defRPr sz="1800" b="1">
                <a:solidFill>
                  <a:srgbClr val="107C10"/>
                </a:solidFill>
              </a:defRPr>
            </a:pPr>
            <a:r>
              <a:rPr lang="en-US" dirty="0"/>
              <a:t>☐ OneDrive sync complete </a:t>
            </a:r>
          </a:p>
          <a:p>
            <a:pPr>
              <a:defRPr sz="1800" b="1">
                <a:solidFill>
                  <a:srgbClr val="107C10"/>
                </a:solidFill>
              </a:defRPr>
            </a:pPr>
            <a:r>
              <a:rPr dirty="0"/>
              <a:t>☐ Browser sync enabled</a:t>
            </a:r>
            <a:endParaRPr lang="en-US" dirty="0"/>
          </a:p>
          <a:p>
            <a:pPr>
              <a:defRPr sz="1800" b="1">
                <a:solidFill>
                  <a:srgbClr val="107C10"/>
                </a:solidFill>
              </a:defRPr>
            </a:pPr>
            <a:r>
              <a:rPr dirty="0"/>
              <a:t>☐ Browser bookmarks/passwords exported to OneDrive</a:t>
            </a:r>
            <a:endParaRPr lang="en-US" dirty="0"/>
          </a:p>
          <a:p>
            <a:pPr>
              <a:defRPr sz="1800" b="1">
                <a:solidFill>
                  <a:srgbClr val="107C10"/>
                </a:solidFill>
              </a:defRPr>
            </a:pPr>
            <a:r>
              <a:rPr dirty="0"/>
              <a:t>☐ Printer configuration screenshot saved</a:t>
            </a:r>
            <a:endParaRPr lang="en-US" dirty="0"/>
          </a:p>
          <a:p>
            <a:pPr>
              <a:defRPr sz="1800" b="1">
                <a:solidFill>
                  <a:srgbClr val="107C10"/>
                </a:solidFill>
              </a:defRPr>
            </a:pPr>
            <a:r>
              <a:rPr dirty="0"/>
              <a:t>☐ </a:t>
            </a:r>
            <a:r>
              <a:rPr dirty="0" err="1"/>
              <a:t>WiFi</a:t>
            </a:r>
            <a:r>
              <a:rPr dirty="0"/>
              <a:t> SSID recorded</a:t>
            </a:r>
            <a:endParaRPr lang="en-US" dirty="0"/>
          </a:p>
          <a:p>
            <a:pPr>
              <a:defRPr sz="1800" b="1">
                <a:solidFill>
                  <a:srgbClr val="107C10"/>
                </a:solidFill>
              </a:defRPr>
            </a:pPr>
            <a:r>
              <a:rPr dirty="0"/>
              <a:t>☐ Outlook PST files checked and moved (if applicable)</a:t>
            </a:r>
            <a:endParaRPr lang="en-US" dirty="0"/>
          </a:p>
          <a:p>
            <a:pPr>
              <a:defRPr sz="1800" b="1">
                <a:solidFill>
                  <a:srgbClr val="107C10"/>
                </a:solidFill>
              </a:defRPr>
            </a:pPr>
            <a:r>
              <a:rPr dirty="0"/>
              <a:t>☐ iOS backup verified or created (if applicable)</a:t>
            </a:r>
          </a:p>
        </p:txBody>
      </p:sp>
      <p:sp>
        <p:nvSpPr>
          <p:cNvPr id="4" name="TextBox 3"/>
          <p:cNvSpPr txBox="1"/>
          <p:nvPr/>
        </p:nvSpPr>
        <p:spPr>
          <a:xfrm>
            <a:off x="914400" y="4572000"/>
            <a:ext cx="7315200" cy="457200"/>
          </a:xfrm>
          <a:prstGeom prst="rect">
            <a:avLst/>
          </a:prstGeom>
          <a:noFill/>
        </p:spPr>
        <p:txBody>
          <a:bodyPr wrap="square">
            <a:spAutoFit/>
          </a:bodyPr>
          <a:lstStyle/>
          <a:p>
            <a:pPr algn="ctr">
              <a:defRPr sz="1800" b="1">
                <a:solidFill>
                  <a:srgbClr val="D13438"/>
                </a:solidFill>
              </a:defRPr>
            </a:pPr>
            <a:r>
              <a:t>🛑 DO NOT request device reset until ALL items above are 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2581</Words>
  <Application>Microsoft Macintosh PowerPoint</Application>
  <PresentationFormat>On-screen Show (16:9)</PresentationFormat>
  <Paragraphs>276</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Suleman Manji</cp:lastModifiedBy>
  <cp:revision>5</cp:revision>
  <dcterms:created xsi:type="dcterms:W3CDTF">2013-01-27T09:14:16Z</dcterms:created>
  <dcterms:modified xsi:type="dcterms:W3CDTF">2026-01-13T18:57:23Z</dcterms:modified>
  <cp:category/>
</cp:coreProperties>
</file>