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4" r:id="rId9"/>
    <p:sldId id="289" r:id="rId10"/>
    <p:sldId id="290" r:id="rId11"/>
    <p:sldId id="266" r:id="rId12"/>
    <p:sldId id="271" r:id="rId13"/>
    <p:sldId id="272" r:id="rId14"/>
    <p:sldId id="273" r:id="rId15"/>
    <p:sldId id="269" r:id="rId16"/>
    <p:sldId id="275" r:id="rId17"/>
    <p:sldId id="274" r:id="rId18"/>
    <p:sldId id="292" r:id="rId19"/>
    <p:sldId id="293" r:id="rId20"/>
    <p:sldId id="294" r:id="rId21"/>
    <p:sldId id="276" r:id="rId22"/>
    <p:sldId id="277" r:id="rId23"/>
    <p:sldId id="278" r:id="rId24"/>
    <p:sldId id="267" r:id="rId25"/>
    <p:sldId id="268" r:id="rId26"/>
    <p:sldId id="279" r:id="rId27"/>
    <p:sldId id="280" r:id="rId28"/>
    <p:sldId id="282" r:id="rId29"/>
    <p:sldId id="283" r:id="rId30"/>
    <p:sldId id="284" r:id="rId31"/>
    <p:sldId id="285" r:id="rId32"/>
    <p:sldId id="286" r:id="rId33"/>
    <p:sldId id="287" r:id="rId34"/>
    <p:sldId id="291" r:id="rId35"/>
    <p:sldId id="297" r:id="rId36"/>
    <p:sldId id="288" r:id="rId3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503"/>
    <p:restoredTop sz="75835"/>
  </p:normalViewPr>
  <p:slideViewPr>
    <p:cSldViewPr snapToGrid="0" snapToObjects="1">
      <p:cViewPr varScale="1">
        <p:scale>
          <a:sx n="135" d="100"/>
          <a:sy n="135" d="100"/>
        </p:scale>
        <p:origin x="169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0D68D-5B5C-6FD4-CB7F-96E9DF6A8A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7E849-661F-4BF2-6DB2-EEAC888703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486DE3-DE2A-2750-2480-D8F84DA86644}"/>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83D74597-37EE-DAF6-2D65-9E3E30FEF803}"/>
              </a:ext>
            </a:extLst>
          </p:cNvPr>
          <p:cNvSpPr>
            <a:spLocks noGrp="1"/>
          </p:cNvSpPr>
          <p:nvPr>
            <p:ph type="sldNum" sz="quarter" idx="5"/>
          </p:nvPr>
        </p:nvSpPr>
        <p:spPr/>
      </p:sp>
    </p:spTree>
    <p:extLst>
      <p:ext uri="{BB962C8B-B14F-4D97-AF65-F5344CB8AC3E}">
        <p14:creationId xmlns:p14="http://schemas.microsoft.com/office/powerpoint/2010/main" val="3234574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8CAA1-F2CD-4759-4324-A33D49964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4C057-37BD-01D7-D2D4-49B07DA4A5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E6BE0C-D8DD-7EE2-56F2-B87F1B94D21D}"/>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EDFC5687-140B-6E0A-7648-C1623D484BB0}"/>
              </a:ext>
            </a:extLst>
          </p:cNvPr>
          <p:cNvSpPr>
            <a:spLocks noGrp="1"/>
          </p:cNvSpPr>
          <p:nvPr>
            <p:ph type="sldNum" sz="quarter" idx="5"/>
          </p:nvPr>
        </p:nvSpPr>
        <p:spPr/>
      </p:sp>
    </p:spTree>
    <p:extLst>
      <p:ext uri="{BB962C8B-B14F-4D97-AF65-F5344CB8AC3E}">
        <p14:creationId xmlns:p14="http://schemas.microsoft.com/office/powerpoint/2010/main" val="3982049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638205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hyperlink" Target="mailto:FirstName.LastName@impactpropertysolutions.com"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26.jpeg"/><Relationship Id="rId4" Type="http://schemas.openxmlformats.org/officeDocument/2006/relationships/image" Target="../media/image25.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323987"/>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r>
              <a:rPr lang="en-US"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0" y="1372137"/>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pic>
        <p:nvPicPr>
          <p:cNvPr id="5" name="Picture 4">
            <a:extLst>
              <a:ext uri="{FF2B5EF4-FFF2-40B4-BE49-F238E27FC236}">
                <a16:creationId xmlns:a16="http://schemas.microsoft.com/office/drawing/2014/main" id="{530FC905-3728-8A95-4EDE-2A1C07482BFF}"/>
              </a:ext>
            </a:extLst>
          </p:cNvPr>
          <p:cNvPicPr>
            <a:picLocks noChangeAspect="1"/>
          </p:cNvPicPr>
          <p:nvPr/>
        </p:nvPicPr>
        <p:blipFill>
          <a:blip r:embed="rId3"/>
          <a:stretch>
            <a:fillRect/>
          </a:stretch>
        </p:blipFill>
        <p:spPr>
          <a:xfrm>
            <a:off x="6201397" y="3383895"/>
            <a:ext cx="2868087" cy="1690409"/>
          </a:xfrm>
          <a:prstGeom prst="rect">
            <a:avLst/>
          </a:prstGeom>
        </p:spPr>
      </p:pic>
      <p:pic>
        <p:nvPicPr>
          <p:cNvPr id="7" name="Picture 6">
            <a:extLst>
              <a:ext uri="{FF2B5EF4-FFF2-40B4-BE49-F238E27FC236}">
                <a16:creationId xmlns:a16="http://schemas.microsoft.com/office/drawing/2014/main" id="{F6FBC68D-44F7-11E5-3BBB-5CC72609D2FC}"/>
              </a:ext>
            </a:extLst>
          </p:cNvPr>
          <p:cNvPicPr>
            <a:picLocks noChangeAspect="1"/>
          </p:cNvPicPr>
          <p:nvPr/>
        </p:nvPicPr>
        <p:blipFill>
          <a:blip r:embed="rId4"/>
          <a:stretch>
            <a:fillRect/>
          </a:stretch>
        </p:blipFill>
        <p:spPr>
          <a:xfrm>
            <a:off x="74516" y="3645301"/>
            <a:ext cx="2660973" cy="13938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1754326"/>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287B1-C527-A8F5-ED56-BB57467337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242FC9-5DB0-73FE-6759-2DF22EB94DAC}"/>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F526D459-2BD9-46FA-4C06-5267F23CF479}"/>
              </a:ext>
            </a:extLst>
          </p:cNvPr>
          <p:cNvSpPr txBox="1"/>
          <p:nvPr/>
        </p:nvSpPr>
        <p:spPr>
          <a:xfrm>
            <a:off x="0" y="1043761"/>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a:t>
            </a:r>
            <a:r>
              <a:rPr lang="en-US" sz="2000" dirty="0"/>
              <a:t>if OneDrive is still Synchronizing 🛑</a:t>
            </a:r>
            <a:endParaRPr sz="2000" dirty="0"/>
          </a:p>
        </p:txBody>
      </p:sp>
      <p:pic>
        <p:nvPicPr>
          <p:cNvPr id="5" name="Picture 4">
            <a:extLst>
              <a:ext uri="{FF2B5EF4-FFF2-40B4-BE49-F238E27FC236}">
                <a16:creationId xmlns:a16="http://schemas.microsoft.com/office/drawing/2014/main" id="{F84F8434-FE5C-0397-99EA-792DB24DDC1D}"/>
              </a:ext>
            </a:extLst>
          </p:cNvPr>
          <p:cNvPicPr>
            <a:picLocks noChangeAspect="1"/>
          </p:cNvPicPr>
          <p:nvPr/>
        </p:nvPicPr>
        <p:blipFill>
          <a:blip r:embed="rId3"/>
          <a:stretch>
            <a:fillRect/>
          </a:stretch>
        </p:blipFill>
        <p:spPr>
          <a:xfrm>
            <a:off x="183823" y="1607795"/>
            <a:ext cx="5533534" cy="3261385"/>
          </a:xfrm>
          <a:prstGeom prst="rect">
            <a:avLst/>
          </a:prstGeom>
        </p:spPr>
      </p:pic>
      <p:pic>
        <p:nvPicPr>
          <p:cNvPr id="7" name="Picture 6">
            <a:extLst>
              <a:ext uri="{FF2B5EF4-FFF2-40B4-BE49-F238E27FC236}">
                <a16:creationId xmlns:a16="http://schemas.microsoft.com/office/drawing/2014/main" id="{F579D696-FB43-3735-88B3-0DA8273D04A4}"/>
              </a:ext>
            </a:extLst>
          </p:cNvPr>
          <p:cNvPicPr>
            <a:picLocks noChangeAspect="1"/>
          </p:cNvPicPr>
          <p:nvPr/>
        </p:nvPicPr>
        <p:blipFill>
          <a:blip r:embed="rId4"/>
          <a:stretch>
            <a:fillRect/>
          </a:stretch>
        </p:blipFill>
        <p:spPr>
          <a:xfrm>
            <a:off x="6543124" y="1588940"/>
            <a:ext cx="1653154" cy="3261385"/>
          </a:xfrm>
          <a:prstGeom prst="rect">
            <a:avLst/>
          </a:prstGeom>
        </p:spPr>
      </p:pic>
    </p:spTree>
    <p:extLst>
      <p:ext uri="{BB962C8B-B14F-4D97-AF65-F5344CB8AC3E}">
        <p14:creationId xmlns:p14="http://schemas.microsoft.com/office/powerpoint/2010/main" val="33988746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EBA9-DB00-E466-B1CE-6B1445CE36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A180DA9-76E8-337D-866E-173A60CFC432}"/>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9BC3D6BD-4FE3-409E-A447-D07CB7C2D308}"/>
              </a:ext>
            </a:extLst>
          </p:cNvPr>
          <p:cNvSpPr txBox="1"/>
          <p:nvPr/>
        </p:nvSpPr>
        <p:spPr>
          <a:xfrm>
            <a:off x="2941162" y="1043761"/>
            <a:ext cx="6202837" cy="400110"/>
          </a:xfrm>
          <a:prstGeom prst="rect">
            <a:avLst/>
          </a:prstGeom>
          <a:noFill/>
        </p:spPr>
        <p:txBody>
          <a:bodyPr wrap="square">
            <a:spAutoFit/>
          </a:bodyPr>
          <a:lstStyle/>
          <a:p>
            <a:pPr algn="ctr">
              <a:defRPr sz="1800" b="1">
                <a:solidFill>
                  <a:srgbClr val="D13438"/>
                </a:solidFill>
              </a:defRPr>
            </a:pPr>
            <a:r>
              <a:rPr lang="en-US" sz="2000" dirty="0"/>
              <a:t>Right-</a:t>
            </a:r>
            <a:endParaRPr sz="2000" dirty="0"/>
          </a:p>
        </p:txBody>
      </p:sp>
    </p:spTree>
    <p:extLst>
      <p:ext uri="{BB962C8B-B14F-4D97-AF65-F5344CB8AC3E}">
        <p14:creationId xmlns:p14="http://schemas.microsoft.com/office/powerpoint/2010/main" val="4169804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369393" y="1645920"/>
            <a:ext cx="8671661" cy="1754326"/>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marL="0" indent="0" algn="ctr">
              <a:buNone/>
              <a:defRPr sz="4400" b="1">
                <a:solidFill>
                  <a:srgbClr val="0078D4"/>
                </a:solidFill>
              </a:defRPr>
            </a:pPr>
            <a:r>
              <a:t>Setting Up Your Edge Profile</a:t>
            </a:r>
          </a:p>
        </p:txBody>
      </p:sp>
      <p:sp>
        <p:nvSpPr>
          <p:cNvPr id="3" name="TextBox 2"/>
          <p:cNvSpPr txBox="1"/>
          <p:nvPr/>
        </p:nvSpPr>
        <p:spPr>
          <a:xfrm>
            <a:off x="1371600" y="1097280"/>
            <a:ext cx="6858000" cy="2031325"/>
          </a:xfrm>
          <a:prstGeom prst="rect">
            <a:avLst/>
          </a:prstGeom>
          <a:noFill/>
        </p:spPr>
        <p:txBody>
          <a:bodyPr wrap="square">
            <a:spAutoFit/>
          </a:bodyPr>
          <a:lstStyle/>
          <a:p>
            <a:pPr marL="0" indent="0">
              <a:buNone/>
              <a:defRPr sz="2400" b="1">
                <a:solidFill>
                  <a:srgbClr val="0078D4"/>
                </a:solidFill>
              </a:defRPr>
            </a:pPr>
            <a:r>
              <a:rPr dirty="0"/>
              <a:t>Your New Work Account</a:t>
            </a:r>
          </a:p>
          <a:p>
            <a:pPr lvl="1"/>
            <a:r>
              <a:rPr dirty="0" err="1"/>
              <a:t>FirstName.LastName@impactpropertysolutions.com</a:t>
            </a:r>
            <a:endParaRPr dirty="0"/>
          </a:p>
          <a:p>
            <a:pPr>
              <a:defRPr sz="2400" b="1">
                <a:solidFill>
                  <a:srgbClr val="0078D4"/>
                </a:solidFill>
              </a:defRPr>
            </a:pPr>
            <a:r>
              <a:rPr lang="en-US" dirty="0"/>
              <a:t>Your Temporary Password</a:t>
            </a:r>
          </a:p>
          <a:p>
            <a:pPr lvl="1"/>
            <a:r>
              <a:rPr dirty="0"/>
              <a:t>TempPass123!</a:t>
            </a:r>
            <a:endParaRPr lang="en-US" dirty="0"/>
          </a:p>
          <a:p>
            <a:pPr>
              <a:defRPr sz="2400" b="1">
                <a:solidFill>
                  <a:srgbClr val="0078D4"/>
                </a:solidFill>
              </a:defRPr>
            </a:pPr>
            <a:r>
              <a:rPr lang="en-US" dirty="0"/>
              <a:t>What this Does</a:t>
            </a:r>
          </a:p>
          <a:p>
            <a:pPr lvl="1"/>
            <a:r>
              <a:rPr dirty="0"/>
              <a:t>Syncs bookmarks, passwords, and settings to your work profile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Open Microsoft Edge</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Launch Edge from your taskbar or Start menu</a:t>
            </a:r>
          </a:p>
        </p:txBody>
      </p:sp>
      <p:pic>
        <p:nvPicPr>
          <p:cNvPr id="3076" name="Picture 4" descr="Microsoft Edge in Windows 10">
            <a:extLst>
              <a:ext uri="{FF2B5EF4-FFF2-40B4-BE49-F238E27FC236}">
                <a16:creationId xmlns:a16="http://schemas.microsoft.com/office/drawing/2014/main" id="{2C206E59-95F0-2C05-93EF-A2C191E750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634" y="1463040"/>
            <a:ext cx="3892731" cy="34061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Access Profile Settings</a:t>
            </a:r>
          </a:p>
        </p:txBody>
      </p:sp>
      <p:sp>
        <p:nvSpPr>
          <p:cNvPr id="3" name="TextBox 2"/>
          <p:cNvSpPr txBox="1"/>
          <p:nvPr/>
        </p:nvSpPr>
        <p:spPr>
          <a:xfrm>
            <a:off x="0" y="914400"/>
            <a:ext cx="8938450" cy="338554"/>
          </a:xfrm>
          <a:prstGeom prst="rect">
            <a:avLst/>
          </a:prstGeom>
          <a:noFill/>
        </p:spPr>
        <p:txBody>
          <a:bodyPr wrap="square">
            <a:spAutoFit/>
          </a:bodyPr>
          <a:lstStyle/>
          <a:p>
            <a:pPr algn="ctr">
              <a:defRPr sz="1600" b="1">
                <a:solidFill>
                  <a:srgbClr val="D13438"/>
                </a:solidFill>
              </a:defRPr>
            </a:pPr>
            <a:r>
              <a:rPr lang="en-US" dirty="0"/>
              <a:t>Use </a:t>
            </a:r>
            <a:r>
              <a:rPr lang="en-US" dirty="0">
                <a:hlinkClick r:id="rId3"/>
              </a:rPr>
              <a:t>FirstName.LastName@impactpropertysolutions.com</a:t>
            </a:r>
            <a:r>
              <a:rPr lang="en-US" dirty="0"/>
              <a:t> / TempPass123!</a:t>
            </a:r>
            <a:endParaRPr dirty="0"/>
          </a:p>
        </p:txBody>
      </p:sp>
      <p:sp>
        <p:nvSpPr>
          <p:cNvPr id="4" name="TextBox 3"/>
          <p:cNvSpPr txBox="1"/>
          <p:nvPr/>
        </p:nvSpPr>
        <p:spPr>
          <a:xfrm>
            <a:off x="254525" y="1364456"/>
            <a:ext cx="4340320" cy="1754326"/>
          </a:xfrm>
          <a:prstGeom prst="rect">
            <a:avLst/>
          </a:prstGeom>
          <a:noFill/>
        </p:spPr>
        <p:txBody>
          <a:bodyPr wrap="square">
            <a:spAutoFit/>
          </a:bodyPr>
          <a:lstStyle/>
          <a:p>
            <a:pPr marL="365760" indent="-182880" algn="l">
              <a:defRPr sz="1800" b="0"/>
            </a:pPr>
            <a:r>
              <a:rPr dirty="0"/>
              <a:t>Look for the profile icon in the top right </a:t>
            </a:r>
            <a:endParaRPr lang="en-US" dirty="0"/>
          </a:p>
          <a:p>
            <a:pPr marL="468630" indent="-285750" algn="l">
              <a:buFont typeface="Arial" panose="020B0604020202020204" pitchFamily="34" charset="0"/>
              <a:buChar char="•"/>
              <a:defRPr sz="1800" b="0"/>
            </a:pPr>
            <a:r>
              <a:rPr dirty="0"/>
              <a:t>Click the profile icon to open the menu</a:t>
            </a:r>
          </a:p>
          <a:p>
            <a:pPr marL="365760" indent="-182880">
              <a:buChar char="•"/>
            </a:pPr>
            <a:r>
              <a:rPr dirty="0"/>
              <a:t>Click </a:t>
            </a:r>
            <a:r>
              <a:rPr lang="en-US" dirty="0"/>
              <a:t>‘Other Profiles’</a:t>
            </a:r>
          </a:p>
          <a:p>
            <a:pPr marL="365760" indent="-182880">
              <a:buChar char="•"/>
            </a:pPr>
            <a:r>
              <a:rPr lang="en-US" dirty="0"/>
              <a:t>Click ‘Set up new work or school profile’</a:t>
            </a:r>
          </a:p>
          <a:p>
            <a:pPr marL="365760" indent="-182880">
              <a:buChar char="•"/>
            </a:pPr>
            <a:r>
              <a:rPr lang="en-US" dirty="0"/>
              <a:t>Step through the Sign-in to Sync Data</a:t>
            </a:r>
          </a:p>
          <a:p>
            <a:pPr marL="365760" indent="-182880">
              <a:buChar char="•"/>
            </a:pPr>
            <a:r>
              <a:rPr lang="en-US" dirty="0"/>
              <a:t>Use: TempPass123!</a:t>
            </a:r>
          </a:p>
        </p:txBody>
      </p:sp>
      <p:pic>
        <p:nvPicPr>
          <p:cNvPr id="5" name="Picture 4">
            <a:extLst>
              <a:ext uri="{FF2B5EF4-FFF2-40B4-BE49-F238E27FC236}">
                <a16:creationId xmlns:a16="http://schemas.microsoft.com/office/drawing/2014/main" id="{A6E6A29D-7E1D-6FEF-3B71-BF1291F128FC}"/>
              </a:ext>
            </a:extLst>
          </p:cNvPr>
          <p:cNvPicPr>
            <a:picLocks noChangeAspect="1"/>
          </p:cNvPicPr>
          <p:nvPr/>
        </p:nvPicPr>
        <p:blipFill>
          <a:blip r:embed="rId4"/>
          <a:stretch>
            <a:fillRect/>
          </a:stretch>
        </p:blipFill>
        <p:spPr>
          <a:xfrm>
            <a:off x="4803680" y="1308761"/>
            <a:ext cx="4340320" cy="3560419"/>
          </a:xfrm>
          <a:prstGeom prst="rect">
            <a:avLst/>
          </a:prstGeom>
        </p:spPr>
      </p:pic>
      <p:pic>
        <p:nvPicPr>
          <p:cNvPr id="6" name="Picture 5">
            <a:extLst>
              <a:ext uri="{FF2B5EF4-FFF2-40B4-BE49-F238E27FC236}">
                <a16:creationId xmlns:a16="http://schemas.microsoft.com/office/drawing/2014/main" id="{ADC4F284-0029-5B59-473C-7D703070B608}"/>
              </a:ext>
            </a:extLst>
          </p:cNvPr>
          <p:cNvPicPr>
            <a:picLocks noChangeAspect="1"/>
          </p:cNvPicPr>
          <p:nvPr/>
        </p:nvPicPr>
        <p:blipFill>
          <a:blip r:embed="rId5"/>
          <a:stretch>
            <a:fillRect/>
          </a:stretch>
        </p:blipFill>
        <p:spPr>
          <a:xfrm>
            <a:off x="379068" y="2571750"/>
            <a:ext cx="4091233" cy="256341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CF693E3-B38F-7B60-0F49-8907EB5A332B}"/>
              </a:ext>
            </a:extLst>
          </p:cNvPr>
          <p:cNvSpPr txBox="1"/>
          <p:nvPr/>
        </p:nvSpPr>
        <p:spPr>
          <a:xfrm>
            <a:off x="1230806" y="1094422"/>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
        <p:nvSpPr>
          <p:cNvPr id="10" name="TextBox 9">
            <a:extLst>
              <a:ext uri="{FF2B5EF4-FFF2-40B4-BE49-F238E27FC236}">
                <a16:creationId xmlns:a16="http://schemas.microsoft.com/office/drawing/2014/main" id="{F75D75D6-E01D-92C3-D902-8AB1B22D772A}"/>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Out of Box Experience (OOBE)</a:t>
            </a:r>
            <a:endParaRPr dirty="0"/>
          </a:p>
        </p:txBody>
      </p:sp>
    </p:spTree>
    <p:extLst>
      <p:ext uri="{BB962C8B-B14F-4D97-AF65-F5344CB8AC3E}">
        <p14:creationId xmlns:p14="http://schemas.microsoft.com/office/powerpoint/2010/main" val="1340461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pic>
        <p:nvPicPr>
          <p:cNvPr id="1028" name="Picture 4" descr="What's new with the out-of-box experience (OOBE) on Windows 11 | Windows  Central">
            <a:extLst>
              <a:ext uri="{FF2B5EF4-FFF2-40B4-BE49-F238E27FC236}">
                <a16:creationId xmlns:a16="http://schemas.microsoft.com/office/drawing/2014/main" id="{2D58E1B3-4223-E01C-C24D-DEF9A79FD8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380" y="2614215"/>
            <a:ext cx="6013240" cy="225496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Select US from the keyboard layout list</a:t>
            </a:r>
          </a:p>
          <a:p>
            <a:pPr marL="365760" indent="-182880" algn="l">
              <a:buChar char="•"/>
            </a:pPr>
            <a:r>
              <a:rPr dirty="0"/>
              <a:t>Click Yes to confirm</a:t>
            </a:r>
          </a:p>
          <a:p>
            <a:pPr marL="365760" indent="-182880" algn="l">
              <a:buChar char="•"/>
            </a:pPr>
            <a:r>
              <a:rPr dirty="0"/>
              <a:t>When asked about second keyboard layout:</a:t>
            </a:r>
          </a:p>
          <a:p>
            <a:pPr marL="0" indent="0">
              <a:buNone/>
            </a:pPr>
            <a:r>
              <a:rPr dirty="0"/>
              <a:t>Click Skip (not needed for most users)</a:t>
            </a:r>
          </a:p>
        </p:txBody>
      </p:sp>
      <p:pic>
        <p:nvPicPr>
          <p:cNvPr id="2052" name="Picture 4" descr="SCCM Customize Windows Out Of Box Experience OOBE Using ConfigMgr HTMD Blog">
            <a:extLst>
              <a:ext uri="{FF2B5EF4-FFF2-40B4-BE49-F238E27FC236}">
                <a16:creationId xmlns:a16="http://schemas.microsoft.com/office/drawing/2014/main" id="{847407CD-8957-9498-293C-6C8D51C4A9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7627" y="2861587"/>
            <a:ext cx="2906332" cy="21853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pic>
        <p:nvPicPr>
          <p:cNvPr id="3074" name="Picture 2" descr="Windows 10 OOBE screen details | Microsoft Learn">
            <a:extLst>
              <a:ext uri="{FF2B5EF4-FFF2-40B4-BE49-F238E27FC236}">
                <a16:creationId xmlns:a16="http://schemas.microsoft.com/office/drawing/2014/main" id="{C9D14303-F480-8AFF-7D35-9C4EF14FD9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4850" y="2571750"/>
            <a:ext cx="3256346" cy="253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0" y="2089192"/>
            <a:ext cx="4959560" cy="1477328"/>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a:t>
            </a:r>
            <a:endParaRPr lang="en-US" dirty="0">
              <a:hlinkClick r:id="rId2"/>
            </a:endParaRPr>
          </a:p>
          <a:p>
            <a:pPr marL="365760" indent="-182880" algn="l">
              <a:defRPr sz="1800" b="0"/>
            </a:pPr>
            <a:r>
              <a:rPr lang="en-US" dirty="0">
                <a:hlinkClick r:id="rId2"/>
              </a:rPr>
              <a:t>	</a:t>
            </a:r>
            <a:r>
              <a:rPr dirty="0">
                <a:hlinkClick r:id="rId2"/>
              </a:rPr>
              <a:t>@impactpropertysolutions.com</a:t>
            </a:r>
            <a:endParaRPr lang="en-US" dirty="0"/>
          </a:p>
        </p:txBody>
      </p:sp>
      <p:pic>
        <p:nvPicPr>
          <p:cNvPr id="4098" name="Picture 2" descr="Windows 11 New OOBE Experience! — Mauvlan's Ramblings">
            <a:extLst>
              <a:ext uri="{FF2B5EF4-FFF2-40B4-BE49-F238E27FC236}">
                <a16:creationId xmlns:a16="http://schemas.microsoft.com/office/drawing/2014/main" id="{699C7806-9FDC-FB3B-525C-71E8AFA182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1495" y="2110085"/>
            <a:ext cx="4899807" cy="923330"/>
          </a:xfrm>
          <a:prstGeom prst="rect">
            <a:avLst/>
          </a:prstGeom>
          <a:noFill/>
        </p:spPr>
        <p:txBody>
          <a:bodyPr wrap="square">
            <a:spAutoFit/>
          </a:bodyPr>
          <a:lstStyle/>
          <a:p>
            <a:pPr marL="365760" indent="-182880" algn="l">
              <a:defRPr sz="1800" b="0"/>
            </a:pPr>
            <a:r>
              <a:rPr dirty="0"/>
              <a:t>Enter your Microsoft 365 password</a:t>
            </a:r>
          </a:p>
          <a:p>
            <a:pPr marL="365760" indent="-182880" algn="l">
              <a:buChar char="•"/>
            </a:pPr>
            <a:r>
              <a:rPr dirty="0"/>
              <a:t>This is the same password you use for Outlook</a:t>
            </a:r>
          </a:p>
          <a:p>
            <a:pPr marL="365760" indent="-182880" algn="l">
              <a:buChar char="•"/>
            </a:pPr>
            <a:r>
              <a:rPr dirty="0"/>
              <a:t>Click Sign in</a:t>
            </a:r>
          </a:p>
        </p:txBody>
      </p:sp>
      <p:pic>
        <p:nvPicPr>
          <p:cNvPr id="5" name="Picture 2" descr="Windows 11 New OOBE Experience! — Mauvlan's Ramblings">
            <a:extLst>
              <a:ext uri="{FF2B5EF4-FFF2-40B4-BE49-F238E27FC236}">
                <a16:creationId xmlns:a16="http://schemas.microsoft.com/office/drawing/2014/main" id="{9023AEB0-D9B7-37BF-408C-C4D54FBFE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0" y="1570505"/>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pic>
        <p:nvPicPr>
          <p:cNvPr id="7" name="Picture 6">
            <a:extLst>
              <a:ext uri="{FF2B5EF4-FFF2-40B4-BE49-F238E27FC236}">
                <a16:creationId xmlns:a16="http://schemas.microsoft.com/office/drawing/2014/main" id="{69CBBC12-5FA3-26D5-2F90-319D42E06E3E}"/>
              </a:ext>
            </a:extLst>
          </p:cNvPr>
          <p:cNvPicPr>
            <a:picLocks noChangeAspect="1"/>
          </p:cNvPicPr>
          <p:nvPr/>
        </p:nvPicPr>
        <p:blipFill>
          <a:blip r:embed="rId3"/>
          <a:stretch>
            <a:fillRect/>
          </a:stretch>
        </p:blipFill>
        <p:spPr>
          <a:xfrm>
            <a:off x="5902897" y="1908036"/>
            <a:ext cx="3241103" cy="19102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rPr dirty="0"/>
              <a:t>Open Chrome or Edge browser</a:t>
            </a:r>
          </a:p>
          <a:p>
            <a:pPr marL="365760" indent="-182880" algn="l">
              <a:buChar char="•"/>
            </a:pPr>
            <a:r>
              <a:rPr dirty="0"/>
              <a:t>Click the profile icon (top right corner)</a:t>
            </a:r>
          </a:p>
          <a:p>
            <a:pPr marL="365760" indent="-182880" algn="l">
              <a:buChar char="•"/>
            </a:pPr>
            <a:r>
              <a:rPr dirty="0"/>
              <a:t>Click 'Turn on sync' or 'Sign in'</a:t>
            </a:r>
          </a:p>
          <a:p>
            <a:pPr marL="365760" indent="-182880" algn="l">
              <a:buChar char="•"/>
            </a:pPr>
            <a:r>
              <a:rPr dirty="0"/>
              <a:t>Sign in with: </a:t>
            </a:r>
            <a:r>
              <a:rPr dirty="0" err="1"/>
              <a:t>FirstName.LastName@impactpropertysolutions.com</a:t>
            </a:r>
            <a:endParaRPr dirty="0"/>
          </a:p>
          <a:p>
            <a:pPr marL="365760" indent="-182880" algn="l">
              <a:buChar char="•"/>
            </a:pPr>
            <a:r>
              <a:rPr dirty="0"/>
              <a:t>Click 'Yes, I'm in' to enable sync</a:t>
            </a:r>
          </a:p>
          <a:p>
            <a:pPr marL="0" indent="0">
              <a:buNone/>
            </a:pPr>
            <a:r>
              <a:rPr dirty="0"/>
              <a:t>✓ Bookmarks, passwords, and settings will restore automatically</a:t>
            </a:r>
          </a:p>
        </p:txBody>
      </p:sp>
      <p:pic>
        <p:nvPicPr>
          <p:cNvPr id="5" name="Picture 4" descr="How to Sync Page Tabs Between Google Chrome, Firefox, and Edge">
            <a:extLst>
              <a:ext uri="{FF2B5EF4-FFF2-40B4-BE49-F238E27FC236}">
                <a16:creationId xmlns:a16="http://schemas.microsoft.com/office/drawing/2014/main" id="{D59BFBB1-E5AF-161A-B12A-9A48ADE97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4464" y="2021881"/>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Open your printer screenshot from OneDrive → Documents</a:t>
            </a:r>
          </a:p>
          <a:p>
            <a:pPr marL="365760" indent="-182880" algn="l">
              <a:buChar char="•"/>
            </a:pPr>
            <a:r>
              <a:rPr dirty="0"/>
              <a:t>Go to Settings → Devices → Printers &amp; scanners</a:t>
            </a:r>
          </a:p>
          <a:p>
            <a:pPr marL="365760" indent="-182880" algn="l">
              <a:buChar char="•"/>
            </a:pPr>
            <a:r>
              <a:rPr dirty="0"/>
              <a:t>Click 'Add a printer or scanner'</a:t>
            </a:r>
          </a:p>
          <a:p>
            <a:pPr marL="365760" indent="-182880" algn="l">
              <a:buChar char="•"/>
            </a:pPr>
            <a:r>
              <a:rPr dirty="0"/>
              <a:t>Select each printer from the list that matches your screenshot</a:t>
            </a:r>
          </a:p>
          <a:p>
            <a:pPr marL="365760" indent="-182880" algn="l">
              <a:buChar char="•"/>
            </a:pPr>
            <a:r>
              <a:rPr dirty="0"/>
              <a:t>If printer not found, click 'The printer I want isn't listed'</a:t>
            </a:r>
          </a:p>
          <a:p>
            <a:pPr marL="742950" lvl="1" indent="-285750">
              <a:buFont typeface="Arial" panose="020B0604020202020204" pitchFamily="34" charset="0"/>
              <a:buChar char="•"/>
            </a:pPr>
            <a:r>
              <a:rPr dirty="0"/>
              <a:t>Enter printer IP address or name from screenshot</a:t>
            </a:r>
          </a:p>
          <a:p>
            <a:pPr marL="0" indent="0">
              <a:buNone/>
            </a:pPr>
            <a:endParaRPr lang="en-US" dirty="0"/>
          </a:p>
          <a:p>
            <a:pPr marL="0" indent="0">
              <a:buNone/>
            </a:pPr>
            <a:r>
              <a:rPr dirty="0"/>
              <a:t>💡 </a:t>
            </a:r>
            <a:r>
              <a:rPr lang="en-US" dirty="0"/>
              <a:t>Send a Message to Chat </a:t>
            </a:r>
            <a:r>
              <a:rPr dirty="0"/>
              <a:t>if you need help locating printers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7C2E47-CA81-5269-2740-8376A6F86BB6}"/>
              </a:ext>
            </a:extLst>
          </p:cNvPr>
          <p:cNvSpPr txBox="1"/>
          <p:nvPr/>
        </p:nvSpPr>
        <p:spPr>
          <a:xfrm>
            <a:off x="278090" y="1253766"/>
            <a:ext cx="8587819" cy="646331"/>
          </a:xfrm>
          <a:prstGeom prst="rect">
            <a:avLst/>
          </a:prstGeom>
          <a:noFill/>
        </p:spPr>
        <p:txBody>
          <a:bodyPr wrap="square">
            <a:spAutoFit/>
          </a:bodyPr>
          <a:lstStyle/>
          <a:p>
            <a:pPr algn="ctr">
              <a:defRPr sz="1800" b="1">
                <a:solidFill>
                  <a:srgbClr val="D13438"/>
                </a:solidFill>
              </a:defRPr>
            </a:pPr>
            <a:r>
              <a:rPr lang="en-US" sz="1800" dirty="0"/>
              <a:t>✅ Please take a </a:t>
            </a:r>
            <a:r>
              <a:rPr lang="en-US" dirty="0"/>
              <a:t>few moments to </a:t>
            </a:r>
            <a:r>
              <a:rPr lang="en-US" sz="1800" dirty="0"/>
              <a:t>work through Normal Workflows (Email, Teams, Printing, RFMS, Browser Apps, etc.) to help ensure issues are proactively identified ✅</a:t>
            </a:r>
          </a:p>
        </p:txBody>
      </p:sp>
      <p:sp>
        <p:nvSpPr>
          <p:cNvPr id="5" name="TextBox 4">
            <a:extLst>
              <a:ext uri="{FF2B5EF4-FFF2-40B4-BE49-F238E27FC236}">
                <a16:creationId xmlns:a16="http://schemas.microsoft.com/office/drawing/2014/main" id="{DE1C0B0B-6D0E-B2D5-1229-43B52BBCF474}"/>
              </a:ext>
            </a:extLst>
          </p:cNvPr>
          <p:cNvSpPr txBox="1"/>
          <p:nvPr/>
        </p:nvSpPr>
        <p:spPr>
          <a:xfrm>
            <a:off x="2285999" y="257112"/>
            <a:ext cx="4572000" cy="769441"/>
          </a:xfrm>
          <a:prstGeom prst="rect">
            <a:avLst/>
          </a:prstGeom>
          <a:noFill/>
        </p:spPr>
        <p:txBody>
          <a:bodyPr wrap="square">
            <a:spAutoFit/>
          </a:bodyPr>
          <a:lstStyle/>
          <a:p>
            <a:pPr marL="0" indent="0" algn="ctr">
              <a:buNone/>
              <a:defRPr sz="4400" b="1">
                <a:solidFill>
                  <a:srgbClr val="0078D4"/>
                </a:solidFill>
              </a:defRPr>
            </a:pPr>
            <a:r>
              <a:rPr lang="en-US" dirty="0"/>
              <a:t>Step 6:  Workflows</a:t>
            </a:r>
          </a:p>
        </p:txBody>
      </p:sp>
      <p:pic>
        <p:nvPicPr>
          <p:cNvPr id="6" name="Picture 4" descr="How to Sync Page Tabs Between Google Chrome, Firefox, and Edge">
            <a:extLst>
              <a:ext uri="{FF2B5EF4-FFF2-40B4-BE49-F238E27FC236}">
                <a16:creationId xmlns:a16="http://schemas.microsoft.com/office/drawing/2014/main" id="{720DCF07-50A2-D97F-7736-F640DCB63A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857" y="2127310"/>
            <a:ext cx="2771598" cy="145508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easure by RFMS (PC/Desktop) – RFMS">
            <a:extLst>
              <a:ext uri="{FF2B5EF4-FFF2-40B4-BE49-F238E27FC236}">
                <a16:creationId xmlns:a16="http://schemas.microsoft.com/office/drawing/2014/main" id="{162B1AC2-599F-3790-21B6-ABA3272777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0743" y="2116350"/>
            <a:ext cx="1501446" cy="74366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optimize your Microsoft 365 subscription for productivity">
            <a:extLst>
              <a:ext uri="{FF2B5EF4-FFF2-40B4-BE49-F238E27FC236}">
                <a16:creationId xmlns:a16="http://schemas.microsoft.com/office/drawing/2014/main" id="{8F41130A-5E80-FD92-9393-8B0B96CF9D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999" y="3320009"/>
            <a:ext cx="4571999" cy="18288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arn to Use SketchUp 3D Modeling Software in 17 Easy Steps - 3DPrint.com |  Additive Manufacturing Business">
            <a:extLst>
              <a:ext uri="{FF2B5EF4-FFF2-40B4-BE49-F238E27FC236}">
                <a16:creationId xmlns:a16="http://schemas.microsoft.com/office/drawing/2014/main" id="{E9D02689-8233-3FC1-ED3B-6DA6ADBE0F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6455" y="1928411"/>
            <a:ext cx="3289955" cy="1036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19280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Your New Password</a:t>
            </a:r>
          </a:p>
        </p:txBody>
      </p:sp>
      <p:sp>
        <p:nvSpPr>
          <p:cNvPr id="4" name="TextBox 3"/>
          <p:cNvSpPr txBox="1"/>
          <p:nvPr/>
        </p:nvSpPr>
        <p:spPr>
          <a:xfrm>
            <a:off x="1003955" y="1749615"/>
            <a:ext cx="6400800" cy="2862322"/>
          </a:xfrm>
          <a:prstGeom prst="rect">
            <a:avLst/>
          </a:prstGeom>
          <a:noFill/>
        </p:spPr>
        <p:txBody>
          <a:bodyPr wrap="square">
            <a:spAutoFit/>
          </a:bodyPr>
          <a:lstStyle/>
          <a:p>
            <a:pPr marL="365760" indent="-182880" algn="l">
              <a:defRPr sz="1800" b="0"/>
            </a:pPr>
            <a:r>
              <a:rPr lang="en-US" dirty="0"/>
              <a:t>CTRL+ALT+DEL </a:t>
            </a:r>
          </a:p>
          <a:p>
            <a:pPr marL="365760" indent="-182880" algn="l">
              <a:defRPr sz="1800" b="0"/>
            </a:pPr>
            <a:r>
              <a:rPr lang="en-US" dirty="0"/>
              <a:t>Click on “Change Password”</a:t>
            </a:r>
          </a:p>
          <a:p>
            <a:pPr marL="365760" indent="-182880" algn="l">
              <a:defRPr sz="1800" b="0"/>
            </a:pPr>
            <a:r>
              <a:rPr dirty="0"/>
              <a:t>Enter TempPass123! in 'Current password' field</a:t>
            </a:r>
          </a:p>
          <a:p>
            <a:pPr marL="822960" lvl="1" indent="-182880">
              <a:buChar char="•"/>
            </a:pPr>
            <a:r>
              <a:rPr dirty="0"/>
              <a:t>Create a new password that meets these requirements:</a:t>
            </a:r>
          </a:p>
          <a:p>
            <a:pPr lvl="2"/>
            <a:r>
              <a:rPr dirty="0"/>
              <a:t>✓ At least 12 characters long</a:t>
            </a:r>
          </a:p>
          <a:p>
            <a:pPr lvl="2"/>
            <a:r>
              <a:rPr dirty="0"/>
              <a:t>✓ Contains uppercase and lowercase letters</a:t>
            </a:r>
          </a:p>
          <a:p>
            <a:pPr lvl="2"/>
            <a:r>
              <a:rPr dirty="0"/>
              <a:t>✓ Contains at least one number</a:t>
            </a:r>
          </a:p>
          <a:p>
            <a:pPr lvl="2"/>
            <a:r>
              <a:rPr dirty="0"/>
              <a:t>✓ Contains at least one special character (!@#$%^&amp;*)</a:t>
            </a:r>
            <a:endParaRPr lang="en-US" dirty="0"/>
          </a:p>
          <a:p>
            <a:r>
              <a:rPr lang="en-US" dirty="0"/>
              <a:t>    </a:t>
            </a:r>
            <a:r>
              <a:rPr dirty="0"/>
              <a:t>Enter your new password twice to confirm</a:t>
            </a:r>
            <a:endParaRPr lang="en-US" dirty="0"/>
          </a:p>
          <a:p>
            <a:r>
              <a:rPr lang="en-US" dirty="0"/>
              <a:t>    </a:t>
            </a:r>
            <a:r>
              <a:rPr dirty="0"/>
              <a:t>Click Submit or Update password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308324"/>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a:t>
            </a:r>
            <a:r>
              <a:rPr lang="en-US" sz="2000" dirty="0"/>
              <a:t>Technical Migration is </a:t>
            </a:r>
            <a:r>
              <a:rPr sz="2000" dirty="0"/>
              <a:t>Complete!</a:t>
            </a:r>
            <a:r>
              <a:rPr lang="en-US" sz="2000" dirty="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594</TotalTime>
  <Words>5901</Words>
  <Application>Microsoft Macintosh PowerPoint</Application>
  <PresentationFormat>On-screen Show (16:9)</PresentationFormat>
  <Paragraphs>638</Paragraphs>
  <Slides>36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18</cp:revision>
  <dcterms:created xsi:type="dcterms:W3CDTF">2013-01-27T09:14:16Z</dcterms:created>
  <dcterms:modified xsi:type="dcterms:W3CDTF">2026-01-16T19:28:27Z</dcterms:modified>
  <cp:category/>
</cp:coreProperties>
</file>