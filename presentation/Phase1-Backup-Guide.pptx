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4" r:id="rId9"/>
    <p:sldId id="289" r:id="rId10"/>
    <p:sldId id="290" r:id="rId11"/>
    <p:sldId id="266" r:id="rId12"/>
    <p:sldId id="271" r:id="rId13"/>
    <p:sldId id="272" r:id="rId14"/>
    <p:sldId id="273" r:id="rId15"/>
    <p:sldId id="269" r:id="rId16"/>
    <p:sldId id="275" r:id="rId17"/>
    <p:sldId id="274" r:id="rId18"/>
    <p:sldId id="276" r:id="rId19"/>
    <p:sldId id="277" r:id="rId20"/>
    <p:sldId id="278" r:id="rId21"/>
    <p:sldId id="267" r:id="rId22"/>
    <p:sldId id="268" r:id="rId23"/>
    <p:sldId id="279" r:id="rId24"/>
    <p:sldId id="280" r:id="rId25"/>
    <p:sldId id="282" r:id="rId26"/>
    <p:sldId id="283" r:id="rId27"/>
    <p:sldId id="284" r:id="rId28"/>
    <p:sldId id="285" r:id="rId29"/>
    <p:sldId id="286" r:id="rId30"/>
    <p:sldId id="287" r:id="rId31"/>
    <p:sldId id="291" r:id="rId32"/>
    <p:sldId id="288" r:id="rId3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03"/>
    <p:restoredTop sz="75835"/>
  </p:normalViewPr>
  <p:slideViewPr>
    <p:cSldViewPr snapToGrid="0" snapToObjects="1">
      <p:cViewPr varScale="1">
        <p:scale>
          <a:sx n="135" d="100"/>
          <a:sy n="135" d="100"/>
        </p:scale>
        <p:origin x="48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0D68D-5B5C-6FD4-CB7F-96E9DF6A8A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7E849-661F-4BF2-6DB2-EEAC888703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4486DE3-DE2A-2750-2480-D8F84DA86644}"/>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83D74597-37EE-DAF6-2D65-9E3E30FEF803}"/>
              </a:ext>
            </a:extLst>
          </p:cNvPr>
          <p:cNvSpPr>
            <a:spLocks noGrp="1"/>
          </p:cNvSpPr>
          <p:nvPr>
            <p:ph type="sldNum" sz="quarter" idx="5"/>
          </p:nvPr>
        </p:nvSpPr>
        <p:spPr/>
      </p:sp>
    </p:spTree>
    <p:extLst>
      <p:ext uri="{BB962C8B-B14F-4D97-AF65-F5344CB8AC3E}">
        <p14:creationId xmlns:p14="http://schemas.microsoft.com/office/powerpoint/2010/main" val="3234574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8CAA1-F2CD-4759-4324-A33D49964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4C057-37BD-01D7-D2D4-49B07DA4A5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E6BE0C-D8DD-7EE2-56F2-B87F1B94D21D}"/>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EDFC5687-140B-6E0A-7648-C1623D484BB0}"/>
              </a:ext>
            </a:extLst>
          </p:cNvPr>
          <p:cNvSpPr>
            <a:spLocks noGrp="1"/>
          </p:cNvSpPr>
          <p:nvPr>
            <p:ph type="sldNum" sz="quarter" idx="5"/>
          </p:nvPr>
        </p:nvSpPr>
        <p:spPr/>
      </p:sp>
    </p:spTree>
    <p:extLst>
      <p:ext uri="{BB962C8B-B14F-4D97-AF65-F5344CB8AC3E}">
        <p14:creationId xmlns:p14="http://schemas.microsoft.com/office/powerpoint/2010/main" val="3982049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mailto:FirstName.LastName@impactpropertysolutions.com"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23.jpeg"/><Relationship Id="rId4" Type="http://schemas.openxmlformats.org/officeDocument/2006/relationships/image" Target="../media/image22.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323987"/>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r>
              <a:rPr lang="en-US"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0" y="1372137"/>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pic>
        <p:nvPicPr>
          <p:cNvPr id="5" name="Picture 4">
            <a:extLst>
              <a:ext uri="{FF2B5EF4-FFF2-40B4-BE49-F238E27FC236}">
                <a16:creationId xmlns:a16="http://schemas.microsoft.com/office/drawing/2014/main" id="{530FC905-3728-8A95-4EDE-2A1C07482BFF}"/>
              </a:ext>
            </a:extLst>
          </p:cNvPr>
          <p:cNvPicPr>
            <a:picLocks noChangeAspect="1"/>
          </p:cNvPicPr>
          <p:nvPr/>
        </p:nvPicPr>
        <p:blipFill>
          <a:blip r:embed="rId3"/>
          <a:stretch>
            <a:fillRect/>
          </a:stretch>
        </p:blipFill>
        <p:spPr>
          <a:xfrm>
            <a:off x="6201397" y="3383895"/>
            <a:ext cx="2868087" cy="1690409"/>
          </a:xfrm>
          <a:prstGeom prst="rect">
            <a:avLst/>
          </a:prstGeom>
        </p:spPr>
      </p:pic>
      <p:pic>
        <p:nvPicPr>
          <p:cNvPr id="7" name="Picture 6">
            <a:extLst>
              <a:ext uri="{FF2B5EF4-FFF2-40B4-BE49-F238E27FC236}">
                <a16:creationId xmlns:a16="http://schemas.microsoft.com/office/drawing/2014/main" id="{F6FBC68D-44F7-11E5-3BBB-5CC72609D2FC}"/>
              </a:ext>
            </a:extLst>
          </p:cNvPr>
          <p:cNvPicPr>
            <a:picLocks noChangeAspect="1"/>
          </p:cNvPicPr>
          <p:nvPr/>
        </p:nvPicPr>
        <p:blipFill>
          <a:blip r:embed="rId4"/>
          <a:stretch>
            <a:fillRect/>
          </a:stretch>
        </p:blipFill>
        <p:spPr>
          <a:xfrm>
            <a:off x="74516" y="3532177"/>
            <a:ext cx="2660973" cy="139384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1754326"/>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until ALL items above are complete</a:t>
            </a:r>
            <a:r>
              <a:rPr lang="en-US" sz="2000" dirty="0"/>
              <a:t> 🛑</a:t>
            </a: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287B1-C527-A8F5-ED56-BB57467337F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242FC9-5DB0-73FE-6759-2DF22EB94DAC}"/>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F526D459-2BD9-46FA-4C06-5267F23CF479}"/>
              </a:ext>
            </a:extLst>
          </p:cNvPr>
          <p:cNvSpPr txBox="1"/>
          <p:nvPr/>
        </p:nvSpPr>
        <p:spPr>
          <a:xfrm>
            <a:off x="0" y="1043761"/>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a:t>
            </a:r>
            <a:r>
              <a:rPr lang="en-US" sz="2000" dirty="0"/>
              <a:t>if OneDrive is still Synchronizing 🛑</a:t>
            </a:r>
            <a:endParaRPr sz="2000" dirty="0"/>
          </a:p>
        </p:txBody>
      </p:sp>
      <p:pic>
        <p:nvPicPr>
          <p:cNvPr id="5" name="Picture 4">
            <a:extLst>
              <a:ext uri="{FF2B5EF4-FFF2-40B4-BE49-F238E27FC236}">
                <a16:creationId xmlns:a16="http://schemas.microsoft.com/office/drawing/2014/main" id="{F84F8434-FE5C-0397-99EA-792DB24DDC1D}"/>
              </a:ext>
            </a:extLst>
          </p:cNvPr>
          <p:cNvPicPr>
            <a:picLocks noChangeAspect="1"/>
          </p:cNvPicPr>
          <p:nvPr/>
        </p:nvPicPr>
        <p:blipFill>
          <a:blip r:embed="rId3"/>
          <a:stretch>
            <a:fillRect/>
          </a:stretch>
        </p:blipFill>
        <p:spPr>
          <a:xfrm>
            <a:off x="183823" y="1607795"/>
            <a:ext cx="5533534" cy="3261385"/>
          </a:xfrm>
          <a:prstGeom prst="rect">
            <a:avLst/>
          </a:prstGeom>
        </p:spPr>
      </p:pic>
      <p:pic>
        <p:nvPicPr>
          <p:cNvPr id="7" name="Picture 6">
            <a:extLst>
              <a:ext uri="{FF2B5EF4-FFF2-40B4-BE49-F238E27FC236}">
                <a16:creationId xmlns:a16="http://schemas.microsoft.com/office/drawing/2014/main" id="{F579D696-FB43-3735-88B3-0DA8273D04A4}"/>
              </a:ext>
            </a:extLst>
          </p:cNvPr>
          <p:cNvPicPr>
            <a:picLocks noChangeAspect="1"/>
          </p:cNvPicPr>
          <p:nvPr/>
        </p:nvPicPr>
        <p:blipFill>
          <a:blip r:embed="rId4"/>
          <a:stretch>
            <a:fillRect/>
          </a:stretch>
        </p:blipFill>
        <p:spPr>
          <a:xfrm>
            <a:off x="6543124" y="1588940"/>
            <a:ext cx="1653154" cy="3261385"/>
          </a:xfrm>
          <a:prstGeom prst="rect">
            <a:avLst/>
          </a:prstGeom>
        </p:spPr>
      </p:pic>
    </p:spTree>
    <p:extLst>
      <p:ext uri="{BB962C8B-B14F-4D97-AF65-F5344CB8AC3E}">
        <p14:creationId xmlns:p14="http://schemas.microsoft.com/office/powerpoint/2010/main" val="33988746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FEBA9-DB00-E466-B1CE-6B1445CE360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A180DA9-76E8-337D-866E-173A60CFC432}"/>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9BC3D6BD-4FE3-409E-A447-D07CB7C2D308}"/>
              </a:ext>
            </a:extLst>
          </p:cNvPr>
          <p:cNvSpPr txBox="1"/>
          <p:nvPr/>
        </p:nvSpPr>
        <p:spPr>
          <a:xfrm>
            <a:off x="2941162" y="1043761"/>
            <a:ext cx="6202837" cy="400110"/>
          </a:xfrm>
          <a:prstGeom prst="rect">
            <a:avLst/>
          </a:prstGeom>
          <a:noFill/>
        </p:spPr>
        <p:txBody>
          <a:bodyPr wrap="square">
            <a:spAutoFit/>
          </a:bodyPr>
          <a:lstStyle/>
          <a:p>
            <a:pPr algn="ctr">
              <a:defRPr sz="1800" b="1">
                <a:solidFill>
                  <a:srgbClr val="D13438"/>
                </a:solidFill>
              </a:defRPr>
            </a:pPr>
            <a:r>
              <a:rPr lang="en-US" sz="2000" dirty="0"/>
              <a:t>Right-</a:t>
            </a:r>
            <a:endParaRPr sz="2000" dirty="0"/>
          </a:p>
        </p:txBody>
      </p:sp>
    </p:spTree>
    <p:extLst>
      <p:ext uri="{BB962C8B-B14F-4D97-AF65-F5344CB8AC3E}">
        <p14:creationId xmlns:p14="http://schemas.microsoft.com/office/powerpoint/2010/main" val="4169804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6" name="Picture 5">
            <a:extLst>
              <a:ext uri="{FF2B5EF4-FFF2-40B4-BE49-F238E27FC236}">
                <a16:creationId xmlns:a16="http://schemas.microsoft.com/office/drawing/2014/main" id="{0740437D-830F-CE84-3FE0-38BD9BBA3D53}"/>
              </a:ext>
            </a:extLst>
          </p:cNvPr>
          <p:cNvPicPr>
            <a:picLocks noChangeAspect="1"/>
          </p:cNvPicPr>
          <p:nvPr/>
        </p:nvPicPr>
        <p:blipFill>
          <a:blip r:embed="rId2"/>
          <a:stretch>
            <a:fillRect/>
          </a:stretch>
        </p:blipFill>
        <p:spPr>
          <a:xfrm>
            <a:off x="524166" y="1558356"/>
            <a:ext cx="3443656" cy="3274742"/>
          </a:xfrm>
          <a:prstGeom prst="rect">
            <a:avLst/>
          </a:prstGeom>
        </p:spPr>
      </p:pic>
      <p:pic>
        <p:nvPicPr>
          <p:cNvPr id="7" name="Picture 6">
            <a:extLst>
              <a:ext uri="{FF2B5EF4-FFF2-40B4-BE49-F238E27FC236}">
                <a16:creationId xmlns:a16="http://schemas.microsoft.com/office/drawing/2014/main" id="{52FF30E4-0503-1145-BFE7-2238BBA14EFB}"/>
              </a:ext>
            </a:extLst>
          </p:cNvPr>
          <p:cNvPicPr>
            <a:picLocks noChangeAspect="1"/>
          </p:cNvPicPr>
          <p:nvPr/>
        </p:nvPicPr>
        <p:blipFill>
          <a:blip r:embed="rId3"/>
          <a:stretch>
            <a:fillRect/>
          </a:stretch>
        </p:blipFill>
        <p:spPr>
          <a:xfrm>
            <a:off x="4972233" y="1564485"/>
            <a:ext cx="3942557" cy="3139919"/>
          </a:xfrm>
          <a:prstGeom prst="rect">
            <a:avLst/>
          </a:prstGeom>
        </p:spPr>
      </p:pic>
      <p:sp>
        <p:nvSpPr>
          <p:cNvPr id="8" name="TextBox 7">
            <a:extLst>
              <a:ext uri="{FF2B5EF4-FFF2-40B4-BE49-F238E27FC236}">
                <a16:creationId xmlns:a16="http://schemas.microsoft.com/office/drawing/2014/main" id="{1F4EC729-D17A-F82B-9ED3-7213CD90559E}"/>
              </a:ext>
            </a:extLst>
          </p:cNvPr>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Verify ALL Phase 1 backups are complete before proceeding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F82A0C-9F2E-666D-339C-F7F70458B30C}"/>
              </a:ext>
            </a:extLst>
          </p:cNvPr>
          <p:cNvPicPr>
            <a:picLocks noChangeAspect="1"/>
          </p:cNvPicPr>
          <p:nvPr/>
        </p:nvPicPr>
        <p:blipFill>
          <a:blip r:embed="rId2"/>
          <a:stretch>
            <a:fillRect/>
          </a:stretch>
        </p:blipFill>
        <p:spPr>
          <a:xfrm>
            <a:off x="608591" y="1404427"/>
            <a:ext cx="3698198" cy="2945307"/>
          </a:xfrm>
          <a:prstGeom prst="rect">
            <a:avLst/>
          </a:prstGeom>
        </p:spPr>
      </p:pic>
      <p:pic>
        <p:nvPicPr>
          <p:cNvPr id="5" name="Picture 4">
            <a:extLst>
              <a:ext uri="{FF2B5EF4-FFF2-40B4-BE49-F238E27FC236}">
                <a16:creationId xmlns:a16="http://schemas.microsoft.com/office/drawing/2014/main" id="{7C2BA06A-71A2-6C5C-3131-B783F43787D6}"/>
              </a:ext>
            </a:extLst>
          </p:cNvPr>
          <p:cNvPicPr>
            <a:picLocks noChangeAspect="1"/>
          </p:cNvPicPr>
          <p:nvPr/>
        </p:nvPicPr>
        <p:blipFill>
          <a:blip r:embed="rId3"/>
          <a:stretch>
            <a:fillRect/>
          </a:stretch>
        </p:blipFill>
        <p:spPr>
          <a:xfrm>
            <a:off x="4783947" y="1404427"/>
            <a:ext cx="3698198" cy="2945307"/>
          </a:xfrm>
          <a:prstGeom prst="rect">
            <a:avLst/>
          </a:prstGeom>
        </p:spPr>
      </p:pic>
      <p:sp>
        <p:nvSpPr>
          <p:cNvPr id="6" name="TextBox 5">
            <a:extLst>
              <a:ext uri="{FF2B5EF4-FFF2-40B4-BE49-F238E27FC236}">
                <a16:creationId xmlns:a16="http://schemas.microsoft.com/office/drawing/2014/main" id="{12F44FD6-29D6-A90E-FE5E-3AF55C1D5E11}"/>
              </a:ext>
            </a:extLst>
          </p:cNvPr>
          <p:cNvSpPr txBox="1"/>
          <p:nvPr/>
        </p:nvSpPr>
        <p:spPr>
          <a:xfrm>
            <a:off x="1126347" y="4499848"/>
            <a:ext cx="2805512" cy="369332"/>
          </a:xfrm>
          <a:prstGeom prst="rect">
            <a:avLst/>
          </a:prstGeom>
          <a:noFill/>
        </p:spPr>
        <p:txBody>
          <a:bodyPr wrap="none" rtlCol="0">
            <a:spAutoFit/>
          </a:bodyPr>
          <a:lstStyle/>
          <a:p>
            <a:r>
              <a:rPr lang="en-US" dirty="0"/>
              <a:t>Select “Remove Everything”</a:t>
            </a:r>
          </a:p>
        </p:txBody>
      </p:sp>
      <p:sp>
        <p:nvSpPr>
          <p:cNvPr id="7" name="TextBox 6">
            <a:extLst>
              <a:ext uri="{FF2B5EF4-FFF2-40B4-BE49-F238E27FC236}">
                <a16:creationId xmlns:a16="http://schemas.microsoft.com/office/drawing/2014/main" id="{98059592-854B-40E6-F7F0-9B3A111C9401}"/>
              </a:ext>
            </a:extLst>
          </p:cNvPr>
          <p:cNvSpPr txBox="1"/>
          <p:nvPr/>
        </p:nvSpPr>
        <p:spPr>
          <a:xfrm>
            <a:off x="5305740" y="4499848"/>
            <a:ext cx="2546595" cy="369332"/>
          </a:xfrm>
          <a:prstGeom prst="rect">
            <a:avLst/>
          </a:prstGeom>
          <a:noFill/>
        </p:spPr>
        <p:txBody>
          <a:bodyPr wrap="none" rtlCol="0">
            <a:spAutoFit/>
          </a:bodyPr>
          <a:lstStyle/>
          <a:p>
            <a:r>
              <a:rPr lang="en-US" dirty="0"/>
              <a:t>Select “Cloud Download”</a:t>
            </a:r>
          </a:p>
        </p:txBody>
      </p:sp>
      <p:sp>
        <p:nvSpPr>
          <p:cNvPr id="8" name="TextBox 7">
            <a:extLst>
              <a:ext uri="{FF2B5EF4-FFF2-40B4-BE49-F238E27FC236}">
                <a16:creationId xmlns:a16="http://schemas.microsoft.com/office/drawing/2014/main" id="{10412FF5-42F8-3B43-5931-131AAD23549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Tree>
    <p:extLst>
      <p:ext uri="{BB962C8B-B14F-4D97-AF65-F5344CB8AC3E}">
        <p14:creationId xmlns:p14="http://schemas.microsoft.com/office/powerpoint/2010/main" val="824481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F93B0-0E54-DAE5-38D7-7B2A2152BA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7EB35B1-A503-863D-3F7A-8E1690FB95E7}"/>
              </a:ext>
            </a:extLst>
          </p:cNvPr>
          <p:cNvSpPr txBox="1"/>
          <p:nvPr/>
        </p:nvSpPr>
        <p:spPr>
          <a:xfrm>
            <a:off x="881457" y="3730407"/>
            <a:ext cx="2645276" cy="369332"/>
          </a:xfrm>
          <a:prstGeom prst="rect">
            <a:avLst/>
          </a:prstGeom>
          <a:noFill/>
        </p:spPr>
        <p:txBody>
          <a:bodyPr wrap="none" rtlCol="0">
            <a:spAutoFit/>
          </a:bodyPr>
          <a:lstStyle/>
          <a:p>
            <a:r>
              <a:rPr lang="en-US" dirty="0"/>
              <a:t>Click on “Change Settings”</a:t>
            </a:r>
          </a:p>
        </p:txBody>
      </p:sp>
      <p:sp>
        <p:nvSpPr>
          <p:cNvPr id="8" name="TextBox 7">
            <a:extLst>
              <a:ext uri="{FF2B5EF4-FFF2-40B4-BE49-F238E27FC236}">
                <a16:creationId xmlns:a16="http://schemas.microsoft.com/office/drawing/2014/main" id="{B676C6A1-1259-A1F1-C80D-4CE64343BD68}"/>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3" name="Picture 2">
            <a:extLst>
              <a:ext uri="{FF2B5EF4-FFF2-40B4-BE49-F238E27FC236}">
                <a16:creationId xmlns:a16="http://schemas.microsoft.com/office/drawing/2014/main" id="{F60394A1-1FDD-DAA6-AB91-01E4B292FD55}"/>
              </a:ext>
            </a:extLst>
          </p:cNvPr>
          <p:cNvPicPr>
            <a:picLocks noChangeAspect="1"/>
          </p:cNvPicPr>
          <p:nvPr/>
        </p:nvPicPr>
        <p:blipFill>
          <a:blip r:embed="rId2"/>
          <a:stretch>
            <a:fillRect/>
          </a:stretch>
        </p:blipFill>
        <p:spPr>
          <a:xfrm>
            <a:off x="669638" y="1043761"/>
            <a:ext cx="3229151" cy="2571750"/>
          </a:xfrm>
          <a:prstGeom prst="rect">
            <a:avLst/>
          </a:prstGeom>
        </p:spPr>
      </p:pic>
      <p:pic>
        <p:nvPicPr>
          <p:cNvPr id="9" name="Picture 8">
            <a:extLst>
              <a:ext uri="{FF2B5EF4-FFF2-40B4-BE49-F238E27FC236}">
                <a16:creationId xmlns:a16="http://schemas.microsoft.com/office/drawing/2014/main" id="{1A0F8627-578A-BB8F-785F-DBDB6C7732B8}"/>
              </a:ext>
            </a:extLst>
          </p:cNvPr>
          <p:cNvPicPr>
            <a:picLocks noChangeAspect="1"/>
          </p:cNvPicPr>
          <p:nvPr/>
        </p:nvPicPr>
        <p:blipFill>
          <a:blip r:embed="rId3"/>
          <a:stretch>
            <a:fillRect/>
          </a:stretch>
        </p:blipFill>
        <p:spPr>
          <a:xfrm>
            <a:off x="5390093" y="1043761"/>
            <a:ext cx="3229150" cy="2571750"/>
          </a:xfrm>
          <a:prstGeom prst="rect">
            <a:avLst/>
          </a:prstGeom>
        </p:spPr>
      </p:pic>
      <p:sp>
        <p:nvSpPr>
          <p:cNvPr id="10" name="TextBox 9">
            <a:extLst>
              <a:ext uri="{FF2B5EF4-FFF2-40B4-BE49-F238E27FC236}">
                <a16:creationId xmlns:a16="http://schemas.microsoft.com/office/drawing/2014/main" id="{0A4CBF9C-E899-5005-AA07-73C5DF8EEF3A}"/>
              </a:ext>
            </a:extLst>
          </p:cNvPr>
          <p:cNvSpPr txBox="1"/>
          <p:nvPr/>
        </p:nvSpPr>
        <p:spPr>
          <a:xfrm>
            <a:off x="5245212" y="3730407"/>
            <a:ext cx="3518912" cy="369332"/>
          </a:xfrm>
          <a:prstGeom prst="rect">
            <a:avLst/>
          </a:prstGeom>
          <a:noFill/>
        </p:spPr>
        <p:txBody>
          <a:bodyPr wrap="none" rtlCol="0">
            <a:spAutoFit/>
          </a:bodyPr>
          <a:lstStyle/>
          <a:p>
            <a:r>
              <a:rPr lang="en-US" dirty="0"/>
              <a:t>Ensure “Clean Data?” is set to “Yes”</a:t>
            </a:r>
          </a:p>
        </p:txBody>
      </p:sp>
    </p:spTree>
    <p:extLst>
      <p:ext uri="{BB962C8B-B14F-4D97-AF65-F5344CB8AC3E}">
        <p14:creationId xmlns:p14="http://schemas.microsoft.com/office/powerpoint/2010/main" val="5715231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053EC-86F8-31BB-330C-1F957A0EA0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CC14E6D-6097-FAF7-2800-9B60D0749DE7}"/>
              </a:ext>
            </a:extLst>
          </p:cNvPr>
          <p:cNvSpPr txBox="1"/>
          <p:nvPr/>
        </p:nvSpPr>
        <p:spPr>
          <a:xfrm>
            <a:off x="5880668" y="4027132"/>
            <a:ext cx="2645276" cy="369332"/>
          </a:xfrm>
          <a:prstGeom prst="rect">
            <a:avLst/>
          </a:prstGeom>
          <a:noFill/>
        </p:spPr>
        <p:txBody>
          <a:bodyPr wrap="square" rtlCol="0">
            <a:spAutoFit/>
          </a:bodyPr>
          <a:lstStyle/>
          <a:p>
            <a:pPr algn="ctr"/>
            <a:r>
              <a:rPr lang="en-US" dirty="0"/>
              <a:t>Click on “Next”</a:t>
            </a:r>
          </a:p>
        </p:txBody>
      </p:sp>
      <p:sp>
        <p:nvSpPr>
          <p:cNvPr id="8" name="TextBox 7">
            <a:extLst>
              <a:ext uri="{FF2B5EF4-FFF2-40B4-BE49-F238E27FC236}">
                <a16:creationId xmlns:a16="http://schemas.microsoft.com/office/drawing/2014/main" id="{BDA8EF64-224A-E828-B8FD-8F173346035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4" name="Picture 3">
            <a:extLst>
              <a:ext uri="{FF2B5EF4-FFF2-40B4-BE49-F238E27FC236}">
                <a16:creationId xmlns:a16="http://schemas.microsoft.com/office/drawing/2014/main" id="{DCFA2682-DE94-0879-A288-DE0E119B3C2E}"/>
              </a:ext>
            </a:extLst>
          </p:cNvPr>
          <p:cNvPicPr>
            <a:picLocks noChangeAspect="1"/>
          </p:cNvPicPr>
          <p:nvPr/>
        </p:nvPicPr>
        <p:blipFill>
          <a:blip r:embed="rId2"/>
          <a:stretch>
            <a:fillRect/>
          </a:stretch>
        </p:blipFill>
        <p:spPr>
          <a:xfrm>
            <a:off x="5688766" y="1471547"/>
            <a:ext cx="3029080" cy="2412411"/>
          </a:xfrm>
          <a:prstGeom prst="rect">
            <a:avLst/>
          </a:prstGeom>
        </p:spPr>
      </p:pic>
      <p:sp>
        <p:nvSpPr>
          <p:cNvPr id="5" name="TextBox 4">
            <a:extLst>
              <a:ext uri="{FF2B5EF4-FFF2-40B4-BE49-F238E27FC236}">
                <a16:creationId xmlns:a16="http://schemas.microsoft.com/office/drawing/2014/main" id="{306BC582-C721-07B8-E9C2-02111EC59A8F}"/>
              </a:ext>
            </a:extLst>
          </p:cNvPr>
          <p:cNvSpPr txBox="1"/>
          <p:nvPr/>
        </p:nvSpPr>
        <p:spPr>
          <a:xfrm>
            <a:off x="955134" y="4082642"/>
            <a:ext cx="2645276" cy="369332"/>
          </a:xfrm>
          <a:prstGeom prst="rect">
            <a:avLst/>
          </a:prstGeom>
          <a:noFill/>
        </p:spPr>
        <p:txBody>
          <a:bodyPr wrap="square" rtlCol="0">
            <a:spAutoFit/>
          </a:bodyPr>
          <a:lstStyle/>
          <a:p>
            <a:pPr algn="ctr"/>
            <a:r>
              <a:rPr lang="en-US" dirty="0"/>
              <a:t>Click on “Confirm”</a:t>
            </a:r>
          </a:p>
        </p:txBody>
      </p:sp>
      <p:pic>
        <p:nvPicPr>
          <p:cNvPr id="11" name="Picture 10">
            <a:extLst>
              <a:ext uri="{FF2B5EF4-FFF2-40B4-BE49-F238E27FC236}">
                <a16:creationId xmlns:a16="http://schemas.microsoft.com/office/drawing/2014/main" id="{F0A08F5D-69BB-E86C-7819-7A49B537860B}"/>
              </a:ext>
            </a:extLst>
          </p:cNvPr>
          <p:cNvPicPr>
            <a:picLocks noChangeAspect="1"/>
          </p:cNvPicPr>
          <p:nvPr/>
        </p:nvPicPr>
        <p:blipFill>
          <a:blip r:embed="rId3"/>
          <a:stretch>
            <a:fillRect/>
          </a:stretch>
        </p:blipFill>
        <p:spPr>
          <a:xfrm>
            <a:off x="760837" y="1471547"/>
            <a:ext cx="3033870" cy="2416225"/>
          </a:xfrm>
          <a:prstGeom prst="rect">
            <a:avLst/>
          </a:prstGeom>
        </p:spPr>
      </p:pic>
    </p:spTree>
    <p:extLst>
      <p:ext uri="{BB962C8B-B14F-4D97-AF65-F5344CB8AC3E}">
        <p14:creationId xmlns:p14="http://schemas.microsoft.com/office/powerpoint/2010/main" val="460059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What will be removed:</a:t>
            </a:r>
          </a:p>
          <a:p>
            <a:pPr lvl="1"/>
            <a:r>
              <a:rPr dirty="0"/>
              <a:t>✗ All apps and programs</a:t>
            </a:r>
          </a:p>
          <a:p>
            <a:pPr lvl="1"/>
            <a:r>
              <a:rPr dirty="0"/>
              <a:t>✗ All personal files and data</a:t>
            </a:r>
          </a:p>
          <a:p>
            <a:pPr lvl="1"/>
            <a:r>
              <a:rPr dirty="0"/>
              <a:t>✗ All user accounts and settings</a:t>
            </a:r>
          </a:p>
          <a:p>
            <a:pPr marL="182880" algn="l"/>
            <a:r>
              <a:rPr dirty="0"/>
              <a:t>What happens next:</a:t>
            </a:r>
          </a:p>
          <a:p>
            <a:pPr lvl="1"/>
            <a:r>
              <a:rPr dirty="0"/>
              <a:t>✓ Windows reinstalls fresh (30-60 min)</a:t>
            </a:r>
          </a:p>
          <a:p>
            <a:pPr lvl="1"/>
            <a:r>
              <a:rPr dirty="0"/>
              <a:t>✓ Autopilot enrollment begins automatically</a:t>
            </a:r>
            <a:endParaRPr lang="en-US" dirty="0"/>
          </a:p>
          <a:p>
            <a:pPr lvl="1"/>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9878-1469-FA90-2473-27BBCD423D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D9DA6-49F1-1046-A5F3-0C57B39CAFC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a:extLst>
              <a:ext uri="{FF2B5EF4-FFF2-40B4-BE49-F238E27FC236}">
                <a16:creationId xmlns:a16="http://schemas.microsoft.com/office/drawing/2014/main" id="{FDE3AC24-5117-4A75-4EE1-A848DA39DE2D}"/>
              </a:ext>
            </a:extLst>
          </p:cNvPr>
          <p:cNvSpPr txBox="1"/>
          <p:nvPr/>
        </p:nvSpPr>
        <p:spPr>
          <a:xfrm>
            <a:off x="369393" y="1645920"/>
            <a:ext cx="8671661" cy="1754326"/>
          </a:xfrm>
          <a:prstGeom prst="rect">
            <a:avLst/>
          </a:prstGeom>
          <a:noFill/>
        </p:spPr>
        <p:txBody>
          <a:bodyPr wrap="square">
            <a:spAutoFit/>
          </a:bodyPr>
          <a:lstStyle/>
          <a:p>
            <a:pPr marL="182880" algn="l"/>
            <a:r>
              <a:rPr lang="en-US" dirty="0"/>
              <a:t>Once your Reset Starts</a:t>
            </a:r>
            <a:endParaRPr dirty="0"/>
          </a:p>
          <a:p>
            <a:pPr lvl="1"/>
            <a:r>
              <a:rPr lang="en-US" dirty="0">
                <a:highlight>
                  <a:srgbClr val="00FF00"/>
                </a:highlight>
              </a:rPr>
              <a:t>✓</a:t>
            </a:r>
            <a:r>
              <a:rPr dirty="0"/>
              <a:t> </a:t>
            </a:r>
            <a:r>
              <a:rPr lang="en-US" dirty="0"/>
              <a:t>Join the Teams Call using your Mobile Device </a:t>
            </a:r>
          </a:p>
          <a:p>
            <a:pPr lvl="1"/>
            <a:r>
              <a:rPr lang="en-US" dirty="0">
                <a:highlight>
                  <a:srgbClr val="00FF00"/>
                </a:highlight>
              </a:rPr>
              <a:t>✓</a:t>
            </a:r>
            <a:r>
              <a:rPr lang="en-US" dirty="0"/>
              <a:t> Connect your Laptop to a Power Source</a:t>
            </a:r>
            <a:endParaRPr dirty="0"/>
          </a:p>
          <a:p>
            <a:pPr lvl="1"/>
            <a:r>
              <a:rPr lang="en-US" dirty="0">
                <a:highlight>
                  <a:srgbClr val="00FF00"/>
                </a:highlight>
              </a:rPr>
              <a:t>✓</a:t>
            </a:r>
            <a:r>
              <a:rPr dirty="0"/>
              <a:t> </a:t>
            </a:r>
            <a:r>
              <a:rPr lang="en-US" dirty="0"/>
              <a:t>Verify you are able to connect to your </a:t>
            </a:r>
            <a:r>
              <a:rPr lang="en-US" dirty="0" err="1"/>
              <a:t>Wifi</a:t>
            </a:r>
            <a:r>
              <a:rPr lang="en-US" dirty="0"/>
              <a:t> Network </a:t>
            </a:r>
          </a:p>
          <a:p>
            <a:pPr lvl="1"/>
            <a:r>
              <a:rPr lang="en-US" dirty="0">
                <a:highlight>
                  <a:srgbClr val="00FF00"/>
                </a:highlight>
              </a:rPr>
              <a:t>✓</a:t>
            </a:r>
            <a:r>
              <a:rPr lang="en-US" dirty="0"/>
              <a:t> Verify you are able to log in to your Impact Floors M365 Account at </a:t>
            </a:r>
            <a:r>
              <a:rPr lang="en-US" dirty="0" err="1"/>
              <a:t>www.office.com</a:t>
            </a:r>
            <a:endParaRPr lang="en-US" dirty="0"/>
          </a:p>
          <a:p>
            <a:pPr lvl="1"/>
            <a:endParaRPr lang="en-US" dirty="0"/>
          </a:p>
        </p:txBody>
      </p:sp>
    </p:spTree>
    <p:extLst>
      <p:ext uri="{BB962C8B-B14F-4D97-AF65-F5344CB8AC3E}">
        <p14:creationId xmlns:p14="http://schemas.microsoft.com/office/powerpoint/2010/main" val="1203285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7538-AD8B-6029-5450-7444FE0227E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ECD8BE2-CC40-3C37-08C7-077C4EFAC751}"/>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
        <p:nvSpPr>
          <p:cNvPr id="5" name="TextBox 4">
            <a:extLst>
              <a:ext uri="{FF2B5EF4-FFF2-40B4-BE49-F238E27FC236}">
                <a16:creationId xmlns:a16="http://schemas.microsoft.com/office/drawing/2014/main" id="{48C01F44-3ADF-1D9C-45C5-B7CDFF3620BE}"/>
              </a:ext>
            </a:extLst>
          </p:cNvPr>
          <p:cNvSpPr txBox="1"/>
          <p:nvPr/>
        </p:nvSpPr>
        <p:spPr>
          <a:xfrm>
            <a:off x="3138238" y="4499848"/>
            <a:ext cx="2645276" cy="369332"/>
          </a:xfrm>
          <a:prstGeom prst="rect">
            <a:avLst/>
          </a:prstGeom>
          <a:noFill/>
        </p:spPr>
        <p:txBody>
          <a:bodyPr wrap="square" rtlCol="0">
            <a:spAutoFit/>
          </a:bodyPr>
          <a:lstStyle/>
          <a:p>
            <a:pPr algn="ctr"/>
            <a:r>
              <a:rPr lang="en-US" dirty="0"/>
              <a:t>Finally Click “Reset”</a:t>
            </a:r>
          </a:p>
        </p:txBody>
      </p:sp>
      <p:pic>
        <p:nvPicPr>
          <p:cNvPr id="2" name="Picture 1">
            <a:extLst>
              <a:ext uri="{FF2B5EF4-FFF2-40B4-BE49-F238E27FC236}">
                <a16:creationId xmlns:a16="http://schemas.microsoft.com/office/drawing/2014/main" id="{907D0EAF-6A28-D008-33FC-0B129FD20DB7}"/>
              </a:ext>
            </a:extLst>
          </p:cNvPr>
          <p:cNvPicPr>
            <a:picLocks noChangeAspect="1"/>
          </p:cNvPicPr>
          <p:nvPr/>
        </p:nvPicPr>
        <p:blipFill>
          <a:blip r:embed="rId2"/>
          <a:stretch>
            <a:fillRect/>
          </a:stretch>
        </p:blipFill>
        <p:spPr>
          <a:xfrm>
            <a:off x="2654642" y="1564363"/>
            <a:ext cx="3612469" cy="2877031"/>
          </a:xfrm>
          <a:prstGeom prst="rect">
            <a:avLst/>
          </a:prstGeom>
        </p:spPr>
      </p:pic>
      <p:sp>
        <p:nvSpPr>
          <p:cNvPr id="3" name="TextBox 2">
            <a:extLst>
              <a:ext uri="{FF2B5EF4-FFF2-40B4-BE49-F238E27FC236}">
                <a16:creationId xmlns:a16="http://schemas.microsoft.com/office/drawing/2014/main" id="{CF831CA6-7CCB-C46B-9804-376366EC49A2}"/>
              </a:ext>
            </a:extLst>
          </p:cNvPr>
          <p:cNvSpPr txBox="1"/>
          <p:nvPr/>
        </p:nvSpPr>
        <p:spPr>
          <a:xfrm>
            <a:off x="1825896" y="914400"/>
            <a:ext cx="5492209" cy="830997"/>
          </a:xfrm>
          <a:prstGeom prst="rect">
            <a:avLst/>
          </a:prstGeom>
          <a:noFill/>
        </p:spPr>
        <p:txBody>
          <a:bodyPr wrap="none">
            <a:spAutoFit/>
          </a:bodyPr>
          <a:lstStyle/>
          <a:p>
            <a:pPr marL="0" indent="0" algn="ctr">
              <a:buNone/>
              <a:defRPr sz="1600" b="1">
                <a:solidFill>
                  <a:srgbClr val="D13438"/>
                </a:solidFill>
              </a:defRPr>
            </a:pPr>
            <a:r>
              <a:rPr dirty="0"/>
              <a:t>⚠️ This process is irreversibl</a:t>
            </a:r>
            <a:r>
              <a:rPr lang="en-US" dirty="0"/>
              <a:t>e</a:t>
            </a:r>
          </a:p>
          <a:p>
            <a:pPr algn="ctr">
              <a:defRPr sz="1600" b="1">
                <a:solidFill>
                  <a:srgbClr val="D13438"/>
                </a:solidFill>
              </a:defRPr>
            </a:pPr>
            <a:r>
              <a:rPr lang="en-US" dirty="0"/>
              <a:t>⚠️ Verify ALL Phase 1 backups are complete before proceeding</a:t>
            </a:r>
          </a:p>
          <a:p>
            <a:pPr marL="0" indent="0" algn="ctr">
              <a:buNone/>
              <a:defRPr sz="1600" b="1">
                <a:solidFill>
                  <a:srgbClr val="D13438"/>
                </a:solidFill>
              </a:defRPr>
            </a:pPr>
            <a:endParaRPr dirty="0"/>
          </a:p>
        </p:txBody>
      </p:sp>
    </p:spTree>
    <p:extLst>
      <p:ext uri="{BB962C8B-B14F-4D97-AF65-F5344CB8AC3E}">
        <p14:creationId xmlns:p14="http://schemas.microsoft.com/office/powerpoint/2010/main" val="637321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284F8-A8A8-A9B5-B064-25DDC5A291E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CF693E3-B38F-7B60-0F49-8907EB5A332B}"/>
              </a:ext>
            </a:extLst>
          </p:cNvPr>
          <p:cNvSpPr txBox="1"/>
          <p:nvPr/>
        </p:nvSpPr>
        <p:spPr>
          <a:xfrm>
            <a:off x="1230806" y="1094422"/>
            <a:ext cx="6682387" cy="1477328"/>
          </a:xfrm>
          <a:prstGeom prst="rect">
            <a:avLst/>
          </a:prstGeom>
          <a:noFill/>
        </p:spPr>
        <p:txBody>
          <a:bodyPr wrap="square">
            <a:spAutoFit/>
          </a:bodyPr>
          <a:lstStyle/>
          <a:p>
            <a:pPr marL="0" indent="0">
              <a:buNone/>
            </a:pPr>
            <a:r>
              <a:rPr lang="en-US" b="1" dirty="0"/>
              <a:t>Your Login Credentials</a:t>
            </a:r>
          </a:p>
          <a:p>
            <a:pPr marL="285750" indent="-285750">
              <a:buFont typeface="Arial" panose="020B0604020202020204" pitchFamily="34" charset="0"/>
              <a:buChar char="•"/>
            </a:pPr>
            <a:r>
              <a:rPr lang="en-US" dirty="0" err="1"/>
              <a:t>FirstName.LastName@impactpropertysolutions.com</a:t>
            </a:r>
            <a:endParaRPr lang="en-US" dirty="0"/>
          </a:p>
          <a:p>
            <a:pPr marL="0" indent="0">
              <a:buNone/>
            </a:pPr>
            <a:r>
              <a:rPr lang="en-US" b="1" dirty="0"/>
              <a:t>What You Will Need</a:t>
            </a:r>
          </a:p>
          <a:p>
            <a:pPr marL="285750" indent="-285750">
              <a:buFont typeface="Arial" panose="020B0604020202020204" pitchFamily="34" charset="0"/>
              <a:buChar char="•"/>
            </a:pPr>
            <a:r>
              <a:rPr lang="en-US" dirty="0" err="1"/>
              <a:t>WiFi</a:t>
            </a:r>
            <a:r>
              <a:rPr lang="en-US" dirty="0"/>
              <a:t> network name and password (from Phase 1)</a:t>
            </a:r>
          </a:p>
          <a:p>
            <a:pPr marL="285750" indent="-285750">
              <a:buFont typeface="Arial" panose="020B0604020202020204" pitchFamily="34" charset="0"/>
              <a:buChar char="•"/>
            </a:pPr>
            <a:r>
              <a:rPr lang="en-US" dirty="0"/>
              <a:t>Your Microsoft 365 password</a:t>
            </a:r>
          </a:p>
        </p:txBody>
      </p:sp>
      <p:sp>
        <p:nvSpPr>
          <p:cNvPr id="10" name="TextBox 9">
            <a:extLst>
              <a:ext uri="{FF2B5EF4-FFF2-40B4-BE49-F238E27FC236}">
                <a16:creationId xmlns:a16="http://schemas.microsoft.com/office/drawing/2014/main" id="{F75D75D6-E01D-92C3-D902-8AB1B22D772A}"/>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lang="en-US" dirty="0"/>
              <a:t>Out of Box Experience (OOBE)</a:t>
            </a:r>
            <a:endParaRPr dirty="0"/>
          </a:p>
        </p:txBody>
      </p:sp>
    </p:spTree>
    <p:extLst>
      <p:ext uri="{BB962C8B-B14F-4D97-AF65-F5344CB8AC3E}">
        <p14:creationId xmlns:p14="http://schemas.microsoft.com/office/powerpoint/2010/main" val="13404619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Select Your Region</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First screen after Windows reset completes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Wait for the 'Let's start with region' screen to appear</a:t>
            </a:r>
          </a:p>
          <a:p>
            <a:pPr marL="365760" indent="-182880" algn="l">
              <a:buChar char="•"/>
            </a:pPr>
            <a:r>
              <a:t>Select United States from the list</a:t>
            </a:r>
          </a:p>
          <a:p>
            <a:pPr marL="365760" indent="-182880" algn="l">
              <a:buChar char="•"/>
            </a:pPr>
            <a:r>
              <a:t>Click Yes to confirm</a:t>
            </a:r>
          </a:p>
        </p:txBody>
      </p:sp>
      <p:pic>
        <p:nvPicPr>
          <p:cNvPr id="1028" name="Picture 4" descr="What's new with the out-of-box experience (OOBE) on Windows 11 | Windows  Central">
            <a:extLst>
              <a:ext uri="{FF2B5EF4-FFF2-40B4-BE49-F238E27FC236}">
                <a16:creationId xmlns:a16="http://schemas.microsoft.com/office/drawing/2014/main" id="{2D58E1B3-4223-E01C-C24D-DEF9A79FD8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380" y="2614215"/>
            <a:ext cx="6013240" cy="225496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Select Keyboard Layout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Choose your keyboard configuration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Select US from the keyboard layout list</a:t>
            </a:r>
          </a:p>
          <a:p>
            <a:pPr marL="365760" indent="-182880" algn="l">
              <a:buChar char="•"/>
            </a:pPr>
            <a:r>
              <a:rPr dirty="0"/>
              <a:t>Click Yes to confirm</a:t>
            </a:r>
          </a:p>
          <a:p>
            <a:pPr marL="365760" indent="-182880" algn="l">
              <a:buChar char="•"/>
            </a:pPr>
            <a:r>
              <a:rPr dirty="0"/>
              <a:t>When asked about second keyboard layout:</a:t>
            </a:r>
          </a:p>
          <a:p>
            <a:pPr marL="0" indent="0">
              <a:buNone/>
            </a:pPr>
            <a:r>
              <a:rPr dirty="0"/>
              <a:t>Click Skip (not needed for most users)</a:t>
            </a:r>
          </a:p>
        </p:txBody>
      </p:sp>
      <p:pic>
        <p:nvPicPr>
          <p:cNvPr id="2052" name="Picture 4" descr="SCCM Customize Windows Out Of Box Experience OOBE Using ConfigMgr HTMD Blog">
            <a:extLst>
              <a:ext uri="{FF2B5EF4-FFF2-40B4-BE49-F238E27FC236}">
                <a16:creationId xmlns:a16="http://schemas.microsoft.com/office/drawing/2014/main" id="{847407CD-8957-9498-293C-6C8D51C4A9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7627" y="2861587"/>
            <a:ext cx="2906332" cy="218531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Connect to WiFi</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the WiFi credentials you recorded in Phase 1</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Find your office WiFi network in the list</a:t>
            </a:r>
          </a:p>
          <a:p>
            <a:pPr marL="365760" indent="-182880" algn="l">
              <a:buChar char="•"/>
            </a:pPr>
            <a:r>
              <a:t>Click on your network name to select it</a:t>
            </a:r>
          </a:p>
          <a:p>
            <a:pPr marL="365760" indent="-182880" algn="l">
              <a:buChar char="•"/>
            </a:pPr>
            <a:r>
              <a:t>Enter the WiFi password exactly as recorded</a:t>
            </a:r>
          </a:p>
          <a:p>
            <a:pPr marL="365760" indent="-182880" algn="l">
              <a:buChar char="•"/>
            </a:pPr>
            <a:r>
              <a:t>Click Connect and wait for connection</a:t>
            </a:r>
          </a:p>
          <a:p>
            <a:pPr marL="365760" indent="-182880" algn="l">
              <a:buChar char="•"/>
            </a:pPr>
            <a:r>
              <a:t>Click Next once connected</a:t>
            </a:r>
          </a:p>
        </p:txBody>
      </p:sp>
      <p:pic>
        <p:nvPicPr>
          <p:cNvPr id="3074" name="Picture 2" descr="Windows 10 OOBE screen details | Microsoft Learn">
            <a:extLst>
              <a:ext uri="{FF2B5EF4-FFF2-40B4-BE49-F238E27FC236}">
                <a16:creationId xmlns:a16="http://schemas.microsoft.com/office/drawing/2014/main" id="{C9D14303-F480-8AFF-7D35-9C4EF14FD9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4850" y="2571750"/>
            <a:ext cx="3256346" cy="25325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Sign In With Work Account</a:t>
            </a:r>
          </a:p>
        </p:txBody>
      </p:sp>
      <p:sp>
        <p:nvSpPr>
          <p:cNvPr id="3" name="TextBox 2"/>
          <p:cNvSpPr txBox="1"/>
          <p:nvPr/>
        </p:nvSpPr>
        <p:spPr>
          <a:xfrm>
            <a:off x="1371600" y="1635025"/>
            <a:ext cx="6400800" cy="548640"/>
          </a:xfrm>
          <a:prstGeom prst="rect">
            <a:avLst/>
          </a:prstGeom>
          <a:noFill/>
        </p:spPr>
        <p:txBody>
          <a:bodyPr wrap="none">
            <a:spAutoFit/>
          </a:bodyPr>
          <a:lstStyle/>
          <a:p>
            <a:pPr marL="0" indent="0" algn="ctr">
              <a:buNone/>
              <a:defRPr sz="1600" b="1">
                <a:solidFill>
                  <a:srgbClr val="D13438"/>
                </a:solidFill>
              </a:defRPr>
            </a:pPr>
            <a:r>
              <a:rPr dirty="0"/>
              <a:t>⚠️ Use your NEW Impact Property Solutions email</a:t>
            </a:r>
          </a:p>
        </p:txBody>
      </p:sp>
      <p:sp>
        <p:nvSpPr>
          <p:cNvPr id="4" name="TextBox 3"/>
          <p:cNvSpPr txBox="1"/>
          <p:nvPr/>
        </p:nvSpPr>
        <p:spPr>
          <a:xfrm>
            <a:off x="0" y="2089192"/>
            <a:ext cx="4959560" cy="1477328"/>
          </a:xfrm>
          <a:prstGeom prst="rect">
            <a:avLst/>
          </a:prstGeom>
          <a:noFill/>
        </p:spPr>
        <p:txBody>
          <a:bodyPr wrap="square">
            <a:spAutoFit/>
          </a:bodyPr>
          <a:lstStyle/>
          <a:p>
            <a:pPr marL="365760" indent="-182880" algn="l">
              <a:defRPr sz="1800" b="0"/>
            </a:pPr>
            <a:r>
              <a:rPr dirty="0"/>
              <a:t>When prompted 'Let's set things up for your work or school</a:t>
            </a:r>
            <a:endParaRPr lang="en-US" dirty="0"/>
          </a:p>
          <a:p>
            <a:pPr marL="365760" indent="-182880" algn="l">
              <a:defRPr sz="1800" b="0"/>
            </a:pPr>
            <a:endParaRPr lang="en-US" dirty="0">
              <a:hlinkClick r:id="rId2"/>
            </a:endParaRPr>
          </a:p>
          <a:p>
            <a:pPr marL="365760" indent="-182880" algn="l">
              <a:defRPr sz="1800" b="0"/>
            </a:pPr>
            <a:r>
              <a:rPr dirty="0">
                <a:hlinkClick r:id="rId2"/>
              </a:rPr>
              <a:t>FirstName.LastName</a:t>
            </a:r>
            <a:endParaRPr lang="en-US" dirty="0">
              <a:hlinkClick r:id="rId2"/>
            </a:endParaRPr>
          </a:p>
          <a:p>
            <a:pPr marL="365760" indent="-182880" algn="l">
              <a:defRPr sz="1800" b="0"/>
            </a:pPr>
            <a:r>
              <a:rPr lang="en-US" dirty="0">
                <a:hlinkClick r:id="rId2"/>
              </a:rPr>
              <a:t>	</a:t>
            </a:r>
            <a:r>
              <a:rPr dirty="0">
                <a:hlinkClick r:id="rId2"/>
              </a:rPr>
              <a:t>@impactpropertysolutions.com</a:t>
            </a:r>
            <a:endParaRPr lang="en-US" dirty="0"/>
          </a:p>
        </p:txBody>
      </p:sp>
      <p:pic>
        <p:nvPicPr>
          <p:cNvPr id="4098" name="Picture 2" descr="Windows 11 New OOBE Experience! — Mauvlan's Ramblings">
            <a:extLst>
              <a:ext uri="{FF2B5EF4-FFF2-40B4-BE49-F238E27FC236}">
                <a16:creationId xmlns:a16="http://schemas.microsoft.com/office/drawing/2014/main" id="{699C7806-9FDC-FB3B-525C-71E8AFA182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5: Enter Your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Use your Microsoft 365 password</a:t>
            </a:r>
          </a:p>
        </p:txBody>
      </p:sp>
      <p:sp>
        <p:nvSpPr>
          <p:cNvPr id="4" name="TextBox 3"/>
          <p:cNvSpPr txBox="1"/>
          <p:nvPr/>
        </p:nvSpPr>
        <p:spPr>
          <a:xfrm>
            <a:off x="131495" y="2110085"/>
            <a:ext cx="4899807" cy="923330"/>
          </a:xfrm>
          <a:prstGeom prst="rect">
            <a:avLst/>
          </a:prstGeom>
          <a:noFill/>
        </p:spPr>
        <p:txBody>
          <a:bodyPr wrap="square">
            <a:spAutoFit/>
          </a:bodyPr>
          <a:lstStyle/>
          <a:p>
            <a:pPr marL="365760" indent="-182880" algn="l">
              <a:defRPr sz="1800" b="0"/>
            </a:pPr>
            <a:r>
              <a:rPr dirty="0"/>
              <a:t>Enter your Microsoft 365 password</a:t>
            </a:r>
          </a:p>
          <a:p>
            <a:pPr marL="365760" indent="-182880" algn="l">
              <a:buChar char="•"/>
            </a:pPr>
            <a:r>
              <a:rPr dirty="0"/>
              <a:t>This is the same password you use for Outlook</a:t>
            </a:r>
          </a:p>
          <a:p>
            <a:pPr marL="365760" indent="-182880" algn="l">
              <a:buChar char="•"/>
            </a:pPr>
            <a:r>
              <a:rPr dirty="0"/>
              <a:t>Click Sign in</a:t>
            </a:r>
          </a:p>
        </p:txBody>
      </p:sp>
      <p:pic>
        <p:nvPicPr>
          <p:cNvPr id="5" name="Picture 2" descr="Windows 11 New OOBE Experience! — Mauvlan's Ramblings">
            <a:extLst>
              <a:ext uri="{FF2B5EF4-FFF2-40B4-BE49-F238E27FC236}">
                <a16:creationId xmlns:a16="http://schemas.microsoft.com/office/drawing/2014/main" id="{9023AEB0-D9B7-37BF-408C-C4D54FBFE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7: Wait for Autopilot Setup</a:t>
            </a:r>
          </a:p>
        </p:txBody>
      </p:sp>
      <p:sp>
        <p:nvSpPr>
          <p:cNvPr id="3" name="TextBox 2"/>
          <p:cNvSpPr txBox="1"/>
          <p:nvPr/>
        </p:nvSpPr>
        <p:spPr>
          <a:xfrm>
            <a:off x="2639419" y="1647134"/>
            <a:ext cx="3865162" cy="584775"/>
          </a:xfrm>
          <a:prstGeom prst="rect">
            <a:avLst/>
          </a:prstGeom>
          <a:noFill/>
        </p:spPr>
        <p:txBody>
          <a:bodyPr wrap="none">
            <a:spAutoFit/>
          </a:bodyPr>
          <a:lstStyle/>
          <a:p>
            <a:pPr marL="0" indent="0" algn="ctr">
              <a:buNone/>
              <a:defRPr sz="1600" b="1">
                <a:solidFill>
                  <a:srgbClr val="D13438"/>
                </a:solidFill>
              </a:defRPr>
            </a:pPr>
            <a:r>
              <a:rPr dirty="0"/>
              <a:t>⚠️ DO NOT turn off or restart your device!</a:t>
            </a:r>
            <a:endParaRPr lang="en-US" dirty="0"/>
          </a:p>
          <a:p>
            <a:pPr algn="ctr">
              <a:defRPr sz="1600" b="1">
                <a:solidFill>
                  <a:srgbClr val="D13438"/>
                </a:solidFill>
              </a:defRPr>
            </a:pPr>
            <a:r>
              <a:rPr lang="en-US" dirty="0"/>
              <a:t>⚠️ Ensure your Power Source is Connected!</a:t>
            </a:r>
            <a:endParaRPr dirty="0"/>
          </a:p>
        </p:txBody>
      </p:sp>
      <p:sp>
        <p:nvSpPr>
          <p:cNvPr id="4" name="TextBox 3"/>
          <p:cNvSpPr txBox="1"/>
          <p:nvPr/>
        </p:nvSpPr>
        <p:spPr>
          <a:xfrm>
            <a:off x="1371600" y="2378654"/>
            <a:ext cx="6400800" cy="1477328"/>
          </a:xfrm>
          <a:prstGeom prst="rect">
            <a:avLst/>
          </a:prstGeom>
          <a:noFill/>
        </p:spPr>
        <p:txBody>
          <a:bodyPr wrap="square">
            <a:spAutoFit/>
          </a:bodyPr>
          <a:lstStyle/>
          <a:p>
            <a:pPr marL="365760" indent="-182880" algn="l">
              <a:defRPr sz="1800" b="0"/>
            </a:pPr>
            <a:r>
              <a:rPr dirty="0"/>
              <a:t>Autopilot will now configure your device automatically</a:t>
            </a:r>
          </a:p>
          <a:p>
            <a:pPr marL="365760" indent="-182880" algn="l">
              <a:buChar char="•"/>
            </a:pPr>
            <a:r>
              <a:rPr dirty="0"/>
              <a:t>You will see 'Setting up your device for work...'</a:t>
            </a:r>
          </a:p>
          <a:p>
            <a:pPr marL="365760" indent="-182880" algn="l">
              <a:buChar char="•"/>
            </a:pPr>
            <a:r>
              <a:rPr dirty="0"/>
              <a:t>This process takes </a:t>
            </a:r>
            <a:r>
              <a:rPr lang="en-US" dirty="0"/>
              <a:t>can take upwards of an Hour</a:t>
            </a:r>
            <a:endParaRPr dirty="0"/>
          </a:p>
          <a:p>
            <a:pPr marL="365760" indent="-182880" algn="l">
              <a:buChar char="•"/>
            </a:pPr>
            <a:r>
              <a:rPr dirty="0"/>
              <a:t>Your device may restart several times - this is normal</a:t>
            </a:r>
          </a:p>
          <a:p>
            <a:pPr marL="365760" indent="-182880" algn="l">
              <a:buChar char="•"/>
            </a:pPr>
            <a:r>
              <a:rPr dirty="0"/>
              <a:t>Wait until you see the Windows sign-in screen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Sign In to Windows</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Final sign-in after Autopilot completes</a:t>
            </a:r>
          </a:p>
        </p:txBody>
      </p:sp>
      <p:sp>
        <p:nvSpPr>
          <p:cNvPr id="4" name="TextBox 3"/>
          <p:cNvSpPr txBox="1"/>
          <p:nvPr/>
        </p:nvSpPr>
        <p:spPr>
          <a:xfrm>
            <a:off x="1371600" y="2480132"/>
            <a:ext cx="6400800" cy="1200329"/>
          </a:xfrm>
          <a:prstGeom prst="rect">
            <a:avLst/>
          </a:prstGeom>
          <a:noFill/>
        </p:spPr>
        <p:txBody>
          <a:bodyPr wrap="square">
            <a:spAutoFit/>
          </a:bodyPr>
          <a:lstStyle/>
          <a:p>
            <a:pPr marL="365760" indent="-182880">
              <a:defRPr sz="1800" b="0"/>
            </a:pPr>
            <a:r>
              <a:rPr dirty="0"/>
              <a:t>At the Windows sign-in screen, enter your email:</a:t>
            </a:r>
            <a:endParaRPr lang="en-US" dirty="0"/>
          </a:p>
          <a:p>
            <a:pPr marL="365760" indent="-182880">
              <a:defRPr sz="1800" b="0"/>
            </a:pPr>
            <a:r>
              <a:rPr lang="en-US" dirty="0"/>
              <a:t>	</a:t>
            </a:r>
            <a:r>
              <a:rPr b="1" u="sng" dirty="0" err="1"/>
              <a:t>FirstName.LastName@impactpropertysolutions.com</a:t>
            </a:r>
            <a:endParaRPr b="1" u="sng" dirty="0"/>
          </a:p>
          <a:p>
            <a:pPr marL="822960" lvl="1" indent="-182880">
              <a:buChar char="•"/>
            </a:pPr>
            <a:r>
              <a:rPr dirty="0"/>
              <a:t>Enter your Microsoft 365 password</a:t>
            </a:r>
          </a:p>
          <a:p>
            <a:pPr marL="822960" lvl="1" indent="-182880">
              <a:buChar char="•"/>
            </a:pPr>
            <a:r>
              <a:rPr dirty="0"/>
              <a:t>Complete MFA</a:t>
            </a:r>
            <a:r>
              <a:rPr lang="en-US" dirty="0"/>
              <a:t>/Password Reset</a:t>
            </a:r>
            <a:r>
              <a:rPr dirty="0"/>
              <a:t> </a:t>
            </a:r>
            <a:r>
              <a:rPr lang="en-US" dirty="0"/>
              <a:t>as </a:t>
            </a:r>
            <a:r>
              <a:rPr dirty="0"/>
              <a:t>prompted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Verify OneDrive Sync</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Your files should sync automatically after sign-in</a:t>
            </a:r>
          </a:p>
        </p:txBody>
      </p:sp>
      <p:sp>
        <p:nvSpPr>
          <p:cNvPr id="4" name="TextBox 3"/>
          <p:cNvSpPr txBox="1"/>
          <p:nvPr/>
        </p:nvSpPr>
        <p:spPr>
          <a:xfrm>
            <a:off x="0" y="1570505"/>
            <a:ext cx="6400800" cy="2585323"/>
          </a:xfrm>
          <a:prstGeom prst="rect">
            <a:avLst/>
          </a:prstGeom>
          <a:noFill/>
        </p:spPr>
        <p:txBody>
          <a:bodyPr wrap="square">
            <a:spAutoFit/>
          </a:bodyPr>
          <a:lstStyle/>
          <a:p>
            <a:pPr marL="365760" indent="-182880" algn="l">
              <a:defRPr sz="1800" b="0"/>
            </a:pPr>
            <a:r>
              <a:rPr dirty="0"/>
              <a:t>Look for the OneDrive cloud icon in system tray (bottom right)</a:t>
            </a:r>
          </a:p>
          <a:p>
            <a:pPr marL="365760" indent="-182880" algn="l">
              <a:buChar char="•"/>
            </a:pPr>
            <a:r>
              <a:rPr dirty="0"/>
              <a:t>Click the cloud icon to check sync status</a:t>
            </a:r>
          </a:p>
          <a:p>
            <a:pPr marL="365760" indent="-182880" algn="l">
              <a:buChar char="•"/>
            </a:pPr>
            <a:r>
              <a:rPr dirty="0"/>
              <a:t>You should see 'Your files are syncing' or green checkmark</a:t>
            </a:r>
          </a:p>
          <a:p>
            <a:pPr marL="365760" indent="-182880" algn="l">
              <a:buChar char="•"/>
            </a:pPr>
            <a:r>
              <a:rPr dirty="0"/>
              <a:t>Open File Explorer - check Desktop, Documents, Pictures folders</a:t>
            </a:r>
          </a:p>
          <a:p>
            <a:pPr marL="0" indent="0">
              <a:buNone/>
            </a:pPr>
            <a:endParaRPr lang="en-US" dirty="0"/>
          </a:p>
          <a:p>
            <a:pPr marL="0" indent="0">
              <a:buNone/>
            </a:pPr>
            <a:r>
              <a:rPr dirty="0"/>
              <a:t>✓ Files will download as you access them</a:t>
            </a:r>
          </a:p>
          <a:p>
            <a:pPr marL="0" indent="0">
              <a:buNone/>
            </a:pPr>
            <a:endParaRPr lang="en-US" dirty="0"/>
          </a:p>
          <a:p>
            <a:pPr marL="0" indent="0">
              <a:buNone/>
            </a:pPr>
            <a:r>
              <a:rPr dirty="0"/>
              <a:t>💡 Large files may take time - prioritize what you need first</a:t>
            </a:r>
          </a:p>
        </p:txBody>
      </p:sp>
      <p:pic>
        <p:nvPicPr>
          <p:cNvPr id="7" name="Picture 6">
            <a:extLst>
              <a:ext uri="{FF2B5EF4-FFF2-40B4-BE49-F238E27FC236}">
                <a16:creationId xmlns:a16="http://schemas.microsoft.com/office/drawing/2014/main" id="{69CBBC12-5FA3-26D5-2F90-319D42E06E3E}"/>
              </a:ext>
            </a:extLst>
          </p:cNvPr>
          <p:cNvPicPr>
            <a:picLocks noChangeAspect="1"/>
          </p:cNvPicPr>
          <p:nvPr/>
        </p:nvPicPr>
        <p:blipFill>
          <a:blip r:embed="rId3"/>
          <a:stretch>
            <a:fillRect/>
          </a:stretch>
        </p:blipFill>
        <p:spPr>
          <a:xfrm>
            <a:off x="5902897" y="1908036"/>
            <a:ext cx="3241103" cy="191025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Restore Browser Profile</a:t>
            </a:r>
          </a:p>
        </p:txBody>
      </p:sp>
      <p:sp>
        <p:nvSpPr>
          <p:cNvPr id="3" name="TextBox 2"/>
          <p:cNvSpPr txBox="1"/>
          <p:nvPr/>
        </p:nvSpPr>
        <p:spPr>
          <a:xfrm>
            <a:off x="2392557" y="1683327"/>
            <a:ext cx="4358886" cy="338554"/>
          </a:xfrm>
          <a:prstGeom prst="rect">
            <a:avLst/>
          </a:prstGeom>
          <a:noFill/>
        </p:spPr>
        <p:txBody>
          <a:bodyPr wrap="none">
            <a:spAutoFit/>
          </a:bodyPr>
          <a:lstStyle/>
          <a:p>
            <a:pPr algn="ctr">
              <a:defRPr sz="1600" b="1">
                <a:solidFill>
                  <a:srgbClr val="D13438"/>
                </a:solidFill>
              </a:defRPr>
            </a:pPr>
            <a:r>
              <a:rPr lang="en-US" dirty="0"/>
              <a:t>☐ </a:t>
            </a:r>
            <a:r>
              <a:rPr dirty="0"/>
              <a:t>Sign in to sync your bookmarks and passwords</a:t>
            </a:r>
          </a:p>
        </p:txBody>
      </p:sp>
      <p:sp>
        <p:nvSpPr>
          <p:cNvPr id="4" name="TextBox 3"/>
          <p:cNvSpPr txBox="1"/>
          <p:nvPr/>
        </p:nvSpPr>
        <p:spPr>
          <a:xfrm>
            <a:off x="1371600" y="2414847"/>
            <a:ext cx="6400800" cy="2308324"/>
          </a:xfrm>
          <a:prstGeom prst="rect">
            <a:avLst/>
          </a:prstGeom>
          <a:noFill/>
        </p:spPr>
        <p:txBody>
          <a:bodyPr wrap="square">
            <a:spAutoFit/>
          </a:bodyPr>
          <a:lstStyle/>
          <a:p>
            <a:pPr marL="365760" indent="-182880" algn="l">
              <a:defRPr sz="1800" b="0"/>
            </a:pPr>
            <a:r>
              <a:rPr dirty="0"/>
              <a:t>Open Chrome or Edge browser</a:t>
            </a:r>
          </a:p>
          <a:p>
            <a:pPr marL="365760" indent="-182880" algn="l">
              <a:buChar char="•"/>
            </a:pPr>
            <a:r>
              <a:rPr dirty="0"/>
              <a:t>Click the profile icon (top right corner)</a:t>
            </a:r>
          </a:p>
          <a:p>
            <a:pPr marL="365760" indent="-182880" algn="l">
              <a:buChar char="•"/>
            </a:pPr>
            <a:r>
              <a:rPr dirty="0"/>
              <a:t>Click 'Turn on sync' or 'Sign in'</a:t>
            </a:r>
          </a:p>
          <a:p>
            <a:pPr marL="365760" indent="-182880" algn="l">
              <a:buChar char="•"/>
            </a:pPr>
            <a:r>
              <a:rPr dirty="0"/>
              <a:t>Sign in with: </a:t>
            </a:r>
            <a:r>
              <a:rPr dirty="0" err="1"/>
              <a:t>FirstName.LastName@impactpropertysolutions.com</a:t>
            </a:r>
            <a:endParaRPr dirty="0"/>
          </a:p>
          <a:p>
            <a:pPr marL="365760" indent="-182880" algn="l">
              <a:buChar char="•"/>
            </a:pPr>
            <a:r>
              <a:rPr dirty="0"/>
              <a:t>Click 'Yes, I'm in' to enable sync</a:t>
            </a:r>
          </a:p>
          <a:p>
            <a:pPr marL="0" indent="0">
              <a:buNone/>
            </a:pPr>
            <a:r>
              <a:rPr dirty="0"/>
              <a:t>✓ Bookmarks, passwords, and settings will restore automatically</a:t>
            </a:r>
          </a:p>
        </p:txBody>
      </p:sp>
      <p:pic>
        <p:nvPicPr>
          <p:cNvPr id="5" name="Picture 4" descr="How to Sync Page Tabs Between Google Chrome, Firefox, and Edge">
            <a:extLst>
              <a:ext uri="{FF2B5EF4-FFF2-40B4-BE49-F238E27FC236}">
                <a16:creationId xmlns:a16="http://schemas.microsoft.com/office/drawing/2014/main" id="{D59BFBB1-E5AF-161A-B12A-9A48ADE97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4464" y="2021881"/>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3: Import Bookmarks</a:t>
            </a:r>
          </a:p>
        </p:txBody>
      </p:sp>
      <p:sp>
        <p:nvSpPr>
          <p:cNvPr id="4" name="TextBox 3"/>
          <p:cNvSpPr txBox="1"/>
          <p:nvPr/>
        </p:nvSpPr>
        <p:spPr>
          <a:xfrm>
            <a:off x="457199" y="1680555"/>
            <a:ext cx="8146473" cy="2031325"/>
          </a:xfrm>
          <a:prstGeom prst="rect">
            <a:avLst/>
          </a:prstGeom>
          <a:noFill/>
        </p:spPr>
        <p:txBody>
          <a:bodyPr wrap="square">
            <a:spAutoFit/>
          </a:bodyPr>
          <a:lstStyle/>
          <a:p>
            <a:pPr marL="365760" indent="-182880" algn="l">
              <a:defRPr sz="1800" b="0"/>
            </a:pPr>
            <a:r>
              <a:rPr dirty="0"/>
              <a:t>Open browser Menu (three dots) → Bookmarks → Import</a:t>
            </a:r>
          </a:p>
          <a:p>
            <a:pPr marL="365760" indent="-182880" algn="l">
              <a:buChar char="•"/>
            </a:pPr>
            <a:r>
              <a:rPr dirty="0"/>
              <a:t>Select 'Bookmarks HTML file'</a:t>
            </a:r>
          </a:p>
          <a:p>
            <a:pPr marL="365760" indent="-182880" algn="l">
              <a:buChar char="•"/>
            </a:pPr>
            <a:r>
              <a:rPr dirty="0"/>
              <a:t>Navigate to OneDrive → Documents</a:t>
            </a:r>
          </a:p>
          <a:p>
            <a:pPr marL="365760" indent="-182880" algn="l">
              <a:buChar char="•"/>
            </a:pPr>
            <a:r>
              <a:rPr dirty="0"/>
              <a:t>Select your exported bookmarks file</a:t>
            </a:r>
          </a:p>
          <a:p>
            <a:pPr marL="365760" indent="-182880" algn="l">
              <a:buChar char="•"/>
            </a:pPr>
            <a:r>
              <a:rPr dirty="0"/>
              <a:t>Click Import</a:t>
            </a:r>
          </a:p>
          <a:p>
            <a:pPr marL="0" indent="0">
              <a:buNone/>
            </a:pPr>
            <a:r>
              <a:rPr dirty="0"/>
              <a:t>For passwords: Settings → Passwords → Import (use saved CSV)</a:t>
            </a:r>
          </a:p>
          <a:p>
            <a:pPr marL="0" indent="0">
              <a:buNone/>
            </a:pPr>
            <a:r>
              <a:rPr dirty="0"/>
              <a:t>⚠️ Delete the password CSV file after import!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Restore Printers</a:t>
            </a:r>
          </a:p>
        </p:txBody>
      </p:sp>
      <p:sp>
        <p:nvSpPr>
          <p:cNvPr id="3" name="TextBox 2"/>
          <p:cNvSpPr txBox="1"/>
          <p:nvPr/>
        </p:nvSpPr>
        <p:spPr>
          <a:xfrm>
            <a:off x="1371600" y="1205344"/>
            <a:ext cx="6400800" cy="548640"/>
          </a:xfrm>
          <a:prstGeom prst="rect">
            <a:avLst/>
          </a:prstGeom>
          <a:noFill/>
        </p:spPr>
        <p:txBody>
          <a:bodyPr wrap="none">
            <a:spAutoFit/>
          </a:bodyPr>
          <a:lstStyle/>
          <a:p>
            <a:pPr marL="0" indent="0" algn="ctr">
              <a:buNone/>
              <a:defRPr sz="1600" b="1">
                <a:solidFill>
                  <a:srgbClr val="D13438"/>
                </a:solidFill>
              </a:defRPr>
            </a:pPr>
            <a:r>
              <a:rPr dirty="0"/>
              <a:t>Use your screenshot from Phase 1 to re-add printers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Open your printer screenshot from OneDrive → Documents</a:t>
            </a:r>
          </a:p>
          <a:p>
            <a:pPr marL="365760" indent="-182880" algn="l">
              <a:buChar char="•"/>
            </a:pPr>
            <a:r>
              <a:rPr dirty="0"/>
              <a:t>Go to Settings → Devices → Printers &amp; scanners</a:t>
            </a:r>
          </a:p>
          <a:p>
            <a:pPr marL="365760" indent="-182880" algn="l">
              <a:buChar char="•"/>
            </a:pPr>
            <a:r>
              <a:rPr dirty="0"/>
              <a:t>Click 'Add a printer or scanner'</a:t>
            </a:r>
          </a:p>
          <a:p>
            <a:pPr marL="365760" indent="-182880" algn="l">
              <a:buChar char="•"/>
            </a:pPr>
            <a:r>
              <a:rPr dirty="0"/>
              <a:t>Select each printer from the list that matches your screenshot</a:t>
            </a:r>
          </a:p>
          <a:p>
            <a:pPr marL="365760" indent="-182880" algn="l">
              <a:buChar char="•"/>
            </a:pPr>
            <a:r>
              <a:rPr dirty="0"/>
              <a:t>If printer not found, click 'The printer I want isn't listed'</a:t>
            </a:r>
          </a:p>
          <a:p>
            <a:pPr marL="742950" lvl="1" indent="-285750">
              <a:buFont typeface="Arial" panose="020B0604020202020204" pitchFamily="34" charset="0"/>
              <a:buChar char="•"/>
            </a:pPr>
            <a:r>
              <a:rPr dirty="0"/>
              <a:t>Enter printer IP address or name from screenshot</a:t>
            </a:r>
          </a:p>
          <a:p>
            <a:pPr marL="0" indent="0">
              <a:buNone/>
            </a:pPr>
            <a:endParaRPr lang="en-US" dirty="0"/>
          </a:p>
          <a:p>
            <a:pPr marL="0" indent="0">
              <a:buNone/>
            </a:pPr>
            <a:r>
              <a:rPr dirty="0"/>
              <a:t>💡 </a:t>
            </a:r>
            <a:r>
              <a:rPr lang="en-US" dirty="0"/>
              <a:t>Send a Message to Chat </a:t>
            </a:r>
            <a:r>
              <a:rPr dirty="0"/>
              <a:t>if you need help locating printers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a:t>
            </a:r>
            <a:r>
              <a:rPr lang="en-US" dirty="0"/>
              <a:t>Attach</a:t>
            </a:r>
            <a:r>
              <a:rPr dirty="0"/>
              <a:t> Outlook PST</a:t>
            </a:r>
          </a:p>
        </p:txBody>
      </p:sp>
      <p:sp>
        <p:nvSpPr>
          <p:cNvPr id="3" name="TextBox 2"/>
          <p:cNvSpPr txBox="1"/>
          <p:nvPr/>
        </p:nvSpPr>
        <p:spPr>
          <a:xfrm>
            <a:off x="1371600" y="1503219"/>
            <a:ext cx="6400800" cy="548640"/>
          </a:xfrm>
          <a:prstGeom prst="rect">
            <a:avLst/>
          </a:prstGeom>
          <a:noFill/>
        </p:spPr>
        <p:txBody>
          <a:bodyPr wrap="none">
            <a:spAutoFit/>
          </a:bodyPr>
          <a:lstStyle/>
          <a:p>
            <a:pPr marL="0" indent="0" algn="ctr">
              <a:buNone/>
              <a:defRPr sz="1600" b="1">
                <a:solidFill>
                  <a:srgbClr val="D13438"/>
                </a:solidFill>
              </a:defRPr>
            </a:pPr>
            <a:r>
              <a:rPr dirty="0"/>
              <a:t>⚠️ Only if you had PST files backed up in Phase 1</a:t>
            </a:r>
          </a:p>
        </p:txBody>
      </p:sp>
      <p:sp>
        <p:nvSpPr>
          <p:cNvPr id="4" name="TextBox 3"/>
          <p:cNvSpPr txBox="1"/>
          <p:nvPr/>
        </p:nvSpPr>
        <p:spPr>
          <a:xfrm>
            <a:off x="1371600" y="2234739"/>
            <a:ext cx="6400800" cy="2308324"/>
          </a:xfrm>
          <a:prstGeom prst="rect">
            <a:avLst/>
          </a:prstGeom>
          <a:noFill/>
        </p:spPr>
        <p:txBody>
          <a:bodyPr wrap="square">
            <a:spAutoFit/>
          </a:bodyPr>
          <a:lstStyle/>
          <a:p>
            <a:pPr marL="365760" indent="-182880" algn="l">
              <a:defRPr sz="1800" b="0"/>
            </a:pPr>
            <a:r>
              <a:rPr dirty="0"/>
              <a:t>Open Outlook and wait for mailbox to fully sync</a:t>
            </a:r>
          </a:p>
          <a:p>
            <a:pPr marL="365760" indent="-182880" algn="l">
              <a:buChar char="•"/>
            </a:pPr>
            <a:r>
              <a:rPr dirty="0"/>
              <a:t>Go to File → Open &amp; Export → Open Outlook Data File</a:t>
            </a:r>
          </a:p>
          <a:p>
            <a:pPr marL="365760" indent="-182880" algn="l">
              <a:buChar char="•"/>
            </a:pPr>
            <a:r>
              <a:rPr dirty="0"/>
              <a:t>Navigate to OneDrive → Documents</a:t>
            </a:r>
          </a:p>
          <a:p>
            <a:pPr marL="365760" indent="-182880" algn="l">
              <a:buChar char="•"/>
            </a:pPr>
            <a:r>
              <a:rPr dirty="0"/>
              <a:t>Select your backed up .</a:t>
            </a:r>
            <a:r>
              <a:rPr dirty="0" err="1"/>
              <a:t>pst</a:t>
            </a:r>
            <a:r>
              <a:rPr dirty="0"/>
              <a:t> file</a:t>
            </a:r>
          </a:p>
          <a:p>
            <a:pPr marL="365760" indent="-182880" algn="l">
              <a:buChar char="•"/>
            </a:pPr>
            <a:r>
              <a:rPr dirty="0"/>
              <a:t>Click OK - the PST will appear in your folder list</a:t>
            </a:r>
          </a:p>
          <a:p>
            <a:pPr marL="0" indent="0">
              <a:buNone/>
            </a:pPr>
            <a:endParaRPr lang="en-US" dirty="0"/>
          </a:p>
          <a:p>
            <a:pPr marL="0" indent="0">
              <a:buNone/>
            </a:pPr>
            <a:r>
              <a:rPr dirty="0"/>
              <a:t>💡 PST folders appear at bottom of folder pane</a:t>
            </a:r>
          </a:p>
          <a:p>
            <a:pPr marL="0" indent="0">
              <a:buNone/>
            </a:pPr>
            <a:r>
              <a:rPr dirty="0"/>
              <a:t>💡 You can drag emails from PST to your main mailbox if needed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7C2E47-CA81-5269-2740-8376A6F86BB6}"/>
              </a:ext>
            </a:extLst>
          </p:cNvPr>
          <p:cNvSpPr txBox="1"/>
          <p:nvPr/>
        </p:nvSpPr>
        <p:spPr>
          <a:xfrm>
            <a:off x="278090" y="1253766"/>
            <a:ext cx="8587819" cy="646331"/>
          </a:xfrm>
          <a:prstGeom prst="rect">
            <a:avLst/>
          </a:prstGeom>
          <a:noFill/>
        </p:spPr>
        <p:txBody>
          <a:bodyPr wrap="square">
            <a:spAutoFit/>
          </a:bodyPr>
          <a:lstStyle/>
          <a:p>
            <a:pPr algn="ctr">
              <a:defRPr sz="1800" b="1">
                <a:solidFill>
                  <a:srgbClr val="D13438"/>
                </a:solidFill>
              </a:defRPr>
            </a:pPr>
            <a:r>
              <a:rPr lang="en-US" sz="1800" dirty="0"/>
              <a:t>✅ Please take a </a:t>
            </a:r>
            <a:r>
              <a:rPr lang="en-US" dirty="0"/>
              <a:t>few moments to </a:t>
            </a:r>
            <a:r>
              <a:rPr lang="en-US" sz="1800" dirty="0"/>
              <a:t>work through Normal Workflows (Email, Teams, Printing, RFMS, Browser Apps, etc.) to help ensure issues are proactively identified ✅</a:t>
            </a:r>
          </a:p>
        </p:txBody>
      </p:sp>
      <p:sp>
        <p:nvSpPr>
          <p:cNvPr id="5" name="TextBox 4">
            <a:extLst>
              <a:ext uri="{FF2B5EF4-FFF2-40B4-BE49-F238E27FC236}">
                <a16:creationId xmlns:a16="http://schemas.microsoft.com/office/drawing/2014/main" id="{DE1C0B0B-6D0E-B2D5-1229-43B52BBCF474}"/>
              </a:ext>
            </a:extLst>
          </p:cNvPr>
          <p:cNvSpPr txBox="1"/>
          <p:nvPr/>
        </p:nvSpPr>
        <p:spPr>
          <a:xfrm>
            <a:off x="2285999" y="257112"/>
            <a:ext cx="4572000" cy="769441"/>
          </a:xfrm>
          <a:prstGeom prst="rect">
            <a:avLst/>
          </a:prstGeom>
          <a:noFill/>
        </p:spPr>
        <p:txBody>
          <a:bodyPr wrap="square">
            <a:spAutoFit/>
          </a:bodyPr>
          <a:lstStyle/>
          <a:p>
            <a:pPr marL="0" indent="0" algn="ctr">
              <a:buNone/>
              <a:defRPr sz="4400" b="1">
                <a:solidFill>
                  <a:srgbClr val="0078D4"/>
                </a:solidFill>
              </a:defRPr>
            </a:pPr>
            <a:r>
              <a:rPr lang="en-US" dirty="0"/>
              <a:t>Step 6:  Workflows</a:t>
            </a:r>
          </a:p>
        </p:txBody>
      </p:sp>
      <p:pic>
        <p:nvPicPr>
          <p:cNvPr id="6" name="Picture 4" descr="How to Sync Page Tabs Between Google Chrome, Firefox, and Edge">
            <a:extLst>
              <a:ext uri="{FF2B5EF4-FFF2-40B4-BE49-F238E27FC236}">
                <a16:creationId xmlns:a16="http://schemas.microsoft.com/office/drawing/2014/main" id="{720DCF07-50A2-D97F-7736-F640DCB63A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857" y="2127310"/>
            <a:ext cx="2771598" cy="145508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easure by RFMS (PC/Desktop) – RFMS">
            <a:extLst>
              <a:ext uri="{FF2B5EF4-FFF2-40B4-BE49-F238E27FC236}">
                <a16:creationId xmlns:a16="http://schemas.microsoft.com/office/drawing/2014/main" id="{162B1AC2-599F-3790-21B6-ABA3272777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0743" y="2116350"/>
            <a:ext cx="1501446" cy="74366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ow to optimize your Microsoft 365 subscription for productivity">
            <a:extLst>
              <a:ext uri="{FF2B5EF4-FFF2-40B4-BE49-F238E27FC236}">
                <a16:creationId xmlns:a16="http://schemas.microsoft.com/office/drawing/2014/main" id="{8F41130A-5E80-FD92-9393-8B0B96CF9D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999" y="3320009"/>
            <a:ext cx="4571999" cy="18288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arn to Use SketchUp 3D Modeling Software in 17 Easy Steps - 3DPrint.com |  Additive Manufacturing Business">
            <a:extLst>
              <a:ext uri="{FF2B5EF4-FFF2-40B4-BE49-F238E27FC236}">
                <a16:creationId xmlns:a16="http://schemas.microsoft.com/office/drawing/2014/main" id="{E9D02689-8233-3FC1-ED3B-6DA6ADBE0F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16455" y="1928411"/>
            <a:ext cx="3289955" cy="1036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19280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Restoration Checklist</a:t>
            </a:r>
          </a:p>
        </p:txBody>
      </p:sp>
      <p:sp>
        <p:nvSpPr>
          <p:cNvPr id="3" name="TextBox 2"/>
          <p:cNvSpPr txBox="1"/>
          <p:nvPr/>
        </p:nvSpPr>
        <p:spPr>
          <a:xfrm>
            <a:off x="1371600" y="1097280"/>
            <a:ext cx="6400800" cy="2308324"/>
          </a:xfrm>
          <a:prstGeom prst="rect">
            <a:avLst/>
          </a:prstGeom>
          <a:noFill/>
        </p:spPr>
        <p:txBody>
          <a:bodyPr wrap="square">
            <a:spAutoFit/>
          </a:bodyPr>
          <a:lstStyle/>
          <a:p>
            <a:pPr marL="0" indent="0">
              <a:buNone/>
              <a:defRPr sz="1800" b="1">
                <a:solidFill>
                  <a:srgbClr val="107C10"/>
                </a:solidFill>
              </a:defRPr>
            </a:pPr>
            <a:r>
              <a:rPr dirty="0"/>
              <a:t>☐ OneDrive syncing and files accessible</a:t>
            </a:r>
          </a:p>
          <a:p>
            <a:pPr marL="0" indent="0">
              <a:buNone/>
            </a:pPr>
            <a:r>
              <a:rPr dirty="0"/>
              <a:t>☐ Browser signed in and bookmarks restored</a:t>
            </a:r>
          </a:p>
          <a:p>
            <a:pPr marL="0" indent="0">
              <a:buNone/>
            </a:pPr>
            <a:r>
              <a:rPr dirty="0"/>
              <a:t>☐ Browser passwords </a:t>
            </a:r>
            <a:r>
              <a:rPr lang="en-US" dirty="0"/>
              <a:t>and bookmarks </a:t>
            </a:r>
          </a:p>
          <a:p>
            <a:pPr marL="285750" indent="-285750">
              <a:buFont typeface="Arial" panose="020B0604020202020204" pitchFamily="34" charset="0"/>
              <a:buChar char="•"/>
            </a:pPr>
            <a:r>
              <a:rPr lang="en-US" dirty="0"/>
              <a:t>Imported synchronized from OneDrive Account </a:t>
            </a:r>
          </a:p>
          <a:p>
            <a:pPr marL="285750" indent="-285750">
              <a:buFont typeface="Arial" panose="020B0604020202020204" pitchFamily="34" charset="0"/>
              <a:buChar char="•"/>
            </a:pPr>
            <a:r>
              <a:rPr lang="en-US" dirty="0"/>
              <a:t>I</a:t>
            </a:r>
            <a:r>
              <a:rPr dirty="0"/>
              <a:t>mported from</a:t>
            </a:r>
            <a:r>
              <a:rPr lang="en-US" dirty="0"/>
              <a:t> Backup in Phase 1</a:t>
            </a:r>
            <a:endParaRPr dirty="0"/>
          </a:p>
          <a:p>
            <a:pPr marL="0" indent="0">
              <a:buNone/>
            </a:pPr>
            <a:r>
              <a:rPr dirty="0"/>
              <a:t>☐ Printers re-added and tested</a:t>
            </a:r>
          </a:p>
          <a:p>
            <a:pPr marL="0" indent="0">
              <a:buNone/>
            </a:pPr>
            <a:r>
              <a:rPr dirty="0"/>
              <a:t>☐ Outlook PST files </a:t>
            </a:r>
            <a:r>
              <a:rPr lang="en-US" dirty="0"/>
              <a:t>attached </a:t>
            </a:r>
            <a:r>
              <a:rPr dirty="0"/>
              <a:t>(if applicable)</a:t>
            </a:r>
          </a:p>
          <a:p>
            <a:pPr marL="0" indent="0">
              <a:buNone/>
            </a:pPr>
            <a:r>
              <a:rPr dirty="0"/>
              <a:t>☐ Password</a:t>
            </a:r>
            <a:r>
              <a:rPr lang="en-US" dirty="0"/>
              <a:t>/Bookmarks</a:t>
            </a:r>
            <a:r>
              <a:rPr dirty="0"/>
              <a:t> deleted from OneDrive</a:t>
            </a:r>
            <a:r>
              <a:rPr lang="en-US" dirty="0"/>
              <a:t> backup</a:t>
            </a:r>
            <a:endParaRPr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a:t>
            </a:r>
            <a:r>
              <a:rPr lang="en-US" sz="2000" dirty="0"/>
              <a:t>Technical Migration is </a:t>
            </a:r>
            <a:r>
              <a:rPr sz="2000" dirty="0"/>
              <a:t>Complete!</a:t>
            </a:r>
            <a:r>
              <a:rPr lang="en-US" sz="2000" dirty="0"/>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358</TotalTime>
  <Words>5253</Words>
  <Application>Microsoft Macintosh PowerPoint</Application>
  <PresentationFormat>On-screen Show (16:9)</PresentationFormat>
  <Paragraphs>575</Paragraphs>
  <Slides>32</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14</cp:revision>
  <dcterms:created xsi:type="dcterms:W3CDTF">2013-01-27T09:14:16Z</dcterms:created>
  <dcterms:modified xsi:type="dcterms:W3CDTF">2026-01-16T15:32:44Z</dcterms:modified>
  <cp:category/>
</cp:coreProperties>
</file>