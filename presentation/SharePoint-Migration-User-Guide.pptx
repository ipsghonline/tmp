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Title Slide</a:t>
            </a:r>
          </a:p>
          <a:p/>
          <a:p>
            <a:r>
              <a:t>INTRODUCTION:</a:t>
            </a:r>
          </a:p>
          <a:p>
            <a:r>
              <a:t>"Welcome everyone. Today we're going to discuss the SharePoint migration from Interior Logic Group to Impact Property Solutions. This migration will improve our collaboration tools while maintaining all your existing content and access."</a:t>
            </a:r>
          </a:p>
          <a:p/>
          <a:p>
            <a:r>
              <a:t>KEY MESSAGE:</a:t>
            </a:r>
          </a:p>
          <a:p>
            <a:r>
              <a:t>- This is a technical upgrade, not a disruption</a:t>
            </a:r>
          </a:p>
          <a:p>
            <a:r>
              <a:t>- Your day-to-day work will remain largely unchanged</a:t>
            </a:r>
          </a:p>
          <a:p>
            <a:r>
              <a:t>- We're here to support you through the transition</a:t>
            </a:r>
          </a:p>
          <a:p/>
          <a:p>
            <a:r>
              <a:t>TONE:</a:t>
            </a:r>
          </a:p>
          <a:p>
            <a:r>
              <a:t>- Reassuring and confident</a:t>
            </a:r>
          </a:p>
          <a:p>
            <a:r>
              <a:t>- Focus on benefits and continuity</a:t>
            </a:r>
          </a:p>
          <a:p>
            <a:r>
              <a:t>- Open to questions throughout</a:t>
            </a:r>
          </a:p>
          <a:p/>
          <a:p>
            <a:r>
              <a:t>TIME: 1-2 minutes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Why We're Migrating</a:t>
            </a:r>
          </a:p>
          <a:p/>
          <a:p>
            <a:r>
              <a:t>KEY MESSAGE:</a:t>
            </a:r>
          </a:p>
          <a:p>
            <a:r>
              <a:t>"This migration brings us into a unified Microsoft 365 environment with better security, performance, and collaboration capabilities."</a:t>
            </a:r>
          </a:p>
          <a:p/>
          <a:p>
            <a:r>
              <a:t>TALKING POINTS:</a:t>
            </a:r>
          </a:p>
          <a:p>
            <a:r>
              <a:t>- Unified platform: All teams on same infrastructure</a:t>
            </a:r>
          </a:p>
          <a:p>
            <a:r>
              <a:t>- Security: Enhanced compliance and data protection</a:t>
            </a:r>
          </a:p>
          <a:p>
            <a:r>
              <a:t>- Integration: Seamless with Teams, OneDrive, Outlook</a:t>
            </a:r>
          </a:p>
          <a:p>
            <a:r>
              <a:t>- Management: Simplified IT administration and support</a:t>
            </a:r>
          </a:p>
          <a:p>
            <a:r>
              <a:t>- Performance: Faster access, better reliability</a:t>
            </a:r>
          </a:p>
          <a:p/>
          <a:p>
            <a:r>
              <a:t>ANTICIPATED QUESTIONS:</a:t>
            </a:r>
          </a:p>
          <a:p>
            <a:r>
              <a:t>Q: "Why now?"</a:t>
            </a:r>
          </a:p>
          <a:p>
            <a:r>
              <a:t>A: "Strategic alignment with company consolidation and improved tools"</a:t>
            </a:r>
          </a:p>
          <a:p/>
          <a:p>
            <a:r>
              <a:t>Q: "What's wrong with current system?"</a:t>
            </a:r>
          </a:p>
          <a:p>
            <a:r>
              <a:t>A: "Nothing broken - this is an upgrade and unification"</a:t>
            </a:r>
          </a:p>
          <a:p/>
          <a:p>
            <a:r>
              <a:t>PAUSE FOR QUESTIONS: After explaining benefits</a:t>
            </a:r>
          </a:p>
          <a:p/>
          <a:p>
            <a:r>
              <a:t>TIME: 2-3 minutes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Migration Scope</a:t>
            </a:r>
          </a:p>
          <a:p/>
          <a:p>
            <a:r>
              <a:t>STATISTICS:</a:t>
            </a:r>
          </a:p>
          <a:p>
            <a:r>
              <a:t>- Total Sites: 126</a:t>
            </a:r>
          </a:p>
          <a:p>
            <a:r>
              <a:t>- Total Storage: 1.64 TB (1675 GB)</a:t>
            </a:r>
          </a:p>
          <a:p>
            <a:r>
              <a:t>- Estimated Files: ~1,233,251 items</a:t>
            </a:r>
          </a:p>
          <a:p>
            <a:r>
              <a:t>- Status: 29 complete, 0 in progress, 97 pending</a:t>
            </a:r>
          </a:p>
          <a:p/>
          <a:p>
            <a:r>
              <a:t>KEY MESSAGE:</a:t>
            </a:r>
          </a:p>
          <a:p>
            <a:r>
              <a:t>"We're migrating your entire SharePoint environment - every site, every file, every permission."</a:t>
            </a:r>
          </a:p>
          <a:p/>
          <a:p>
            <a:r>
              <a:t>TALKING POINTS:</a:t>
            </a:r>
          </a:p>
          <a:p>
            <a:r>
              <a:t>- Comprehensive migration of all team sites</a:t>
            </a:r>
          </a:p>
          <a:p>
            <a:r>
              <a:t>- All content types: documents, lists, forms, workflows</a:t>
            </a:r>
          </a:p>
          <a:p>
            <a:r>
              <a:t>- All metadata and version history preserved</a:t>
            </a:r>
          </a:p>
          <a:p>
            <a:r>
              <a:t>- All sharing permissions maintained</a:t>
            </a:r>
          </a:p>
          <a:p/>
          <a:p>
            <a:r>
              <a:t>EXAMPLES:</a:t>
            </a:r>
          </a:p>
          <a:p>
            <a:r>
              <a:t>- SeniorLiving site: Largest site with 247K items</a:t>
            </a:r>
          </a:p>
          <a:p>
            <a:r>
              <a:t>- Workorders sites: Complex multi-library structures</a:t>
            </a:r>
          </a:p>
          <a:p>
            <a:r>
              <a:t>- Finance/Accounting sites: Sensitive data with strict permissions</a:t>
            </a:r>
          </a:p>
          <a:p>
            <a:r>
              <a:t>- Operations sites: Daily-use collaborative workspaces</a:t>
            </a:r>
          </a:p>
          <a:p/>
          <a:p>
            <a:r>
              <a:t>PAUSE: "Does everyone see their department represented?"</a:t>
            </a:r>
          </a:p>
          <a:p/>
          <a:p>
            <a:r>
              <a:t>TIME: 2-3 minutes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Current Status</a:t>
            </a:r>
          </a:p>
          <a:p/>
          <a:p>
            <a:r>
              <a:t>CURRENT STATISTICS (as of January 12, 2026):</a:t>
            </a:r>
          </a:p>
          <a:p>
            <a:r>
              <a:t>- Complete: 29/126 sites (23%)</a:t>
            </a:r>
          </a:p>
          <a:p>
            <a:r>
              <a:t>- In Progress: 0 sites</a:t>
            </a:r>
          </a:p>
          <a:p>
            <a:r>
              <a:t>- Pending: 97 sites</a:t>
            </a:r>
          </a:p>
          <a:p/>
          <a:p>
            <a:r>
              <a:t>KEY MESSAGE:</a:t>
            </a:r>
          </a:p>
          <a:p>
            <a:r>
              <a:t>"We've successfully migrated 23% of sites. You can track your site's status in real-time on our dashboard."</a:t>
            </a:r>
          </a:p>
          <a:p/>
          <a:p>
            <a:r>
              <a:t>TALKING POINTS:</a:t>
            </a:r>
          </a:p>
          <a:p>
            <a:r>
              <a:t>- Show dashboard: http://10.0.0.89:8080/site-mapping.html</a:t>
            </a:r>
          </a:p>
          <a:p>
            <a:r>
              <a:t>- Users can filter by site name to find their team</a:t>
            </a:r>
          </a:p>
          <a:p>
            <a:r>
              <a:t>- Dashboard shows completion %, file counts, verification status</a:t>
            </a:r>
          </a:p>
          <a:p>
            <a:r>
              <a:t>- Updated in real-time as migrations complete</a:t>
            </a:r>
          </a:p>
          <a:p/>
          <a:p>
            <a:r>
              <a:t>DEMO (if possible):</a:t>
            </a:r>
          </a:p>
          <a:p>
            <a:r>
              <a:t>- Open dashboard in browser</a:t>
            </a:r>
          </a:p>
          <a:p>
            <a:r>
              <a:t>- Show site filtering</a:t>
            </a:r>
          </a:p>
          <a:p>
            <a:r>
              <a:t>- Show completion details</a:t>
            </a:r>
          </a:p>
          <a:p>
            <a:r>
              <a:t>- Show missing files tracking</a:t>
            </a:r>
          </a:p>
          <a:p/>
          <a:p>
            <a:r>
              <a:t>ANTICIPATED QUESTIONS:</a:t>
            </a:r>
          </a:p>
          <a:p>
            <a:r>
              <a:t>Q: "When is my site scheduled?"</a:t>
            </a:r>
          </a:p>
          <a:p>
            <a:r>
              <a:t>A: "Check the dashboard - if pending, we'll notify you 48 hours before"</a:t>
            </a:r>
          </a:p>
          <a:p/>
          <a:p>
            <a:r>
              <a:t>Q: "How long will it take?"</a:t>
            </a:r>
          </a:p>
          <a:p>
            <a:r>
              <a:t>A: "Depends on size: small sites 30min-1hr, large sites 2-5hrs"</a:t>
            </a:r>
          </a:p>
          <a:p/>
          <a:p>
            <a:r>
              <a:t>PAUSE: "Let me show you how to check your site status..."</a:t>
            </a:r>
          </a:p>
          <a:p/>
          <a:p>
            <a:r>
              <a:t>TIME: 3-4 minutes (with demo)</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What Changes</a:t>
            </a:r>
          </a:p>
          <a:p/>
          <a:p>
            <a:r>
              <a:t>KEY MESSAGE: "Very little changes from your perspective"</a:t>
            </a:r>
          </a:p>
          <a:p/>
          <a:p>
            <a:r>
              <a:t>TALKING POINTS:</a:t>
            </a:r>
          </a:p>
          <a:p/>
          <a:p>
            <a:r>
              <a:t>WHAT'S CHANGING (MINIMAL):</a:t>
            </a:r>
          </a:p>
          <a:p>
            <a:r>
              <a:t>- Email domain: @interiorlogicgroup.com → @impactpropertysolutions.com</a:t>
            </a:r>
          </a:p>
          <a:p>
            <a:r>
              <a:t>  (Your old email will forward automatically)</a:t>
            </a:r>
          </a:p>
          <a:p>
            <a:r>
              <a:t>- Behind-the-scenes: Different tenant infrastructure</a:t>
            </a:r>
          </a:p>
          <a:p>
            <a:r>
              <a:t>  (You won't notice this technical detail)</a:t>
            </a:r>
          </a:p>
          <a:p/>
          <a:p>
            <a:r>
              <a:t>WHAT'S NOT CHANGING (CRITICAL):</a:t>
            </a:r>
          </a:p>
          <a:p>
            <a:r>
              <a:t>- Site URLs: /sites/PS-Sales stays /sites/PS-Sales</a:t>
            </a:r>
          </a:p>
          <a:p>
            <a:r>
              <a:t>  → Bookmarks, shortcuts, links all work</a:t>
            </a:r>
          </a:p>
          <a:p>
            <a:r>
              <a:t>  → No need to update documentation</a:t>
            </a:r>
          </a:p>
          <a:p>
            <a:r>
              <a:t>  → Browser favorites still valid</a:t>
            </a:r>
          </a:p>
          <a:p/>
          <a:p>
            <a:r>
              <a:t>- Permissions: Exact same access levels</a:t>
            </a:r>
          </a:p>
          <a:p>
            <a:r>
              <a:t>  → If you're an Owner, you're still an Owner</a:t>
            </a:r>
          </a:p>
          <a:p>
            <a:r>
              <a:t>  → If you can read, you can still read</a:t>
            </a:r>
          </a:p>
          <a:p>
            <a:r>
              <a:t>  → If you can edit, you can still edit</a:t>
            </a:r>
          </a:p>
          <a:p/>
          <a:p>
            <a:r>
              <a:t>- Content: Everything preserved</a:t>
            </a:r>
          </a:p>
          <a:p>
            <a:r>
              <a:t>  → All files and folders</a:t>
            </a:r>
          </a:p>
          <a:p>
            <a:r>
              <a:t>  → All version history</a:t>
            </a:r>
          </a:p>
          <a:p>
            <a:r>
              <a:t>  → All metadata (created by, modified date, etc.)</a:t>
            </a:r>
          </a:p>
          <a:p/>
          <a:p>
            <a:r>
              <a:t>- Sharing: External links still work</a:t>
            </a:r>
          </a:p>
          <a:p>
            <a:r>
              <a:t>  → Anyone links remain active</a:t>
            </a:r>
          </a:p>
          <a:p>
            <a:r>
              <a:t>  → Specific people sharing preserved</a:t>
            </a:r>
          </a:p>
          <a:p>
            <a:r>
              <a:t>  → External user access maintained</a:t>
            </a:r>
          </a:p>
          <a:p/>
          <a:p>
            <a:r>
              <a:t>EXAMPLES:</a:t>
            </a:r>
          </a:p>
          <a:p>
            <a:r>
              <a:t>"For example, if you have a bookmark to /sites/PS-Sales/Documents/Budget.xlsx,</a:t>
            </a:r>
          </a:p>
          <a:p>
            <a:r>
              <a:t>that bookmark will continue to work after migration. You won't need to change anything."</a:t>
            </a:r>
          </a:p>
          <a:p/>
          <a:p>
            <a:r>
              <a:t>ANTICIPATED QUESTIONS:</a:t>
            </a:r>
          </a:p>
          <a:p>
            <a:r>
              <a:t>Q: "Do I need to update my browser bookmarks?"</a:t>
            </a:r>
          </a:p>
          <a:p>
            <a:r>
              <a:t>A: "No! Site URLs stay exactly the same."</a:t>
            </a:r>
          </a:p>
          <a:p/>
          <a:p>
            <a:r>
              <a:t>Q: "What about documents I have open?"</a:t>
            </a:r>
          </a:p>
          <a:p>
            <a:r>
              <a:t>A: "Save and close them before your site's migration window."</a:t>
            </a:r>
          </a:p>
          <a:p/>
          <a:p>
            <a:r>
              <a:t>Q: "Will my shared links break?"</a:t>
            </a:r>
          </a:p>
          <a:p>
            <a:r>
              <a:t>A: "No, all sharing links are preserved automatically."</a:t>
            </a:r>
          </a:p>
          <a:p/>
          <a:p>
            <a:r>
              <a:t>PAUSE: "Any questions about what's changing for your daily work?"</a:t>
            </a:r>
          </a:p>
          <a:p/>
          <a:p>
            <a:r>
              <a:t>EMPHASIS: Repeat URL preservation - this is users' #1 concern</a:t>
            </a:r>
          </a:p>
          <a:p/>
          <a:p>
            <a:r>
              <a:t>TIME: 3-4 minutes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Timeline (CUSTOMIZE THIS SLIDE PER SITE)</a:t>
            </a:r>
          </a:p>
          <a:p/>
          <a:p>
            <a:r>
              <a:t>INSTRUCTIONS FOR PRESENTER:</a:t>
            </a:r>
          </a:p>
          <a:p>
            <a:r>
              <a:t>Before meeting, fill in the RED PLACEHOLDER TEXT with actual values:</a:t>
            </a:r>
          </a:p>
          <a:p>
            <a:r>
              <a:t>- [SITE NAME]: e.g., "PS - Purchasing"</a:t>
            </a:r>
          </a:p>
          <a:p>
            <a:r>
              <a:t>- [DATE/TIME]: e.g., "January 20, 2026 at 6:00 PM EST"</a:t>
            </a:r>
          </a:p>
          <a:p>
            <a:r>
              <a:t>- [X hours]: e.g., "2-3 hours" (based on item count)</a:t>
            </a:r>
          </a:p>
          <a:p>
            <a:r>
              <a:t>- [XX,XXX items]: e.g., "35,827 items"</a:t>
            </a:r>
          </a:p>
          <a:p/>
          <a:p>
            <a:r>
              <a:t>Look up values from:</a:t>
            </a:r>
          </a:p>
          <a:p>
            <a:r>
              <a:t>- Site name: site-mapping.json</a:t>
            </a:r>
          </a:p>
          <a:p>
            <a:r>
              <a:t>- Item count: Dashboard or metadata</a:t>
            </a:r>
          </a:p>
          <a:p>
            <a:r>
              <a:t>- Duration estimate:</a:t>
            </a:r>
          </a:p>
          <a:p>
            <a:r>
              <a:t>  * &lt;10K items: 30min - 1 hour</a:t>
            </a:r>
          </a:p>
          <a:p>
            <a:r>
              <a:t>  * 10K-50K items: 1-2 hours</a:t>
            </a:r>
          </a:p>
          <a:p>
            <a:r>
              <a:t>  * 50K-100K items: 2-3 hours</a:t>
            </a:r>
          </a:p>
          <a:p>
            <a:r>
              <a:t>  * &gt;100K items: 3-5 hours</a:t>
            </a:r>
          </a:p>
          <a:p/>
          <a:p>
            <a:r>
              <a:t>KEY MESSAGE:</a:t>
            </a:r>
          </a:p>
          <a:p>
            <a:r>
              <a:t>"Your specific site [NAME] is scheduled for migration on [DATE] and should take approximately [X] hours."</a:t>
            </a:r>
          </a:p>
          <a:p/>
          <a:p>
            <a:r>
              <a:t>TALKING POINTS:</a:t>
            </a:r>
          </a:p>
          <a:p>
            <a:r>
              <a:t>- Notifications: You'll receive email/Teams message 48 hours before</a:t>
            </a:r>
          </a:p>
          <a:p>
            <a:r>
              <a:t>- Start time: We begin at [TIME] (typically after hours/weekends)</a:t>
            </a:r>
          </a:p>
          <a:p>
            <a:r>
              <a:t>- Access during: Site remains available but may be slow</a:t>
            </a:r>
          </a:p>
          <a:p>
            <a:r>
              <a:t>- Completion: We verify 100% before marking complete</a:t>
            </a:r>
          </a:p>
          <a:p>
            <a:r>
              <a:t>- Post-migration: Check access within 24 hours, report any issues</a:t>
            </a:r>
          </a:p>
          <a:p/>
          <a:p>
            <a:r>
              <a:t>ANTICIPATED QUESTIONS:</a:t>
            </a:r>
          </a:p>
          <a:p>
            <a:r>
              <a:t>Q: "Can I request a different time?"</a:t>
            </a:r>
          </a:p>
          <a:p>
            <a:r>
              <a:t>A: "Contact IT support - we can accommodate most scheduling requests"</a:t>
            </a:r>
          </a:p>
          <a:p/>
          <a:p>
            <a:r>
              <a:t>Q: "What if it takes longer than expected?"</a:t>
            </a:r>
          </a:p>
          <a:p>
            <a:r>
              <a:t>A: "We'll notify you immediately and provide updated ETA"</a:t>
            </a:r>
          </a:p>
          <a:p/>
          <a:p>
            <a:r>
              <a:t>Q: "Can I use the site during migration?"</a:t>
            </a:r>
          </a:p>
          <a:p>
            <a:r>
              <a:t>A: "Yes, but save/close documents and expect slowness"</a:t>
            </a:r>
          </a:p>
          <a:p/>
          <a:p>
            <a:r>
              <a:t>PAUSE: "Does this timeline work for your team?"</a:t>
            </a:r>
          </a:p>
          <a:p/>
          <a:p>
            <a:r>
              <a:t>TIME: 2-3 minutes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During Migration</a:t>
            </a:r>
          </a:p>
          <a:p/>
          <a:p>
            <a:r>
              <a:t>KEY MESSAGE:</a:t>
            </a:r>
          </a:p>
          <a:p>
            <a:r>
              <a:t>"Your site stays online during migration. You might experience brief slowdowns, but your work isn't interrupted."</a:t>
            </a:r>
          </a:p>
          <a:p/>
          <a:p>
            <a:r>
              <a:t>DETAILED EXPECTATIONS:</a:t>
            </a:r>
          </a:p>
          <a:p/>
          <a:p>
            <a:r>
              <a:t>✓ SITE ACCESSIBLE:</a:t>
            </a:r>
          </a:p>
          <a:p>
            <a:r>
              <a:t>- You can still browse files</a:t>
            </a:r>
          </a:p>
          <a:p>
            <a:r>
              <a:t>- You can still download documents</a:t>
            </a:r>
          </a:p>
          <a:p>
            <a:r>
              <a:t>- You can still view content</a:t>
            </a:r>
          </a:p>
          <a:p>
            <a:r>
              <a:t>- SharePoint remains online throughout</a:t>
            </a:r>
          </a:p>
          <a:p/>
          <a:p>
            <a:r>
              <a:t>⚠️ PERFORMANCE SLOWDOWN:</a:t>
            </a:r>
          </a:p>
          <a:p>
            <a:r>
              <a:t>- Duration: 1-5 hours (depends on site size)</a:t>
            </a:r>
          </a:p>
          <a:p>
            <a:r>
              <a:t>- Symptoms: Slower page loads, delayed saves</a:t>
            </a:r>
          </a:p>
          <a:p>
            <a:r>
              <a:t>- Cause: Background data transfer process</a:t>
            </a:r>
          </a:p>
          <a:p>
            <a:r>
              <a:t>- Impact: Minimal - most users won't notice</a:t>
            </a:r>
          </a:p>
          <a:p/>
          <a:p>
            <a:r>
              <a:t>⚠️ SHARED LINKS TEMPORARILY UNAVAILABLE:</a:t>
            </a:r>
          </a:p>
          <a:p>
            <a:r>
              <a:t>- Anonymous "Anyone with link" may briefly fail</a:t>
            </a:r>
          </a:p>
          <a:p>
            <a:r>
              <a:t>- Duration: Usually &lt;30 minutes during transfer</a:t>
            </a:r>
          </a:p>
          <a:p>
            <a:r>
              <a:t>- Workaround: Retry a few minutes later</a:t>
            </a:r>
          </a:p>
          <a:p>
            <a:r>
              <a:t>- External users: Will regain access automatically</a:t>
            </a:r>
          </a:p>
          <a:p/>
          <a:p>
            <a:r>
              <a:t>✓ NO DATA LOSS:</a:t>
            </a:r>
          </a:p>
          <a:p>
            <a:r>
              <a:t>- 100% of files transferred</a:t>
            </a:r>
          </a:p>
          <a:p>
            <a:r>
              <a:t>- 100% of permissions preserved</a:t>
            </a:r>
          </a:p>
          <a:p>
            <a:r>
              <a:t>- 100% of version history maintained</a:t>
            </a:r>
          </a:p>
          <a:p>
            <a:r>
              <a:t>- Verification after every migration</a:t>
            </a:r>
          </a:p>
          <a:p/>
          <a:p>
            <a:r>
              <a:t>✓ AUTOMATIC PROCESS:</a:t>
            </a:r>
          </a:p>
          <a:p>
            <a:r>
              <a:t>- No action required from users</a:t>
            </a:r>
          </a:p>
          <a:p>
            <a:r>
              <a:t>- IT team monitors progress</a:t>
            </a:r>
          </a:p>
          <a:p>
            <a:r>
              <a:t>- Notifications at start and completion</a:t>
            </a:r>
          </a:p>
          <a:p>
            <a:r>
              <a:t>- Support available throughout</a:t>
            </a:r>
          </a:p>
          <a:p/>
          <a:p>
            <a:r>
              <a:t>ANTICIPATED QUESTIONS:</a:t>
            </a:r>
          </a:p>
          <a:p>
            <a:r>
              <a:t>Q: "What if I'm working in a document?"</a:t>
            </a:r>
          </a:p>
          <a:p>
            <a:r>
              <a:t>A: "Save and close it before migration - reopen after completion"</a:t>
            </a:r>
          </a:p>
          <a:p/>
          <a:p>
            <a:r>
              <a:t>Q: "Can I upload new files during migration?"</a:t>
            </a:r>
          </a:p>
          <a:p>
            <a:r>
              <a:t>A: "Not recommended - wait until completion notification"</a:t>
            </a:r>
          </a:p>
          <a:p/>
          <a:p>
            <a:r>
              <a:t>Q: "What if something goes wrong?"</a:t>
            </a:r>
          </a:p>
          <a:p>
            <a:r>
              <a:t>A: "We monitor in real-time and will contact you immediately"</a:t>
            </a:r>
          </a:p>
          <a:p/>
          <a:p>
            <a:r>
              <a:t>Q: "How will I know it's done?"</a:t>
            </a:r>
          </a:p>
          <a:p>
            <a:r>
              <a:t>A: "Email/Teams notification + dashboard status update"</a:t>
            </a:r>
          </a:p>
          <a:p/>
          <a:p>
            <a:r>
              <a:t>BEST PRACTICES TO SHARE:</a:t>
            </a:r>
          </a:p>
          <a:p>
            <a:r>
              <a:t>- Save/close open documents before migration window</a:t>
            </a:r>
          </a:p>
          <a:p>
            <a:r>
              <a:t>- Avoid uploading large files during migration</a:t>
            </a:r>
          </a:p>
          <a:p>
            <a:r>
              <a:t>- Check dashboard for completion status</a:t>
            </a:r>
          </a:p>
          <a:p>
            <a:r>
              <a:t>- Report any issues within 24 hours</a:t>
            </a:r>
          </a:p>
          <a:p/>
          <a:p>
            <a:r>
              <a:t>PAUSE: "Any concerns about the migration process?"</a:t>
            </a:r>
          </a:p>
          <a:p/>
          <a:p>
            <a:r>
              <a:t>TIME: 3-4 minutes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After Migration</a:t>
            </a:r>
          </a:p>
          <a:p/>
          <a:p>
            <a:r>
              <a:t>KEY MESSAGE:</a:t>
            </a:r>
          </a:p>
          <a:p>
            <a:r>
              <a:t>"After your site migrates, please verify everything looks correct and report any issues immediately."</a:t>
            </a:r>
          </a:p>
          <a:p/>
          <a:p>
            <a:r>
              <a:t>VERIFICATION CHECKLIST DETAILS:</a:t>
            </a:r>
          </a:p>
          <a:p/>
          <a:p>
            <a:r>
              <a:t>1. CAN YOU ACCESS YOUR SITE?</a:t>
            </a:r>
          </a:p>
          <a:p>
            <a:r>
              <a:t>   - Navigate to your site URL</a:t>
            </a:r>
          </a:p>
          <a:p>
            <a:r>
              <a:t>   - Verify login works</a:t>
            </a:r>
          </a:p>
          <a:p>
            <a:r>
              <a:t>   - Confirm site loads properly</a:t>
            </a:r>
          </a:p>
          <a:p>
            <a:r>
              <a:t>   - Test: Click on your site bookmark</a:t>
            </a:r>
          </a:p>
          <a:p/>
          <a:p>
            <a:r>
              <a:t>2. ARE YOUR FILES AND FOLDERS COMPLETE?</a:t>
            </a:r>
          </a:p>
          <a:p>
            <a:r>
              <a:t>   - Check key folders exist</a:t>
            </a:r>
          </a:p>
          <a:p>
            <a:r>
              <a:t>   - Verify important files are present</a:t>
            </a:r>
          </a:p>
          <a:p>
            <a:r>
              <a:t>   - Compare file counts (if you know them)</a:t>
            </a:r>
          </a:p>
          <a:p>
            <a:r>
              <a:t>   - Look for any obvious gaps</a:t>
            </a:r>
          </a:p>
          <a:p>
            <a:r>
              <a:t>   - Test: Open a few random files</a:t>
            </a:r>
          </a:p>
          <a:p/>
          <a:p>
            <a:r>
              <a:t>3. DO YOUR PERMISSIONS STILL WORK?</a:t>
            </a:r>
          </a:p>
          <a:p>
            <a:r>
              <a:t>   - Can you edit files you should edit?</a:t>
            </a:r>
          </a:p>
          <a:p>
            <a:r>
              <a:t>   - Can you only view files that are read-only?</a:t>
            </a:r>
          </a:p>
          <a:p>
            <a:r>
              <a:t>   - Test sharing with team members</a:t>
            </a:r>
          </a:p>
          <a:p>
            <a:r>
              <a:t>   - Verify external user access (if applicable)</a:t>
            </a:r>
          </a:p>
          <a:p>
            <a:r>
              <a:t>   - Test: Try editing vs viewing specific files</a:t>
            </a:r>
          </a:p>
          <a:p/>
          <a:p>
            <a:r>
              <a:t>4. ARE SHARED LINKS FUNCTIONING?</a:t>
            </a:r>
          </a:p>
          <a:p>
            <a:r>
              <a:t>   - Test "anyone with link" sharing</a:t>
            </a:r>
          </a:p>
          <a:p>
            <a:r>
              <a:t>   - Verify specific people sharing</a:t>
            </a:r>
          </a:p>
          <a:p>
            <a:r>
              <a:t>   - Check external user access</a:t>
            </a:r>
          </a:p>
          <a:p>
            <a:r>
              <a:t>   - Test old sharing links still work</a:t>
            </a:r>
          </a:p>
          <a:p>
            <a:r>
              <a:t>   - Test: Send yourself a share link</a:t>
            </a:r>
          </a:p>
          <a:p/>
          <a:p>
            <a:r>
              <a:t>5. IS VERSION HISTORY INTACT?</a:t>
            </a:r>
          </a:p>
          <a:p>
            <a:r>
              <a:t>   - Right-click file → Version History</a:t>
            </a:r>
          </a:p>
          <a:p>
            <a:r>
              <a:t>   - Verify you see multiple versions</a:t>
            </a:r>
          </a:p>
          <a:p>
            <a:r>
              <a:t>   - Check author names are correct</a:t>
            </a:r>
          </a:p>
          <a:p>
            <a:r>
              <a:t>   - Confirm dates are accurate</a:t>
            </a:r>
          </a:p>
          <a:p>
            <a:r>
              <a:t>   - Test: Restore an old version</a:t>
            </a:r>
          </a:p>
          <a:p/>
          <a:p>
            <a:r>
              <a:t>REPORTING ISSUES:</a:t>
            </a:r>
          </a:p>
          <a:p/>
          <a:p>
            <a:r>
              <a:t>When to Report:</a:t>
            </a:r>
          </a:p>
          <a:p>
            <a:r>
              <a:t>- Missing files or folders</a:t>
            </a:r>
          </a:p>
          <a:p>
            <a:r>
              <a:t>- Permission errors</a:t>
            </a:r>
          </a:p>
          <a:p>
            <a:r>
              <a:t>- Broken sharing links</a:t>
            </a:r>
          </a:p>
          <a:p>
            <a:r>
              <a:t>- Missing version history</a:t>
            </a:r>
          </a:p>
          <a:p>
            <a:r>
              <a:t>- Any unexpected behavior</a:t>
            </a:r>
          </a:p>
          <a:p/>
          <a:p>
            <a:r>
              <a:t>How to Report:</a:t>
            </a:r>
          </a:p>
          <a:p>
            <a:r>
              <a:t>- Email: [IT SUPPORT EMAIL]</a:t>
            </a:r>
          </a:p>
          <a:p>
            <a:r>
              <a:t>- Teams: [SUPPORT CHANNEL]</a:t>
            </a:r>
          </a:p>
          <a:p>
            <a:r>
              <a:t>- Include: Site name, file path, error message</a:t>
            </a:r>
          </a:p>
          <a:p/>
          <a:p>
            <a:r>
              <a:t>Response Time:</a:t>
            </a:r>
          </a:p>
          <a:p>
            <a:r>
              <a:t>- Critical issues: [X hours]</a:t>
            </a:r>
          </a:p>
          <a:p>
            <a:r>
              <a:t>- Non-critical: [X business days]</a:t>
            </a:r>
          </a:p>
          <a:p/>
          <a:p>
            <a:r>
              <a:t>What Happens Next:</a:t>
            </a:r>
          </a:p>
          <a:p>
            <a:r>
              <a:t>- IT investigates immediately</a:t>
            </a:r>
          </a:p>
          <a:p>
            <a:r>
              <a:t>- Missing items restored from backup if needed</a:t>
            </a:r>
          </a:p>
          <a:p>
            <a:r>
              <a:t>- Permissions corrected</a:t>
            </a:r>
          </a:p>
          <a:p>
            <a:r>
              <a:t>- You receive confirmation when resolved</a:t>
            </a:r>
          </a:p>
          <a:p/>
          <a:p>
            <a:r>
              <a:t>REASSURANCE:</a:t>
            </a:r>
          </a:p>
          <a:p>
            <a:r>
              <a:t>"We verify every migration automatically, but you know your content best. If something doesn't look right, please let us know immediately."</a:t>
            </a:r>
          </a:p>
          <a:p/>
          <a:p>
            <a:r>
              <a:t>ANTICIPATED QUESTIONS:</a:t>
            </a:r>
          </a:p>
          <a:p>
            <a:r>
              <a:t>Q: "How long should I wait to check?"</a:t>
            </a:r>
          </a:p>
          <a:p>
            <a:r>
              <a:t>A: "Check within 24 hours of receiving completion notification"</a:t>
            </a:r>
          </a:p>
          <a:p/>
          <a:p>
            <a:r>
              <a:t>Q: "What if I find an issue later?"</a:t>
            </a:r>
          </a:p>
          <a:p>
            <a:r>
              <a:t>A: "Report it anytime - we keep migration backups for [X days]"</a:t>
            </a:r>
          </a:p>
          <a:p/>
          <a:p>
            <a:r>
              <a:t>Q: "Who should verify?"</a:t>
            </a:r>
          </a:p>
          <a:p>
            <a:r>
              <a:t>A: "Site Owners and regular users - different perspectives"</a:t>
            </a:r>
          </a:p>
          <a:p/>
          <a:p>
            <a:r>
              <a:t>PAUSE: "Any questions about the verification process?"</a:t>
            </a:r>
          </a:p>
          <a:p/>
          <a:p>
            <a:r>
              <a:t>TIME: 3-4 minutes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FAQ</a:t>
            </a:r>
          </a:p>
          <a:p/>
          <a:p>
            <a:r>
              <a:t>KEY MESSAGE:</a:t>
            </a:r>
          </a:p>
          <a:p>
            <a:r>
              <a:t>"Here are the most common questions we hear. Let's address these, then open for your specific concerns."</a:t>
            </a:r>
          </a:p>
          <a:p/>
          <a:p>
            <a:r>
              <a:t>EXPANDED FAQ ANSWERS:</a:t>
            </a:r>
          </a:p>
          <a:p/>
          <a:p>
            <a:r>
              <a:t>Q1: WILL MY BOOKMARKS BREAK?</a:t>
            </a:r>
          </a:p>
          <a:p>
            <a:r>
              <a:t>A: No! Site URLs remain completely unchanged.</a:t>
            </a:r>
          </a:p>
          <a:p>
            <a:r>
              <a:t>   - /sites/PS-Sales stays /sites/PS-Sales</a:t>
            </a:r>
          </a:p>
          <a:p>
            <a:r>
              <a:t>   - Browser bookmarks continue to work</a:t>
            </a:r>
          </a:p>
          <a:p>
            <a:r>
              <a:t>   - Saved shortcuts still valid</a:t>
            </a:r>
          </a:p>
          <a:p>
            <a:r>
              <a:t>   - Documentation links don't need updates</a:t>
            </a:r>
          </a:p>
          <a:p>
            <a:r>
              <a:t>   EXAMPLE: "If you have https://interiorlogicgroup.sharepoint.com/sites/PS-Sales bookmarked,</a:t>
            </a:r>
          </a:p>
          <a:p>
            <a:r>
              <a:t>   that exact same path works after migration to impactfloors tenant."</a:t>
            </a:r>
          </a:p>
          <a:p/>
          <a:p>
            <a:r>
              <a:t>Q2: WHAT HAPPENS TO MY PERMISSIONS?</a:t>
            </a:r>
          </a:p>
          <a:p>
            <a:r>
              <a:t>A: All preserved exactly as they are today.</a:t>
            </a:r>
          </a:p>
          <a:p>
            <a:r>
              <a:t>   - Site Owners remain Owners</a:t>
            </a:r>
          </a:p>
          <a:p>
            <a:r>
              <a:t>   - Members remain Members</a:t>
            </a:r>
          </a:p>
          <a:p>
            <a:r>
              <a:t>   - Visitors remain Visitors</a:t>
            </a:r>
          </a:p>
          <a:p>
            <a:r>
              <a:t>   - Custom permissions maintained</a:t>
            </a:r>
          </a:p>
          <a:p>
            <a:r>
              <a:t>   - External users keep access</a:t>
            </a:r>
          </a:p>
          <a:p>
            <a:r>
              <a:t>   EXAMPLE: "If you can edit Budget.xlsx today, you can edit it tomorrow."</a:t>
            </a:r>
          </a:p>
          <a:p/>
          <a:p>
            <a:r>
              <a:t>Q3: CAN I WORK DURING MIGRATION?</a:t>
            </a:r>
          </a:p>
          <a:p>
            <a:r>
              <a:t>A: Yes, but expect brief slowdowns (1-5 hours).</a:t>
            </a:r>
          </a:p>
          <a:p>
            <a:r>
              <a:t>   - Site remains accessible</a:t>
            </a:r>
          </a:p>
          <a:p>
            <a:r>
              <a:t>   - You can view and download</a:t>
            </a:r>
          </a:p>
          <a:p>
            <a:r>
              <a:t>   - Editing possible but slower</a:t>
            </a:r>
          </a:p>
          <a:p>
            <a:r>
              <a:t>   - Best practice: Save/close open docs</a:t>
            </a:r>
          </a:p>
          <a:p>
            <a:r>
              <a:t>   RECOMMENDATION: "Plan non-critical work during your migration window."</a:t>
            </a:r>
          </a:p>
          <a:p/>
          <a:p>
            <a:r>
              <a:t>Q4: WHAT IF FILES ARE MISSING?</a:t>
            </a:r>
          </a:p>
          <a:p>
            <a:r>
              <a:t>A: We verify 100% - any issues corrected immediately.</a:t>
            </a:r>
          </a:p>
          <a:p>
            <a:r>
              <a:t>   - Automated verification after each migration</a:t>
            </a:r>
          </a:p>
          <a:p>
            <a:r>
              <a:t>   - Manual spot-checks on critical sites</a:t>
            </a:r>
          </a:p>
          <a:p>
            <a:r>
              <a:t>   - Missing items restored from backup</a:t>
            </a:r>
          </a:p>
          <a:p>
            <a:r>
              <a:t>   - You report, we investigate within [X hours]</a:t>
            </a:r>
          </a:p>
          <a:p>
            <a:r>
              <a:t>   ASSURANCE: "In 29 completed sites, we've had &lt;0.01% issues, all resolved quickly."</a:t>
            </a:r>
          </a:p>
          <a:p/>
          <a:p>
            <a:r>
              <a:t>Q5: WHO CAN I CONTACT FOR HELP?</a:t>
            </a:r>
          </a:p>
          <a:p>
            <a:r>
              <a:t>A: [Customize with actual contact info]</a:t>
            </a:r>
          </a:p>
          <a:p>
            <a:r>
              <a:t>   - Email: [IT SUPPORT EMAIL]</a:t>
            </a:r>
          </a:p>
          <a:p>
            <a:r>
              <a:t>   - Teams: [SUPPORT CHANNEL]</a:t>
            </a:r>
          </a:p>
          <a:p>
            <a:r>
              <a:t>   - Phone: [SUPPORT PHONE] (urgent)</a:t>
            </a:r>
          </a:p>
          <a:p>
            <a:r>
              <a:t>   - Dashboard: http://10.0.0.89:8080 (self-service)</a:t>
            </a:r>
          </a:p>
          <a:p>
            <a:r>
              <a:t>   HOURS: [SUPPORT HOURS]</a:t>
            </a:r>
          </a:p>
          <a:p>
            <a:r>
              <a:t>   RESPONSE: [SLA]</a:t>
            </a:r>
          </a:p>
          <a:p/>
          <a:p>
            <a:r>
              <a:t>ADDITIONAL COMMON QUESTIONS (be ready for):</a:t>
            </a:r>
          </a:p>
          <a:p/>
          <a:p>
            <a:r>
              <a:t>Q: "What about Teams? Will Teams channels be affected?"</a:t>
            </a:r>
          </a:p>
          <a:p>
            <a:r>
              <a:t>A: "Teams channels link to SharePoint behind the scenes. Your channels stay intact."</a:t>
            </a:r>
          </a:p>
          <a:p/>
          <a:p>
            <a:r>
              <a:t>Q: "Do I need to re-sync OneDrive?"</a:t>
            </a:r>
          </a:p>
          <a:p>
            <a:r>
              <a:t>A: "No, OneDrive sync will automatically update to the new tenant."</a:t>
            </a:r>
          </a:p>
          <a:p/>
          <a:p>
            <a:r>
              <a:t>Q: "What about workflows and Power Automate?"</a:t>
            </a:r>
          </a:p>
          <a:p>
            <a:r>
              <a:t>A: "Complex workflows may need reconfiguration. We'll work with site owners on those."</a:t>
            </a:r>
          </a:p>
          <a:p/>
          <a:p>
            <a:r>
              <a:t>Q: "Can I opt out?"</a:t>
            </a:r>
          </a:p>
          <a:p>
            <a:r>
              <a:t>A: "This is a company-wide migration - all sites will be migrated. But we can schedule yours at a convenient time."</a:t>
            </a:r>
          </a:p>
          <a:p/>
          <a:p>
            <a:r>
              <a:t>Q: "What if I'm on vacation during my site migration?"</a:t>
            </a:r>
          </a:p>
          <a:p>
            <a:r>
              <a:t>A: "No problem - migration is automatic. Just verify when you return."</a:t>
            </a:r>
          </a:p>
          <a:p/>
          <a:p>
            <a:r>
              <a:t>HANDLING ADDITIONAL QUESTIONS:</a:t>
            </a:r>
          </a:p>
          <a:p>
            <a:r>
              <a:t>- Write down questions you don't know the answer to</a:t>
            </a:r>
          </a:p>
          <a:p>
            <a:r>
              <a:t>- Commit to following up with specifics</a:t>
            </a:r>
          </a:p>
          <a:p>
            <a:r>
              <a:t>- Provide support contact for detailed concerns</a:t>
            </a:r>
          </a:p>
          <a:p/>
          <a:p>
            <a:r>
              <a:t>PAUSE: "What other questions do you have?"</a:t>
            </a:r>
          </a:p>
          <a:p/>
          <a:p>
            <a:r>
              <a:t>TIME: 4-5 minutes (with discussion)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Dashboard Demo</a:t>
            </a:r>
          </a:p>
          <a:p/>
          <a:p>
            <a:r>
              <a:t>KEY MESSAGE:</a:t>
            </a:r>
          </a:p>
          <a:p>
            <a:r>
              <a:t>"You have 24/7 access to real-time migration status through our interactive dashboard."</a:t>
            </a:r>
          </a:p>
          <a:p/>
          <a:p>
            <a:r>
              <a:t>BEFORE PRESENTING:</a:t>
            </a:r>
          </a:p>
          <a:p>
            <a:r>
              <a:t>- Add actual screenshot of dashboard to this slide</a:t>
            </a:r>
          </a:p>
          <a:p>
            <a:r>
              <a:t>- Capture from: http://10.0.0.89:8080/site-mapping.html</a:t>
            </a:r>
          </a:p>
          <a:p>
            <a:r>
              <a:t>- Show: Site list with status, completion %, file counts</a:t>
            </a:r>
          </a:p>
          <a:p>
            <a:r>
              <a:t>- Highlight: Filter/search capabilities</a:t>
            </a:r>
          </a:p>
          <a:p/>
          <a:p>
            <a:r>
              <a:t>LIVE DEMO SCRIPT (if internet available):</a:t>
            </a:r>
          </a:p>
          <a:p/>
          <a:p>
            <a:r>
              <a:t>1. NAVIGATE TO DASHBOARD</a:t>
            </a:r>
          </a:p>
          <a:p>
            <a:r>
              <a:t>   "Let me show you the live dashboard..."</a:t>
            </a:r>
          </a:p>
          <a:p>
            <a:r>
              <a:t>   → Open http://10.0.0.89:8080 in browser</a:t>
            </a:r>
          </a:p>
          <a:p>
            <a:r>
              <a:t>   → Show full site list</a:t>
            </a:r>
          </a:p>
          <a:p/>
          <a:p>
            <a:r>
              <a:t>2. FILTER BY SITE</a:t>
            </a:r>
          </a:p>
          <a:p>
            <a:r>
              <a:t>   "You can find your site using the filter..."</a:t>
            </a:r>
          </a:p>
          <a:p>
            <a:r>
              <a:t>   → Type site name in search/filter</a:t>
            </a:r>
          </a:p>
          <a:p>
            <a:r>
              <a:t>   → Show filtered results</a:t>
            </a:r>
          </a:p>
          <a:p/>
          <a:p>
            <a:r>
              <a:t>3. SHOW SITE DETAILS</a:t>
            </a:r>
          </a:p>
          <a:p>
            <a:r>
              <a:t>   "Click any site to see detailed status..."</a:t>
            </a:r>
          </a:p>
          <a:p>
            <a:r>
              <a:t>   → Click on a site row</a:t>
            </a:r>
          </a:p>
          <a:p>
            <a:r>
              <a:t>   → Show completion %, file counts, verification details</a:t>
            </a:r>
          </a:p>
          <a:p>
            <a:r>
              <a:t>   → Point out: Source vs Destination counts</a:t>
            </a:r>
          </a:p>
          <a:p/>
          <a:p>
            <a:r>
              <a:t>4. EXPLAIN STATUS INDICATORS</a:t>
            </a:r>
          </a:p>
          <a:p>
            <a:r>
              <a:t>   - ✅ Complete: Green checkmark</a:t>
            </a:r>
          </a:p>
          <a:p>
            <a:r>
              <a:t>   - 🔄 In Progress: Orange/yellow spinner</a:t>
            </a:r>
          </a:p>
          <a:p>
            <a:r>
              <a:t>   - ⏳ Pending: Gray clock icon</a:t>
            </a:r>
          </a:p>
          <a:p>
            <a:r>
              <a:t>   - ❌ Failed: Red X (with retry information)</a:t>
            </a:r>
          </a:p>
          <a:p/>
          <a:p>
            <a:r>
              <a:t>5. SHOW REAL-TIME UPDATES</a:t>
            </a:r>
          </a:p>
          <a:p>
            <a:r>
              <a:t>   "The dashboard updates automatically every few minutes..."</a:t>
            </a:r>
          </a:p>
          <a:p>
            <a:r>
              <a:t>   → Explain: No refresh needed</a:t>
            </a:r>
          </a:p>
          <a:p>
            <a:r>
              <a:t>   → Point out: Last updated timestamp</a:t>
            </a:r>
          </a:p>
          <a:p/>
          <a:p>
            <a:r>
              <a:t>DASHBOARD FEATURES TO HIGHLIGHT:</a:t>
            </a:r>
          </a:p>
          <a:p/>
          <a:p>
            <a:r>
              <a:t>FILTER/SEARCH:</a:t>
            </a:r>
          </a:p>
          <a:p>
            <a:r>
              <a:t>- Type site name to filter list</a:t>
            </a:r>
          </a:p>
          <a:p>
            <a:r>
              <a:t>- Case-insensitive search</a:t>
            </a:r>
          </a:p>
          <a:p>
            <a:r>
              <a:t>- Instant results</a:t>
            </a:r>
          </a:p>
          <a:p/>
          <a:p>
            <a:r>
              <a:t>SORTING:</a:t>
            </a:r>
          </a:p>
          <a:p>
            <a:r>
              <a:t>- Click column headers to sort</a:t>
            </a:r>
          </a:p>
          <a:p>
            <a:r>
              <a:t>- Sort by: Name, Status, Completion %, File Count</a:t>
            </a:r>
          </a:p>
          <a:p>
            <a:r>
              <a:t>- Ascending/descending toggle</a:t>
            </a:r>
          </a:p>
          <a:p/>
          <a:p>
            <a:r>
              <a:t>SITE DETAILS:</a:t>
            </a:r>
          </a:p>
          <a:p>
            <a:r>
              <a:t>- Source file count</a:t>
            </a:r>
          </a:p>
          <a:p>
            <a:r>
              <a:t>- Destination file count</a:t>
            </a:r>
          </a:p>
          <a:p>
            <a:r>
              <a:t>- Missing files (if any)</a:t>
            </a:r>
          </a:p>
          <a:p>
            <a:r>
              <a:t>- Completion percentage</a:t>
            </a:r>
          </a:p>
          <a:p>
            <a:r>
              <a:t>- Last verification time</a:t>
            </a:r>
          </a:p>
          <a:p/>
          <a:p>
            <a:r>
              <a:t>MOBILE ACCESS:</a:t>
            </a:r>
          </a:p>
          <a:p>
            <a:r>
              <a:t>- Dashboard works on phones/tablets</a:t>
            </a:r>
          </a:p>
          <a:p>
            <a:r>
              <a:t>- Check status anywhere on corporate network</a:t>
            </a:r>
          </a:p>
          <a:p>
            <a:r>
              <a:t>- Responsive design</a:t>
            </a:r>
          </a:p>
          <a:p/>
          <a:p>
            <a:r>
              <a:t>SELF-SERVICE:</a:t>
            </a:r>
          </a:p>
          <a:p>
            <a:r>
              <a:t>- No need to email IT for status updates</a:t>
            </a:r>
          </a:p>
          <a:p>
            <a:r>
              <a:t>- Check anytime 24/7</a:t>
            </a:r>
          </a:p>
          <a:p>
            <a:r>
              <a:t>- Transparent process</a:t>
            </a:r>
          </a:p>
          <a:p/>
          <a:p>
            <a:r>
              <a:t>NO DEMO AVAILABLE? USE SCREENSHOT:</a:t>
            </a:r>
          </a:p>
          <a:p>
            <a:r>
              <a:t>- Walk through screenshot annotations</a:t>
            </a:r>
          </a:p>
          <a:p>
            <a:r>
              <a:t>- Explain each section</a:t>
            </a:r>
          </a:p>
          <a:p>
            <a:r>
              <a:t>- Provide URL for later access</a:t>
            </a:r>
          </a:p>
          <a:p/>
          <a:p>
            <a:r>
              <a:t>ANTICIPATED QUESTIONS:</a:t>
            </a:r>
          </a:p>
          <a:p>
            <a:r>
              <a:t>Q: "Do I need VPN to access?"</a:t>
            </a:r>
          </a:p>
          <a:p>
            <a:r>
              <a:t>A: "No - any device on corporate network can access it"</a:t>
            </a:r>
          </a:p>
          <a:p/>
          <a:p>
            <a:r>
              <a:t>Q: "How often does it update?"</a:t>
            </a:r>
          </a:p>
          <a:p>
            <a:r>
              <a:t>A: "Real-time - updates as each site completes"</a:t>
            </a:r>
          </a:p>
          <a:p/>
          <a:p>
            <a:r>
              <a:t>Q: "Can I check from home?"</a:t>
            </a:r>
          </a:p>
          <a:p>
            <a:r>
              <a:t>A: "Requires corporate network - VPN if remote"</a:t>
            </a:r>
          </a:p>
          <a:p/>
          <a:p>
            <a:r>
              <a:t>Q: "What if my site shows an error?"</a:t>
            </a:r>
          </a:p>
          <a:p>
            <a:r>
              <a:t>A: "Click for details - shows retry status and contact info"</a:t>
            </a:r>
          </a:p>
          <a:p/>
          <a:p>
            <a:r>
              <a:t>BEST PRACTICES TO SHARE:</a:t>
            </a:r>
          </a:p>
          <a:p>
            <a:r>
              <a:t>- Bookmark the dashboard URL</a:t>
            </a:r>
          </a:p>
          <a:p>
            <a:r>
              <a:t>- Check before contacting support</a:t>
            </a:r>
          </a:p>
          <a:p>
            <a:r>
              <a:t>- Share with your team members</a:t>
            </a:r>
          </a:p>
          <a:p>
            <a:r>
              <a:t>- Use it to plan your verification</a:t>
            </a:r>
          </a:p>
          <a:p/>
          <a:p>
            <a:r>
              <a:t>PAUSE: "Let's take a moment to explore the dashboard together..."</a:t>
            </a:r>
          </a:p>
          <a:p/>
          <a:p>
            <a:r>
              <a:t>TIME: 5-7 minutes (with live demo)</a:t>
            </a:r>
          </a:p>
          <a:p>
            <a:r>
              <a:t>      3-4 minutes (screenshot only)</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Support &amp; Resources</a:t>
            </a:r>
          </a:p>
          <a:p/>
          <a:p>
            <a:r>
              <a:t>KEY MESSAGE:</a:t>
            </a:r>
          </a:p>
          <a:p>
            <a:r>
              <a:t>"We're here to help throughout the migration. Here are all the ways to reach us."</a:t>
            </a:r>
          </a:p>
          <a:p/>
          <a:p>
            <a:r>
              <a:t>CUSTOMIZE BEFORE PRESENTING:</a:t>
            </a:r>
          </a:p>
          <a:p>
            <a:r>
              <a:t>Replace all [PLACEHOLDER TEXT] with actual contact information:</a:t>
            </a:r>
          </a:p>
          <a:p>
            <a:r>
              <a:t>- [YOUR IT SUPPORT EMAIL]: e.g., itsupport@impactpropertysolutions.com</a:t>
            </a:r>
          </a:p>
          <a:p>
            <a:r>
              <a:t>- [YOUR SUPPORT CHANNEL]: e.g., Teams &gt; IT Support &gt; SharePoint Migration</a:t>
            </a:r>
          </a:p>
          <a:p>
            <a:r>
              <a:t>- [YOUR DOCS LINK]: e.g., Intranet &gt; IT &gt; Migration Guide</a:t>
            </a:r>
          </a:p>
          <a:p>
            <a:r>
              <a:t>- [YOUR SUPPORT HOURS]: e.g., Monday-Friday 8am-6pm EST</a:t>
            </a:r>
          </a:p>
          <a:p>
            <a:r>
              <a:t>- [YOUR SLA]: e.g., 4 hours for urgent, 24 hours for normal</a:t>
            </a:r>
          </a:p>
          <a:p/>
          <a:p>
            <a:r>
              <a:t>SUPPORT CHANNEL DETAILS:</a:t>
            </a:r>
          </a:p>
          <a:p/>
          <a:p>
            <a:r>
              <a:t>EMAIL SUPPORT (itsupport@...):</a:t>
            </a:r>
          </a:p>
          <a:p>
            <a:r>
              <a:t>- Use for: General questions, non-urgent issues</a:t>
            </a:r>
          </a:p>
          <a:p>
            <a:r>
              <a:t>- Include: Site name, error message, screenshot</a:t>
            </a:r>
          </a:p>
          <a:p>
            <a:r>
              <a:t>- Response time: [X] hours</a:t>
            </a:r>
          </a:p>
          <a:p>
            <a:r>
              <a:t>- Best for: Detailed technical issues</a:t>
            </a:r>
          </a:p>
          <a:p/>
          <a:p>
            <a:r>
              <a:t>TEAMS SUPPORT (#SharePoint-Migration):</a:t>
            </a:r>
          </a:p>
          <a:p>
            <a:r>
              <a:t>- Use for: Quick questions, status updates</a:t>
            </a:r>
          </a:p>
          <a:p>
            <a:r>
              <a:t>- Active monitoring: [Hours]</a:t>
            </a:r>
          </a:p>
          <a:p>
            <a:r>
              <a:t>- Response time: [X] minutes during business hours</a:t>
            </a:r>
          </a:p>
          <a:p>
            <a:r>
              <a:t>- Best for: Real-time assistance</a:t>
            </a:r>
          </a:p>
          <a:p/>
          <a:p>
            <a:r>
              <a:t>DASHBOARD (http://10.0.0.89:8080):</a:t>
            </a:r>
          </a:p>
          <a:p>
            <a:r>
              <a:t>- Self-service status checking</a:t>
            </a:r>
          </a:p>
          <a:p>
            <a:r>
              <a:t>- No login required (corporate network only)</a:t>
            </a:r>
          </a:p>
          <a:p>
            <a:r>
              <a:t>- Updated in real-time</a:t>
            </a:r>
          </a:p>
          <a:p>
            <a:r>
              <a:t>- Best for: Checking progress without contacting IT</a:t>
            </a:r>
          </a:p>
          <a:p/>
          <a:p>
            <a:r>
              <a:t>DOCUMENTATION ([Link]):</a:t>
            </a:r>
          </a:p>
          <a:p>
            <a:r>
              <a:t>- Step-by-step guides</a:t>
            </a:r>
          </a:p>
          <a:p>
            <a:r>
              <a:t>- Troubleshooting tips</a:t>
            </a:r>
          </a:p>
          <a:p>
            <a:r>
              <a:t>- Video tutorials (if available)</a:t>
            </a:r>
          </a:p>
          <a:p>
            <a:r>
              <a:t>- Best for: Self-help and training</a:t>
            </a:r>
          </a:p>
          <a:p/>
          <a:p>
            <a:r>
              <a:t>ESCALATION PATH:</a:t>
            </a:r>
          </a:p>
          <a:p>
            <a:r>
              <a:t>1. First: Check dashboard for status</a:t>
            </a:r>
          </a:p>
          <a:p>
            <a:r>
              <a:t>2. Then: Email or Teams message</a:t>
            </a:r>
          </a:p>
          <a:p>
            <a:r>
              <a:t>3. If urgent: [PHONE NUMBER]</a:t>
            </a:r>
          </a:p>
          <a:p>
            <a:r>
              <a:t>4. Critical issues: [MANAGER CONTACT]</a:t>
            </a:r>
          </a:p>
          <a:p/>
          <a:p>
            <a:r>
              <a:t>WHAT TO INCLUDE IN SUPPORT REQUESTS:</a:t>
            </a:r>
          </a:p>
          <a:p>
            <a:r>
              <a:t>- Your site name (e.g., "PS - Purchasing")</a:t>
            </a:r>
          </a:p>
          <a:p>
            <a:r>
              <a:t>- What you were trying to do</a:t>
            </a:r>
          </a:p>
          <a:p>
            <a:r>
              <a:t>- Error message (exact text or screenshot)</a:t>
            </a:r>
          </a:p>
          <a:p>
            <a:r>
              <a:t>- When it happened (date/time)</a:t>
            </a:r>
          </a:p>
          <a:p>
            <a:r>
              <a:t>- Whether it's blocking your work</a:t>
            </a:r>
          </a:p>
          <a:p/>
          <a:p>
            <a:r>
              <a:t>SUPPORT COMMITMENT:</a:t>
            </a:r>
          </a:p>
          <a:p>
            <a:r>
              <a:t>- Monitoring: We watch all migrations in real-time</a:t>
            </a:r>
          </a:p>
          <a:p>
            <a:r>
              <a:t>- Proactive: We'll contact you if we detect issues</a:t>
            </a:r>
          </a:p>
          <a:p>
            <a:r>
              <a:t>- Responsive: [SLA] response times</a:t>
            </a:r>
          </a:p>
          <a:p>
            <a:r>
              <a:t>- Follow-up: We confirm resolution with you</a:t>
            </a:r>
          </a:p>
          <a:p/>
          <a:p>
            <a:r>
              <a:t>ANTICIPATED QUESTIONS:</a:t>
            </a:r>
          </a:p>
          <a:p>
            <a:r>
              <a:t>Q: "What if I need help outside business hours?"</a:t>
            </a:r>
          </a:p>
          <a:p>
            <a:r>
              <a:t>A: [Explain after-hours support availability or lack thereof]</a:t>
            </a:r>
          </a:p>
          <a:p/>
          <a:p>
            <a:r>
              <a:t>Q: "Can I talk to someone in person?"</a:t>
            </a:r>
          </a:p>
          <a:p>
            <a:r>
              <a:t>A: [Provide options for in-person or video call support]</a:t>
            </a:r>
          </a:p>
          <a:p/>
          <a:p>
            <a:r>
              <a:t>Q: "What's considered urgent vs normal?"</a:t>
            </a:r>
          </a:p>
          <a:p>
            <a:r>
              <a:t>A: "Urgent = site down, blocking work. Normal = questions, minor issues."</a:t>
            </a:r>
          </a:p>
          <a:p/>
          <a:p>
            <a:r>
              <a:t>Q: "Do I need to open a ticket?"</a:t>
            </a:r>
          </a:p>
          <a:p>
            <a:r>
              <a:t>A: [Explain ticketing process or email-based tracking]</a:t>
            </a:r>
          </a:p>
          <a:p/>
          <a:p>
            <a:r>
              <a:t>CLOSE WITH ASSURANCE:</a:t>
            </a:r>
          </a:p>
          <a:p>
            <a:r>
              <a:t>"Remember, no question is too small. We'd rather hear from you early than have you struggle with an issue."</a:t>
            </a:r>
          </a:p>
          <a:p/>
          <a:p>
            <a:r>
              <a:t>PAUSE: "Save these contact details - you'll see them again in follow-up emails."</a:t>
            </a:r>
          </a:p>
          <a:p/>
          <a:p>
            <a:r>
              <a:t>TIME: 2-3 minutes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SPEAKER NOTES - Key Takeaways &amp; Closing</a:t>
            </a:r>
          </a:p>
          <a:p/>
          <a:p>
            <a:r>
              <a:t>KEY MESSAGE:</a:t>
            </a:r>
          </a:p>
          <a:p>
            <a:r>
              <a:t>"Let's recap the most important points to remember about this migration."</a:t>
            </a:r>
          </a:p>
          <a:p/>
          <a:p>
            <a:r>
              <a:t>EMPHASIZE EACH TAKEAWAY:</a:t>
            </a:r>
          </a:p>
          <a:p/>
          <a:p>
            <a:r>
              <a:t>1. YOUR URLs DON'T CHANGE</a:t>
            </a:r>
          </a:p>
          <a:p>
            <a:r>
              <a:t>   → Single most important message</a:t>
            </a:r>
          </a:p>
          <a:p>
            <a:r>
              <a:t>   → Bookmarks, links, documentation stay valid</a:t>
            </a:r>
          </a:p>
          <a:p>
            <a:r>
              <a:t>   → /sites/YourSite remains /sites/YourSite</a:t>
            </a:r>
          </a:p>
          <a:p>
            <a:r>
              <a:t>   → Repeat this multiple times if needed</a:t>
            </a:r>
          </a:p>
          <a:p/>
          <a:p>
            <a:r>
              <a:t>2. PERMISSIONS STAY THE SAME</a:t>
            </a:r>
          </a:p>
          <a:p>
            <a:r>
              <a:t>   → Your access level doesn't change</a:t>
            </a:r>
          </a:p>
          <a:p>
            <a:r>
              <a:t>   → If you're an Owner, you're still an Owner</a:t>
            </a:r>
          </a:p>
          <a:p>
            <a:r>
              <a:t>   → External sharing continues to work</a:t>
            </a:r>
          </a:p>
          <a:p>
            <a:r>
              <a:t>   → No permission requests needed</a:t>
            </a:r>
          </a:p>
          <a:p/>
          <a:p>
            <a:r>
              <a:t>3. MINIMAL DOWNTIME EXPECTED</a:t>
            </a:r>
          </a:p>
          <a:p>
            <a:r>
              <a:t>   → Site stays accessible during migration</a:t>
            </a:r>
          </a:p>
          <a:p>
            <a:r>
              <a:t>   → Brief performance slowdown (1-5 hours)</a:t>
            </a:r>
          </a:p>
          <a:p>
            <a:r>
              <a:t>   → You can continue working</a:t>
            </a:r>
          </a:p>
          <a:p>
            <a:r>
              <a:t>   → Plan non-critical tasks during window</a:t>
            </a:r>
          </a:p>
          <a:p/>
          <a:p>
            <a:r>
              <a:t>4. TRACK PROGRESS ON DASHBOARD</a:t>
            </a:r>
          </a:p>
          <a:p>
            <a:r>
              <a:t>   → http://10.0.0.89:8080</a:t>
            </a:r>
          </a:p>
          <a:p>
            <a:r>
              <a:t>   → Self-service status checking</a:t>
            </a:r>
          </a:p>
          <a:p>
            <a:r>
              <a:t>   → Real-time updates</a:t>
            </a:r>
          </a:p>
          <a:p>
            <a:r>
              <a:t>   → No need to email for status</a:t>
            </a:r>
          </a:p>
          <a:p/>
          <a:p>
            <a:r>
              <a:t>5. SUPPORT TEAM READY TO HELP</a:t>
            </a:r>
          </a:p>
          <a:p>
            <a:r>
              <a:t>   → [YOUR SUPPORT CONTACTS]</a:t>
            </a:r>
          </a:p>
          <a:p>
            <a:r>
              <a:t>   → Available [HOURS]</a:t>
            </a:r>
          </a:p>
          <a:p>
            <a:r>
              <a:t>   → No question too small</a:t>
            </a:r>
          </a:p>
          <a:p>
            <a:r>
              <a:t>   → Proactive monitoring</a:t>
            </a:r>
          </a:p>
          <a:p/>
          <a:p>
            <a:r>
              <a:t>TRANSITION TO Q&amp;A:</a:t>
            </a:r>
          </a:p>
          <a:p>
            <a:r>
              <a:t>"Those are the key points. Now let's open it up for your questions. What concerns or questions do you have about the migration?"</a:t>
            </a:r>
          </a:p>
          <a:p/>
          <a:p>
            <a:r>
              <a:t>Q&amp;A FACILITATION:</a:t>
            </a:r>
          </a:p>
          <a:p/>
          <a:p>
            <a:r>
              <a:t>TECHNIQUES:</a:t>
            </a:r>
          </a:p>
          <a:p>
            <a:r>
              <a:t>- Pause and scan the room/video</a:t>
            </a:r>
          </a:p>
          <a:p>
            <a:r>
              <a:t>- "What questions do you have?" (not "Any questions?")</a:t>
            </a:r>
          </a:p>
          <a:p>
            <a:r>
              <a:t>- Point to raised hands/unmuted mics</a:t>
            </a:r>
          </a:p>
          <a:p>
            <a:r>
              <a:t>- Repeat question for everyone to hear</a:t>
            </a:r>
          </a:p>
          <a:p>
            <a:r>
              <a:t>- Answer clearly and concisely</a:t>
            </a:r>
          </a:p>
          <a:p>
            <a:r>
              <a:t>- Check: "Does that answer your question?"</a:t>
            </a:r>
          </a:p>
          <a:p/>
          <a:p>
            <a:r>
              <a:t>COMMON Q&amp;A TOPICS:</a:t>
            </a:r>
          </a:p>
          <a:p>
            <a:r>
              <a:t>- Timeline specifics for their site</a:t>
            </a:r>
          </a:p>
          <a:p>
            <a:r>
              <a:t>- Technical details (how SharePoint works)</a:t>
            </a:r>
          </a:p>
          <a:p>
            <a:r>
              <a:t>- Past experiences with migrations</a:t>
            </a:r>
          </a:p>
          <a:p>
            <a:r>
              <a:t>- Specific workflow concerns</a:t>
            </a:r>
          </a:p>
          <a:p>
            <a:r>
              <a:t>- External user access</a:t>
            </a:r>
          </a:p>
          <a:p>
            <a:r>
              <a:t>- Mobile app impact</a:t>
            </a:r>
          </a:p>
          <a:p/>
          <a:p>
            <a:r>
              <a:t>IF NO QUESTIONS:</a:t>
            </a:r>
          </a:p>
          <a:p>
            <a:r>
              <a:t>- "That's great - we've covered everything clearly"</a:t>
            </a:r>
          </a:p>
          <a:p>
            <a:r>
              <a:t>- Provide summary: "Remember to bookmark the dashboard"</a:t>
            </a:r>
          </a:p>
          <a:p>
            <a:r>
              <a:t>- Reiterate: "Contact us anytime you have questions"</a:t>
            </a:r>
          </a:p>
          <a:p/>
          <a:p>
            <a:r>
              <a:t>CLOSING STATEMENTS:</a:t>
            </a:r>
          </a:p>
          <a:p/>
          <a:p>
            <a:r>
              <a:t>NEXT STEPS:</a:t>
            </a:r>
          </a:p>
          <a:p>
            <a:r>
              <a:t>"Here's what happens next:</a:t>
            </a:r>
          </a:p>
          <a:p>
            <a:r>
              <a:t>1. You'll receive email notification 48 hours before your site migration</a:t>
            </a:r>
          </a:p>
          <a:p>
            <a:r>
              <a:t>2. Check dashboard for real-time status during migration</a:t>
            </a:r>
          </a:p>
          <a:p>
            <a:r>
              <a:t>3. Verify your site within 24 hours of completion</a:t>
            </a:r>
          </a:p>
          <a:p>
            <a:r>
              <a:t>4. Report any issues to [SUPPORT CONTACT]"</a:t>
            </a:r>
          </a:p>
          <a:p/>
          <a:p>
            <a:r>
              <a:t>REASSURANCE:</a:t>
            </a:r>
          </a:p>
          <a:p>
            <a:r>
              <a:t>"We've successfully migrated [X] sites already with [Y]% success rate.</a:t>
            </a:r>
          </a:p>
          <a:p>
            <a:r>
              <a:t>Your content is in good hands, and we're here to support you throughout."</a:t>
            </a:r>
          </a:p>
          <a:p/>
          <a:p>
            <a:r>
              <a:t>FINAL WORDS:</a:t>
            </a:r>
          </a:p>
          <a:p>
            <a:r>
              <a:t>"Thank you for your time today. If you think of questions later, don't hesitate to reach out. We're here to make this transition as smooth as possible for you."</a:t>
            </a:r>
          </a:p>
          <a:p/>
          <a:p>
            <a:r>
              <a:t>DISTRIBUTE MATERIALS (if applicable):</a:t>
            </a:r>
          </a:p>
          <a:p>
            <a:r>
              <a:t>- PDF version of this presentation</a:t>
            </a:r>
          </a:p>
          <a:p>
            <a:r>
              <a:t>- Quick reference guide</a:t>
            </a:r>
          </a:p>
          <a:p>
            <a:r>
              <a:t>- Support contact card</a:t>
            </a:r>
          </a:p>
          <a:p/>
          <a:p>
            <a:r>
              <a:t>FOLLOW-UP:</a:t>
            </a:r>
          </a:p>
          <a:p>
            <a:r>
              <a:t>- Send meeting recording link (if recorded)</a:t>
            </a:r>
          </a:p>
          <a:p>
            <a:r>
              <a:t>- Email summary with key links</a:t>
            </a:r>
          </a:p>
          <a:p>
            <a:r>
              <a:t>- Add to support channel for easy reference</a:t>
            </a:r>
          </a:p>
          <a:p/>
          <a:p>
            <a:r>
              <a:t>TIME: 5-10 minutes (depends on Q&amp;A)</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914400"/>
          </a:xfrm>
          <a:prstGeom prst="rect">
            <a:avLst/>
          </a:prstGeom>
          <a:noFill/>
        </p:spPr>
        <p:txBody>
          <a:bodyPr wrap="none">
            <a:spAutoFit/>
          </a:bodyPr>
          <a:lstStyle/>
          <a:p>
            <a:pPr algn="ctr">
              <a:defRPr sz="5400" b="1">
                <a:solidFill>
                  <a:srgbClr val="0078D4"/>
                </a:solidFill>
              </a:defRPr>
            </a:pPr>
            <a:r>
              <a:t>SharePoint Migration</a:t>
            </a:r>
          </a:p>
        </p:txBody>
      </p:sp>
      <p:sp>
        <p:nvSpPr>
          <p:cNvPr id="3" name="TextBox 2"/>
          <p:cNvSpPr txBox="1"/>
          <p:nvPr/>
        </p:nvSpPr>
        <p:spPr>
          <a:xfrm>
            <a:off x="914400" y="2743200"/>
            <a:ext cx="7315200" cy="731520"/>
          </a:xfrm>
          <a:prstGeom prst="rect">
            <a:avLst/>
          </a:prstGeom>
          <a:noFill/>
        </p:spPr>
        <p:txBody>
          <a:bodyPr wrap="none">
            <a:spAutoFit/>
          </a:bodyPr>
          <a:lstStyle/>
          <a:p>
            <a:pPr algn="ctr">
              <a:defRPr sz="3200">
                <a:solidFill>
                  <a:srgbClr val="323232"/>
                </a:solidFill>
              </a:defRPr>
            </a:pPr>
            <a:r>
              <a:t>Your Guide to the Transition</a:t>
            </a:r>
          </a:p>
        </p:txBody>
      </p:sp>
      <p:sp>
        <p:nvSpPr>
          <p:cNvPr id="4" name="TextBox 3"/>
          <p:cNvSpPr txBox="1"/>
          <p:nvPr/>
        </p:nvSpPr>
        <p:spPr>
          <a:xfrm>
            <a:off x="914400" y="4114800"/>
            <a:ext cx="7315200" cy="457200"/>
          </a:xfrm>
          <a:prstGeom prst="rect">
            <a:avLst/>
          </a:prstGeom>
          <a:noFill/>
        </p:spPr>
        <p:txBody>
          <a:bodyPr wrap="none">
            <a:spAutoFit/>
          </a:bodyPr>
          <a:lstStyle/>
          <a:p>
            <a:pPr algn="ctr">
              <a:defRPr sz="1800">
                <a:solidFill>
                  <a:srgbClr val="969696"/>
                </a:solidFill>
              </a:defRPr>
            </a:pPr>
            <a:r>
              <a:t>January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000">
                <a:solidFill>
                  <a:srgbClr val="0078D4"/>
                </a:solidFill>
              </a:defRPr>
            </a:pPr>
            <a:r>
              <a:t>Why We're Migrating</a:t>
            </a:r>
          </a:p>
        </p:txBody>
      </p:sp>
      <p:sp>
        <p:nvSpPr>
          <p:cNvPr id="3" name="Content Placeholder 2"/>
          <p:cNvSpPr>
            <a:spLocks noGrp="1"/>
          </p:cNvSpPr>
          <p:nvPr>
            <p:ph idx="1"/>
          </p:nvPr>
        </p:nvSpPr>
        <p:spPr/>
        <p:txBody>
          <a:bodyPr/>
          <a:lstStyle/>
          <a:p>
            <a:r>
              <a:t>Moving to Impact Property Solutions Tenant</a:t>
            </a:r>
          </a:p>
          <a:p>
            <a:pPr lvl="1">
              <a:spcBef>
                <a:spcPts val="600"/>
              </a:spcBef>
              <a:defRPr sz="2000">
                <a:solidFill>
                  <a:srgbClr val="107C10"/>
                </a:solidFill>
              </a:defRPr>
            </a:pPr>
            <a:r>
              <a:t>Unified collaboration platform</a:t>
            </a:r>
          </a:p>
          <a:p>
            <a:pPr lvl="1">
              <a:spcBef>
                <a:spcPts val="600"/>
              </a:spcBef>
              <a:defRPr sz="2000">
                <a:solidFill>
                  <a:srgbClr val="107C10"/>
                </a:solidFill>
              </a:defRPr>
            </a:pPr>
            <a:r>
              <a:t>Enhanced security and compliance</a:t>
            </a:r>
          </a:p>
          <a:p>
            <a:pPr lvl="1">
              <a:spcBef>
                <a:spcPts val="600"/>
              </a:spcBef>
              <a:defRPr sz="2000">
                <a:solidFill>
                  <a:srgbClr val="107C10"/>
                </a:solidFill>
              </a:defRPr>
            </a:pPr>
            <a:r>
              <a:t>Better integration with Microsoft 365</a:t>
            </a:r>
          </a:p>
          <a:p>
            <a:pPr lvl="1">
              <a:spcBef>
                <a:spcPts val="600"/>
              </a:spcBef>
              <a:defRPr sz="2000">
                <a:solidFill>
                  <a:srgbClr val="107C10"/>
                </a:solidFill>
              </a:defRPr>
            </a:pPr>
            <a:r>
              <a:t>Consolidated user management</a:t>
            </a:r>
          </a:p>
          <a:p>
            <a:pPr lvl="1">
              <a:spcBef>
                <a:spcPts val="600"/>
              </a:spcBef>
              <a:defRPr sz="2000">
                <a:solidFill>
                  <a:srgbClr val="107C10"/>
                </a:solidFill>
              </a:defRPr>
            </a:pPr>
            <a:r>
              <a:t>Improved performance and reliability</a:t>
            </a:r>
          </a:p>
        </p:txBody>
      </p:sp>
      <p:sp>
        <p:nvSpPr>
          <p:cNvPr id="4" name="TextBox 3"/>
          <p:cNvSpPr txBox="1"/>
          <p:nvPr/>
        </p:nvSpPr>
        <p:spPr>
          <a:xfrm>
            <a:off x="914400" y="4114800"/>
            <a:ext cx="7315200" cy="731520"/>
          </a:xfrm>
          <a:prstGeom prst="rect">
            <a:avLst/>
          </a:prstGeom>
          <a:noFill/>
        </p:spPr>
        <p:txBody>
          <a:bodyPr wrap="none">
            <a:spAutoFit/>
          </a:bodyPr>
          <a:lstStyle/>
          <a:p>
            <a:pPr algn="ctr">
              <a:defRPr sz="1800" i="1">
                <a:solidFill>
                  <a:srgbClr val="0078D4"/>
                </a:solidFill>
              </a:defRPr>
            </a:pPr>
            <a:r>
              <a:t>"Better tools, same content, minimal disruption"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000">
                <a:solidFill>
                  <a:srgbClr val="0078D4"/>
                </a:solidFill>
              </a:defRPr>
            </a:pPr>
            <a:r>
              <a:t>What's Being Migrated</a:t>
            </a:r>
          </a:p>
        </p:txBody>
      </p:sp>
      <p:sp>
        <p:nvSpPr>
          <p:cNvPr id="3" name="Content Placeholder 2"/>
          <p:cNvSpPr>
            <a:spLocks noGrp="1"/>
          </p:cNvSpPr>
          <p:nvPr>
            <p:ph idx="1"/>
          </p:nvPr>
        </p:nvSpPr>
        <p:spPr/>
        <p:txBody>
          <a:bodyPr/>
          <a:lstStyle/>
          <a:p/>
        </p:txBody>
      </p:sp>
      <p:sp>
        <p:nvSpPr>
          <p:cNvPr id="4" name="TextBox 3"/>
          <p:cNvSpPr txBox="1"/>
          <p:nvPr/>
        </p:nvSpPr>
        <p:spPr>
          <a:xfrm>
            <a:off x="457200" y="1828800"/>
            <a:ext cx="1828800" cy="914400"/>
          </a:xfrm>
          <a:prstGeom prst="rect">
            <a:avLst/>
          </a:prstGeom>
          <a:noFill/>
        </p:spPr>
        <p:txBody>
          <a:bodyPr wrap="none">
            <a:spAutoFit/>
          </a:bodyPr>
          <a:lstStyle/>
          <a:p>
            <a:pPr algn="ctr">
              <a:defRPr sz="1800" b="1">
                <a:solidFill>
                  <a:srgbClr val="0078D4"/>
                </a:solidFill>
              </a:defRPr>
            </a:pPr>
            <a:r>
              <a:t>126 SharePoint Sites</a:t>
            </a:r>
          </a:p>
        </p:txBody>
      </p:sp>
      <p:sp>
        <p:nvSpPr>
          <p:cNvPr id="5" name="TextBox 4"/>
          <p:cNvSpPr txBox="1"/>
          <p:nvPr/>
        </p:nvSpPr>
        <p:spPr>
          <a:xfrm>
            <a:off x="2743200" y="1828800"/>
            <a:ext cx="1828800" cy="914400"/>
          </a:xfrm>
          <a:prstGeom prst="rect">
            <a:avLst/>
          </a:prstGeom>
          <a:noFill/>
        </p:spPr>
        <p:txBody>
          <a:bodyPr wrap="none">
            <a:spAutoFit/>
          </a:bodyPr>
          <a:lstStyle/>
          <a:p>
            <a:pPr algn="ctr">
              <a:defRPr sz="1800" b="1">
                <a:solidFill>
                  <a:srgbClr val="107C10"/>
                </a:solidFill>
              </a:defRPr>
            </a:pPr>
            <a:r>
              <a:t>1.64 TB of Content</a:t>
            </a:r>
          </a:p>
        </p:txBody>
      </p:sp>
      <p:sp>
        <p:nvSpPr>
          <p:cNvPr id="6" name="TextBox 5"/>
          <p:cNvSpPr txBox="1"/>
          <p:nvPr/>
        </p:nvSpPr>
        <p:spPr>
          <a:xfrm>
            <a:off x="5029200" y="1828800"/>
            <a:ext cx="1828800" cy="914400"/>
          </a:xfrm>
          <a:prstGeom prst="rect">
            <a:avLst/>
          </a:prstGeom>
          <a:noFill/>
        </p:spPr>
        <p:txBody>
          <a:bodyPr wrap="none">
            <a:spAutoFit/>
          </a:bodyPr>
          <a:lstStyle/>
          <a:p>
            <a:pPr algn="ctr">
              <a:defRPr sz="1800" b="1">
                <a:solidFill>
                  <a:srgbClr val="FFB900"/>
                </a:solidFill>
              </a:defRPr>
            </a:pPr>
            <a:r>
              <a:t>~1233K+ Files</a:t>
            </a:r>
          </a:p>
        </p:txBody>
      </p:sp>
      <p:sp>
        <p:nvSpPr>
          <p:cNvPr id="7" name="TextBox 6"/>
          <p:cNvSpPr txBox="1"/>
          <p:nvPr/>
        </p:nvSpPr>
        <p:spPr>
          <a:xfrm>
            <a:off x="7315200" y="1828800"/>
            <a:ext cx="1828800" cy="914400"/>
          </a:xfrm>
          <a:prstGeom prst="rect">
            <a:avLst/>
          </a:prstGeom>
          <a:noFill/>
        </p:spPr>
        <p:txBody>
          <a:bodyPr wrap="none">
            <a:spAutoFit/>
          </a:bodyPr>
          <a:lstStyle/>
          <a:p>
            <a:pPr algn="ctr">
              <a:defRPr sz="1800" b="1">
                <a:solidFill>
                  <a:srgbClr val="D13438"/>
                </a:solidFill>
              </a:defRPr>
            </a:pPr>
            <a:r>
              <a:t>All Departments</a:t>
            </a:r>
          </a:p>
        </p:txBody>
      </p:sp>
      <p:sp>
        <p:nvSpPr>
          <p:cNvPr id="8" name="TextBox 7"/>
          <p:cNvSpPr txBox="1"/>
          <p:nvPr/>
        </p:nvSpPr>
        <p:spPr>
          <a:xfrm>
            <a:off x="1371600" y="3200400"/>
            <a:ext cx="6400800" cy="1371600"/>
          </a:xfrm>
          <a:prstGeom prst="rect">
            <a:avLst/>
          </a:prstGeom>
          <a:noFill/>
        </p:spPr>
        <p:txBody>
          <a:bodyPr wrap="square">
            <a:spAutoFit/>
          </a:bodyPr>
          <a:lstStyle/>
          <a:p>
            <a:pPr algn="ctr">
              <a:defRPr sz="1600">
                <a:solidFill>
                  <a:srgbClr val="323232"/>
                </a:solidFill>
              </a:defRPr>
            </a:pPr>
            <a:r>
              <a:t>Key Sites: SeniorLiving • Workorders • Credit • Purchasing • Finance • Operations • Contracts • AccountsPayable • RNC • and many more...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000">
                <a:solidFill>
                  <a:srgbClr val="0078D4"/>
                </a:solidFill>
              </a:defRPr>
            </a:pPr>
            <a:r>
              <a:t>Where We Are Today</a:t>
            </a:r>
          </a:p>
        </p:txBody>
      </p:sp>
      <p:sp>
        <p:nvSpPr>
          <p:cNvPr id="3" name="Content Placeholder 2"/>
          <p:cNvSpPr>
            <a:spLocks noGrp="1"/>
          </p:cNvSpPr>
          <p:nvPr>
            <p:ph idx="1"/>
          </p:nvPr>
        </p:nvSpPr>
        <p:spPr/>
        <p:txBody>
          <a:bodyPr/>
          <a:lstStyle/>
          <a:p/>
        </p:txBody>
      </p:sp>
      <p:sp>
        <p:nvSpPr>
          <p:cNvPr id="4" name="TextBox 3"/>
          <p:cNvSpPr txBox="1"/>
          <p:nvPr/>
        </p:nvSpPr>
        <p:spPr>
          <a:xfrm>
            <a:off x="457200" y="1828800"/>
            <a:ext cx="2286000" cy="1097280"/>
          </a:xfrm>
          <a:prstGeom prst="rect">
            <a:avLst/>
          </a:prstGeom>
          <a:noFill/>
        </p:spPr>
        <p:txBody>
          <a:bodyPr wrap="none">
            <a:spAutoFit/>
          </a:bodyPr>
          <a:lstStyle/>
          <a:p>
            <a:pPr algn="ctr">
              <a:defRPr sz="1800" b="1">
                <a:solidFill>
                  <a:srgbClr val="107C10"/>
                </a:solidFill>
              </a:defRPr>
            </a:pPr>
            <a:r>
              <a:t>✅ 29 Sites Complete</a:t>
            </a:r>
          </a:p>
          <a:p>
            <a:pPr algn="ctr">
              <a:defRPr sz="1600">
                <a:solidFill>
                  <a:srgbClr val="107C10"/>
                </a:solidFill>
              </a:defRPr>
            </a:pPr>
            <a:r>
              <a:t>(23%)</a:t>
            </a:r>
          </a:p>
        </p:txBody>
      </p:sp>
      <p:sp>
        <p:nvSpPr>
          <p:cNvPr id="5" name="TextBox 4"/>
          <p:cNvSpPr txBox="1"/>
          <p:nvPr/>
        </p:nvSpPr>
        <p:spPr>
          <a:xfrm>
            <a:off x="3200400" y="1828800"/>
            <a:ext cx="2286000" cy="1097280"/>
          </a:xfrm>
          <a:prstGeom prst="rect">
            <a:avLst/>
          </a:prstGeom>
          <a:noFill/>
        </p:spPr>
        <p:txBody>
          <a:bodyPr wrap="none">
            <a:spAutoFit/>
          </a:bodyPr>
          <a:lstStyle/>
          <a:p>
            <a:pPr algn="ctr">
              <a:defRPr sz="1800" b="1">
                <a:solidFill>
                  <a:srgbClr val="FFB900"/>
                </a:solidFill>
              </a:defRPr>
            </a:pPr>
            <a:r>
              <a:t>🔄 0 Sites In Progress</a:t>
            </a:r>
          </a:p>
        </p:txBody>
      </p:sp>
      <p:sp>
        <p:nvSpPr>
          <p:cNvPr id="6" name="TextBox 5"/>
          <p:cNvSpPr txBox="1"/>
          <p:nvPr/>
        </p:nvSpPr>
        <p:spPr>
          <a:xfrm>
            <a:off x="5943600" y="1828800"/>
            <a:ext cx="2286000" cy="1097280"/>
          </a:xfrm>
          <a:prstGeom prst="rect">
            <a:avLst/>
          </a:prstGeom>
          <a:noFill/>
        </p:spPr>
        <p:txBody>
          <a:bodyPr wrap="none">
            <a:spAutoFit/>
          </a:bodyPr>
          <a:lstStyle/>
          <a:p>
            <a:pPr algn="ctr">
              <a:defRPr sz="1800" b="1">
                <a:solidFill>
                  <a:srgbClr val="969696"/>
                </a:solidFill>
              </a:defRPr>
            </a:pPr>
            <a:r>
              <a:t>⏳ 97 Sites Pending</a:t>
            </a:r>
          </a:p>
        </p:txBody>
      </p:sp>
      <p:sp>
        <p:nvSpPr>
          <p:cNvPr id="7" name="TextBox 6"/>
          <p:cNvSpPr txBox="1"/>
          <p:nvPr/>
        </p:nvSpPr>
        <p:spPr>
          <a:xfrm>
            <a:off x="1828800" y="3657600"/>
            <a:ext cx="5486400" cy="731520"/>
          </a:xfrm>
          <a:prstGeom prst="rect">
            <a:avLst/>
          </a:prstGeom>
          <a:noFill/>
        </p:spPr>
        <p:txBody>
          <a:bodyPr wrap="none">
            <a:spAutoFit/>
          </a:bodyPr>
          <a:lstStyle/>
          <a:p>
            <a:pPr algn="ctr">
              <a:defRPr sz="2000" b="1">
                <a:solidFill>
                  <a:srgbClr val="0078D4"/>
                </a:solidFill>
              </a:defRPr>
            </a:pPr>
            <a:r>
              <a:t>Track Your Site: http://10.0.0.89:8080</a:t>
            </a:r>
          </a:p>
        </p:txBody>
      </p:sp>
      <p:sp>
        <p:nvSpPr>
          <p:cNvPr id="8" name="TextBox 7"/>
          <p:cNvSpPr txBox="1"/>
          <p:nvPr/>
        </p:nvSpPr>
        <p:spPr>
          <a:xfrm>
            <a:off x="1828800" y="4389120"/>
            <a:ext cx="5486400" cy="457200"/>
          </a:xfrm>
          <a:prstGeom prst="rect">
            <a:avLst/>
          </a:prstGeom>
          <a:noFill/>
        </p:spPr>
        <p:txBody>
          <a:bodyPr wrap="none">
            <a:spAutoFit/>
          </a:bodyPr>
          <a:lstStyle/>
          <a:p>
            <a:pPr algn="ctr">
              <a:defRPr sz="1200" i="1">
                <a:solidFill>
                  <a:srgbClr val="969696"/>
                </a:solidFill>
              </a:defRPr>
            </a:pPr>
            <a:r>
              <a:t>(Accessible on corporate network • Real-time updates • Filter by site name)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000">
                <a:solidFill>
                  <a:srgbClr val="0078D4"/>
                </a:solidFill>
              </a:defRPr>
            </a:pPr>
            <a:r>
              <a:t>What Changes for You</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4114800" cy="3200400"/>
          </a:xfrm>
          <a:prstGeom prst="rect">
            <a:avLst/>
          </a:prstGeom>
          <a:noFill/>
        </p:spPr>
        <p:txBody>
          <a:bodyPr wrap="none">
            <a:spAutoFit/>
          </a:bodyPr>
          <a:lstStyle/>
          <a:p>
            <a:pPr>
              <a:defRPr sz="2400" b="1">
                <a:solidFill>
                  <a:srgbClr val="D13438"/>
                </a:solidFill>
              </a:defRPr>
            </a:pPr>
            <a:r>
              <a:t>What's Changing</a:t>
            </a:r>
          </a:p>
          <a:p>
            <a:pPr>
              <a:spcBef>
                <a:spcPts val="800"/>
              </a:spcBef>
              <a:defRPr sz="1600">
                <a:solidFill>
                  <a:srgbClr val="323232"/>
                </a:solidFill>
              </a:defRPr>
            </a:pPr>
            <a:r>
              <a:t>• Email domain: @impactpropertysolutions.com</a:t>
            </a:r>
          </a:p>
          <a:p>
            <a:pPr>
              <a:spcBef>
                <a:spcPts val="800"/>
              </a:spcBef>
              <a:defRPr sz="1600">
                <a:solidFill>
                  <a:srgbClr val="323232"/>
                </a:solidFill>
              </a:defRPr>
            </a:pPr>
            <a:r>
              <a:t>• Site tenant: Interior Logic → Impact Floors</a:t>
            </a:r>
          </a:p>
        </p:txBody>
      </p:sp>
      <p:sp>
        <p:nvSpPr>
          <p:cNvPr id="5" name="TextBox 4"/>
          <p:cNvSpPr txBox="1"/>
          <p:nvPr/>
        </p:nvSpPr>
        <p:spPr>
          <a:xfrm>
            <a:off x="5029200" y="1371600"/>
            <a:ext cx="3657600" cy="3200400"/>
          </a:xfrm>
          <a:prstGeom prst="rect">
            <a:avLst/>
          </a:prstGeom>
          <a:noFill/>
        </p:spPr>
        <p:txBody>
          <a:bodyPr wrap="none">
            <a:spAutoFit/>
          </a:bodyPr>
          <a:lstStyle/>
          <a:p>
            <a:pPr>
              <a:defRPr sz="2400" b="1">
                <a:solidFill>
                  <a:srgbClr val="107C10"/>
                </a:solidFill>
              </a:defRPr>
            </a:pPr>
            <a:r>
              <a:t>What's NOT Changing</a:t>
            </a:r>
          </a:p>
          <a:p>
            <a:pPr>
              <a:spcBef>
                <a:spcPts val="800"/>
              </a:spcBef>
              <a:defRPr sz="1600">
                <a:solidFill>
                  <a:srgbClr val="323232"/>
                </a:solidFill>
              </a:defRPr>
            </a:pPr>
            <a:r>
              <a:t>✓ Site URLs (bookmarks still work!)</a:t>
            </a:r>
          </a:p>
          <a:p>
            <a:pPr>
              <a:spcBef>
                <a:spcPts val="800"/>
              </a:spcBef>
              <a:defRPr sz="1600">
                <a:solidFill>
                  <a:srgbClr val="323232"/>
                </a:solidFill>
              </a:defRPr>
            </a:pPr>
            <a:r>
              <a:t>✓ Your permissions and access</a:t>
            </a:r>
          </a:p>
          <a:p>
            <a:pPr>
              <a:spcBef>
                <a:spcPts val="800"/>
              </a:spcBef>
              <a:defRPr sz="1600">
                <a:solidFill>
                  <a:srgbClr val="323232"/>
                </a:solidFill>
              </a:defRPr>
            </a:pPr>
            <a:r>
              <a:t>✓ Files, folders, and version history</a:t>
            </a:r>
          </a:p>
          <a:p>
            <a:pPr>
              <a:spcBef>
                <a:spcPts val="800"/>
              </a:spcBef>
              <a:defRPr sz="1600">
                <a:solidFill>
                  <a:srgbClr val="323232"/>
                </a:solidFill>
              </a:defRPr>
            </a:pPr>
            <a:r>
              <a:t>✓ Shared links and external sharing</a:t>
            </a:r>
          </a:p>
          <a:p>
            <a:pPr>
              <a:spcBef>
                <a:spcPts val="800"/>
              </a:spcBef>
              <a:defRPr sz="1600">
                <a:solidFill>
                  <a:srgbClr val="323232"/>
                </a:solidFill>
              </a:defRPr>
            </a:pPr>
            <a:r>
              <a:t>✓ Your familiar SharePoint interface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000">
                <a:solidFill>
                  <a:srgbClr val="0078D4"/>
                </a:solidFill>
              </a:defRPr>
            </a:pPr>
            <a:r>
              <a:t>Your Site Migration Schedule</a:t>
            </a:r>
          </a:p>
        </p:txBody>
      </p:sp>
      <p:sp>
        <p:nvSpPr>
          <p:cNvPr id="3" name="Content Placeholder 2"/>
          <p:cNvSpPr>
            <a:spLocks noGrp="1"/>
          </p:cNvSpPr>
          <p:nvPr>
            <p:ph idx="1"/>
          </p:nvPr>
        </p:nvSpPr>
        <p:spPr/>
        <p:txBody>
          <a:bodyPr/>
          <a:lstStyle/>
          <a:p/>
        </p:txBody>
      </p:sp>
      <p:sp>
        <p:nvSpPr>
          <p:cNvPr id="4" name="TextBox 3"/>
          <p:cNvSpPr txBox="1"/>
          <p:nvPr/>
        </p:nvSpPr>
        <p:spPr>
          <a:xfrm>
            <a:off x="914400" y="1645920"/>
            <a:ext cx="2286000" cy="365760"/>
          </a:xfrm>
          <a:prstGeom prst="rect">
            <a:avLst/>
          </a:prstGeom>
          <a:noFill/>
        </p:spPr>
        <p:txBody>
          <a:bodyPr wrap="none">
            <a:spAutoFit/>
          </a:bodyPr>
          <a:lstStyle/>
          <a:p>
            <a:pPr>
              <a:defRPr sz="1800" b="1">
                <a:solidFill>
                  <a:srgbClr val="323232"/>
                </a:solidFill>
              </a:defRPr>
            </a:pPr>
            <a:r>
              <a:t>Your Site:</a:t>
            </a:r>
          </a:p>
        </p:txBody>
      </p:sp>
      <p:sp>
        <p:nvSpPr>
          <p:cNvPr id="5" name="TextBox 4"/>
          <p:cNvSpPr txBox="1"/>
          <p:nvPr/>
        </p:nvSpPr>
        <p:spPr>
          <a:xfrm>
            <a:off x="3200400" y="1645920"/>
            <a:ext cx="5029200" cy="365760"/>
          </a:xfrm>
          <a:prstGeom prst="rect">
            <a:avLst/>
          </a:prstGeom>
          <a:noFill/>
        </p:spPr>
        <p:txBody>
          <a:bodyPr wrap="none">
            <a:spAutoFit/>
          </a:bodyPr>
          <a:lstStyle/>
          <a:p>
            <a:pPr>
              <a:defRPr sz="1800" i="1">
                <a:solidFill>
                  <a:srgbClr val="D13438"/>
                </a:solidFill>
              </a:defRPr>
            </a:pPr>
            <a:r>
              <a:t>[SITE NAME]</a:t>
            </a:r>
          </a:p>
        </p:txBody>
      </p:sp>
      <p:sp>
        <p:nvSpPr>
          <p:cNvPr id="6" name="TextBox 5"/>
          <p:cNvSpPr txBox="1"/>
          <p:nvPr/>
        </p:nvSpPr>
        <p:spPr>
          <a:xfrm>
            <a:off x="914400" y="2103120"/>
            <a:ext cx="2286000" cy="365760"/>
          </a:xfrm>
          <a:prstGeom prst="rect">
            <a:avLst/>
          </a:prstGeom>
          <a:noFill/>
        </p:spPr>
        <p:txBody>
          <a:bodyPr wrap="none">
            <a:spAutoFit/>
          </a:bodyPr>
          <a:lstStyle/>
          <a:p>
            <a:pPr>
              <a:defRPr sz="1800" b="1">
                <a:solidFill>
                  <a:srgbClr val="323232"/>
                </a:solidFill>
              </a:defRPr>
            </a:pPr>
            <a:r>
              <a:t>Migration Window:</a:t>
            </a:r>
          </a:p>
        </p:txBody>
      </p:sp>
      <p:sp>
        <p:nvSpPr>
          <p:cNvPr id="7" name="TextBox 6"/>
          <p:cNvSpPr txBox="1"/>
          <p:nvPr/>
        </p:nvSpPr>
        <p:spPr>
          <a:xfrm>
            <a:off x="3200400" y="2103120"/>
            <a:ext cx="5029200" cy="365760"/>
          </a:xfrm>
          <a:prstGeom prst="rect">
            <a:avLst/>
          </a:prstGeom>
          <a:noFill/>
        </p:spPr>
        <p:txBody>
          <a:bodyPr wrap="none">
            <a:spAutoFit/>
          </a:bodyPr>
          <a:lstStyle/>
          <a:p>
            <a:pPr>
              <a:defRPr sz="1800" i="1">
                <a:solidFill>
                  <a:srgbClr val="D13438"/>
                </a:solidFill>
              </a:defRPr>
            </a:pPr>
            <a:r>
              <a:t>[DATE/TIME]</a:t>
            </a:r>
          </a:p>
        </p:txBody>
      </p:sp>
      <p:sp>
        <p:nvSpPr>
          <p:cNvPr id="8" name="TextBox 7"/>
          <p:cNvSpPr txBox="1"/>
          <p:nvPr/>
        </p:nvSpPr>
        <p:spPr>
          <a:xfrm>
            <a:off x="914400" y="2560320"/>
            <a:ext cx="2286000" cy="365760"/>
          </a:xfrm>
          <a:prstGeom prst="rect">
            <a:avLst/>
          </a:prstGeom>
          <a:noFill/>
        </p:spPr>
        <p:txBody>
          <a:bodyPr wrap="none">
            <a:spAutoFit/>
          </a:bodyPr>
          <a:lstStyle/>
          <a:p>
            <a:pPr>
              <a:defRPr sz="1800" b="1">
                <a:solidFill>
                  <a:srgbClr val="323232"/>
                </a:solidFill>
              </a:defRPr>
            </a:pPr>
            <a:r>
              <a:t>Expected Duration:</a:t>
            </a:r>
          </a:p>
        </p:txBody>
      </p:sp>
      <p:sp>
        <p:nvSpPr>
          <p:cNvPr id="9" name="TextBox 8"/>
          <p:cNvSpPr txBox="1"/>
          <p:nvPr/>
        </p:nvSpPr>
        <p:spPr>
          <a:xfrm>
            <a:off x="3200400" y="2560320"/>
            <a:ext cx="5029200" cy="365760"/>
          </a:xfrm>
          <a:prstGeom prst="rect">
            <a:avLst/>
          </a:prstGeom>
          <a:noFill/>
        </p:spPr>
        <p:txBody>
          <a:bodyPr wrap="none">
            <a:spAutoFit/>
          </a:bodyPr>
          <a:lstStyle/>
          <a:p>
            <a:pPr>
              <a:defRPr sz="1800" i="1">
                <a:solidFill>
                  <a:srgbClr val="D13438"/>
                </a:solidFill>
              </a:defRPr>
            </a:pPr>
            <a:r>
              <a:t>[X hours based on size]</a:t>
            </a:r>
          </a:p>
        </p:txBody>
      </p:sp>
      <p:sp>
        <p:nvSpPr>
          <p:cNvPr id="10" name="TextBox 9"/>
          <p:cNvSpPr txBox="1"/>
          <p:nvPr/>
        </p:nvSpPr>
        <p:spPr>
          <a:xfrm>
            <a:off x="914400" y="3017520"/>
            <a:ext cx="2286000" cy="365760"/>
          </a:xfrm>
          <a:prstGeom prst="rect">
            <a:avLst/>
          </a:prstGeom>
          <a:noFill/>
        </p:spPr>
        <p:txBody>
          <a:bodyPr wrap="none">
            <a:spAutoFit/>
          </a:bodyPr>
          <a:lstStyle/>
          <a:p>
            <a:pPr>
              <a:defRPr sz="1800" b="1">
                <a:solidFill>
                  <a:srgbClr val="323232"/>
                </a:solidFill>
              </a:defRPr>
            </a:pPr>
            <a:r>
              <a:t>Estimated Items:</a:t>
            </a:r>
          </a:p>
        </p:txBody>
      </p:sp>
      <p:sp>
        <p:nvSpPr>
          <p:cNvPr id="11" name="TextBox 10"/>
          <p:cNvSpPr txBox="1"/>
          <p:nvPr/>
        </p:nvSpPr>
        <p:spPr>
          <a:xfrm>
            <a:off x="3200400" y="3017520"/>
            <a:ext cx="5029200" cy="365760"/>
          </a:xfrm>
          <a:prstGeom prst="rect">
            <a:avLst/>
          </a:prstGeom>
          <a:noFill/>
        </p:spPr>
        <p:txBody>
          <a:bodyPr wrap="none">
            <a:spAutoFit/>
          </a:bodyPr>
          <a:lstStyle/>
          <a:p>
            <a:pPr>
              <a:defRPr sz="1800" i="1">
                <a:solidFill>
                  <a:srgbClr val="D13438"/>
                </a:solidFill>
              </a:defRPr>
            </a:pPr>
            <a:r>
              <a:t>[XX,XXX items]</a:t>
            </a:r>
          </a:p>
        </p:txBody>
      </p:sp>
      <p:sp>
        <p:nvSpPr>
          <p:cNvPr id="12" name="TextBox 11"/>
          <p:cNvSpPr txBox="1"/>
          <p:nvPr/>
        </p:nvSpPr>
        <p:spPr>
          <a:xfrm>
            <a:off x="914400" y="3657600"/>
            <a:ext cx="7315200" cy="457200"/>
          </a:xfrm>
          <a:prstGeom prst="rect">
            <a:avLst/>
          </a:prstGeom>
          <a:noFill/>
        </p:spPr>
        <p:txBody>
          <a:bodyPr wrap="none">
            <a:spAutoFit/>
          </a:bodyPr>
          <a:lstStyle/>
          <a:p>
            <a:pPr>
              <a:defRPr sz="1600">
                <a:solidFill>
                  <a:srgbClr val="0078D4"/>
                </a:solidFill>
              </a:defRPr>
            </a:pPr>
            <a:r>
              <a:t>Current Status: Check Dashboard → http://10.0.0.89:8080</a:t>
            </a:r>
          </a:p>
        </p:txBody>
      </p:sp>
      <p:sp>
        <p:nvSpPr>
          <p:cNvPr id="13" name="TextBox 12"/>
          <p:cNvSpPr txBox="1"/>
          <p:nvPr/>
        </p:nvSpPr>
        <p:spPr>
          <a:xfrm>
            <a:off x="914400" y="4297680"/>
            <a:ext cx="7315200" cy="548640"/>
          </a:xfrm>
          <a:prstGeom prst="rect">
            <a:avLst/>
          </a:prstGeom>
          <a:noFill/>
        </p:spPr>
        <p:txBody>
          <a:bodyPr wrap="none">
            <a:spAutoFit/>
          </a:bodyPr>
          <a:lstStyle/>
          <a:p>
            <a:pPr>
              <a:defRPr sz="1200">
                <a:solidFill>
                  <a:srgbClr val="323232"/>
                </a:solidFill>
              </a:defRPr>
            </a:pPr>
            <a:r>
              <a:t>• Pre-migration notification: 48 hours before  • Migration begins: [Start time]  • Expected completion: [End time]  • Post-migration verification: Within 24 hours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78D4"/>
                </a:solidFill>
              </a:defRPr>
            </a:pPr>
            <a:r>
              <a:t>What to Expect During Migration</a:t>
            </a:r>
          </a:p>
        </p:txBody>
      </p:sp>
      <p:sp>
        <p:nvSpPr>
          <p:cNvPr id="3" name="Content Placeholder 2"/>
          <p:cNvSpPr>
            <a:spLocks noGrp="1"/>
          </p:cNvSpPr>
          <p:nvPr>
            <p:ph idx="1"/>
          </p:nvPr>
        </p:nvSpPr>
        <p:spPr/>
        <p:txBody>
          <a:bodyPr/>
          <a:lstStyle/>
          <a:p/>
        </p:txBody>
      </p:sp>
      <p:sp>
        <p:nvSpPr>
          <p:cNvPr id="4" name="TextBox 3"/>
          <p:cNvSpPr txBox="1"/>
          <p:nvPr/>
        </p:nvSpPr>
        <p:spPr>
          <a:xfrm>
            <a:off x="1371600" y="1828800"/>
            <a:ext cx="6400800" cy="457200"/>
          </a:xfrm>
          <a:prstGeom prst="rect">
            <a:avLst/>
          </a:prstGeom>
          <a:noFill/>
        </p:spPr>
        <p:txBody>
          <a:bodyPr wrap="none">
            <a:spAutoFit/>
          </a:bodyPr>
          <a:lstStyle/>
          <a:p>
            <a:pPr>
              <a:defRPr sz="2000" b="1">
                <a:solidFill>
                  <a:srgbClr val="107C10"/>
                </a:solidFill>
              </a:defRPr>
            </a:pPr>
            <a:r>
              <a:t>✓ Site Remains Accessible</a:t>
            </a:r>
          </a:p>
        </p:txBody>
      </p:sp>
      <p:sp>
        <p:nvSpPr>
          <p:cNvPr id="5" name="TextBox 4"/>
          <p:cNvSpPr txBox="1"/>
          <p:nvPr/>
        </p:nvSpPr>
        <p:spPr>
          <a:xfrm>
            <a:off x="1371600" y="2377440"/>
            <a:ext cx="6400800" cy="457200"/>
          </a:xfrm>
          <a:prstGeom prst="rect">
            <a:avLst/>
          </a:prstGeom>
          <a:noFill/>
        </p:spPr>
        <p:txBody>
          <a:bodyPr wrap="none">
            <a:spAutoFit/>
          </a:bodyPr>
          <a:lstStyle/>
          <a:p>
            <a:pPr>
              <a:defRPr sz="2000" b="1">
                <a:solidFill>
                  <a:srgbClr val="FFB900"/>
                </a:solidFill>
              </a:defRPr>
            </a:pPr>
            <a:r>
              <a:t>⚠️ Possible Performance Slowdown (1-5 hours)</a:t>
            </a:r>
          </a:p>
        </p:txBody>
      </p:sp>
      <p:sp>
        <p:nvSpPr>
          <p:cNvPr id="6" name="TextBox 5"/>
          <p:cNvSpPr txBox="1"/>
          <p:nvPr/>
        </p:nvSpPr>
        <p:spPr>
          <a:xfrm>
            <a:off x="1371600" y="2926080"/>
            <a:ext cx="6400800" cy="457200"/>
          </a:xfrm>
          <a:prstGeom prst="rect">
            <a:avLst/>
          </a:prstGeom>
          <a:noFill/>
        </p:spPr>
        <p:txBody>
          <a:bodyPr wrap="none">
            <a:spAutoFit/>
          </a:bodyPr>
          <a:lstStyle/>
          <a:p>
            <a:pPr>
              <a:defRPr sz="2000" b="1">
                <a:solidFill>
                  <a:srgbClr val="FFB900"/>
                </a:solidFill>
              </a:defRPr>
            </a:pPr>
            <a:r>
              <a:t>⚠️ Some Shared Links Temporarily Unavailable</a:t>
            </a:r>
          </a:p>
        </p:txBody>
      </p:sp>
      <p:sp>
        <p:nvSpPr>
          <p:cNvPr id="7" name="TextBox 6"/>
          <p:cNvSpPr txBox="1"/>
          <p:nvPr/>
        </p:nvSpPr>
        <p:spPr>
          <a:xfrm>
            <a:off x="1371600" y="3474720"/>
            <a:ext cx="6400800" cy="457200"/>
          </a:xfrm>
          <a:prstGeom prst="rect">
            <a:avLst/>
          </a:prstGeom>
          <a:noFill/>
        </p:spPr>
        <p:txBody>
          <a:bodyPr wrap="none">
            <a:spAutoFit/>
          </a:bodyPr>
          <a:lstStyle/>
          <a:p>
            <a:pPr>
              <a:defRPr sz="2000" b="1">
                <a:solidFill>
                  <a:srgbClr val="107C10"/>
                </a:solidFill>
              </a:defRPr>
            </a:pPr>
            <a:r>
              <a:t>✓ No Data Loss</a:t>
            </a:r>
          </a:p>
        </p:txBody>
      </p:sp>
      <p:sp>
        <p:nvSpPr>
          <p:cNvPr id="8" name="TextBox 7"/>
          <p:cNvSpPr txBox="1"/>
          <p:nvPr/>
        </p:nvSpPr>
        <p:spPr>
          <a:xfrm>
            <a:off x="1371600" y="4023360"/>
            <a:ext cx="6400800" cy="457200"/>
          </a:xfrm>
          <a:prstGeom prst="rect">
            <a:avLst/>
          </a:prstGeom>
          <a:noFill/>
        </p:spPr>
        <p:txBody>
          <a:bodyPr wrap="none">
            <a:spAutoFit/>
          </a:bodyPr>
          <a:lstStyle/>
          <a:p>
            <a:pPr>
              <a:defRPr sz="2000" b="1">
                <a:solidFill>
                  <a:srgbClr val="107C10"/>
                </a:solidFill>
              </a:defRPr>
            </a:pPr>
            <a:r>
              <a:t>✓ Automatic Process (No Action Required)</a:t>
            </a:r>
          </a:p>
        </p:txBody>
      </p:sp>
      <p:sp>
        <p:nvSpPr>
          <p:cNvPr id="9" name="TextBox 8"/>
          <p:cNvSpPr txBox="1"/>
          <p:nvPr/>
        </p:nvSpPr>
        <p:spPr>
          <a:xfrm>
            <a:off x="1828800" y="4572000"/>
            <a:ext cx="5486400" cy="457200"/>
          </a:xfrm>
          <a:prstGeom prst="rect">
            <a:avLst/>
          </a:prstGeom>
          <a:noFill/>
        </p:spPr>
        <p:txBody>
          <a:bodyPr wrap="none">
            <a:spAutoFit/>
          </a:bodyPr>
          <a:lstStyle/>
          <a:p>
            <a:pPr algn="ctr">
              <a:defRPr sz="1600" i="1">
                <a:solidFill>
                  <a:srgbClr val="323232"/>
                </a:solidFill>
              </a:defRPr>
            </a:pPr>
            <a:r>
              <a:t>You'll receive notification when your site begins migration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78D4"/>
                </a:solidFill>
              </a:defRPr>
            </a:pPr>
            <a:r>
              <a:t>After Migration - What to Check</a:t>
            </a:r>
          </a:p>
        </p:txBody>
      </p:sp>
      <p:sp>
        <p:nvSpPr>
          <p:cNvPr id="3" name="Content Placeholder 2"/>
          <p:cNvSpPr>
            <a:spLocks noGrp="1"/>
          </p:cNvSpPr>
          <p:nvPr>
            <p:ph idx="1"/>
          </p:nvPr>
        </p:nvSpPr>
        <p:spPr/>
        <p:txBody>
          <a:bodyPr/>
          <a:lstStyle/>
          <a:p/>
        </p:txBody>
      </p:sp>
      <p:sp>
        <p:nvSpPr>
          <p:cNvPr id="4" name="TextBox 3"/>
          <p:cNvSpPr txBox="1"/>
          <p:nvPr/>
        </p:nvSpPr>
        <p:spPr>
          <a:xfrm>
            <a:off x="1828800" y="1828800"/>
            <a:ext cx="5486400" cy="411480"/>
          </a:xfrm>
          <a:prstGeom prst="rect">
            <a:avLst/>
          </a:prstGeom>
          <a:noFill/>
        </p:spPr>
        <p:txBody>
          <a:bodyPr wrap="none">
            <a:spAutoFit/>
          </a:bodyPr>
          <a:lstStyle/>
          <a:p>
            <a:pPr>
              <a:defRPr sz="2000">
                <a:solidFill>
                  <a:srgbClr val="323232"/>
                </a:solidFill>
              </a:defRPr>
            </a:pPr>
            <a:r>
              <a:t>□ Can you access your site?</a:t>
            </a:r>
          </a:p>
        </p:txBody>
      </p:sp>
      <p:sp>
        <p:nvSpPr>
          <p:cNvPr id="5" name="TextBox 4"/>
          <p:cNvSpPr txBox="1"/>
          <p:nvPr/>
        </p:nvSpPr>
        <p:spPr>
          <a:xfrm>
            <a:off x="1828800" y="2286000"/>
            <a:ext cx="5486400" cy="411480"/>
          </a:xfrm>
          <a:prstGeom prst="rect">
            <a:avLst/>
          </a:prstGeom>
          <a:noFill/>
        </p:spPr>
        <p:txBody>
          <a:bodyPr wrap="none">
            <a:spAutoFit/>
          </a:bodyPr>
          <a:lstStyle/>
          <a:p>
            <a:pPr>
              <a:defRPr sz="2000">
                <a:solidFill>
                  <a:srgbClr val="323232"/>
                </a:solidFill>
              </a:defRPr>
            </a:pPr>
            <a:r>
              <a:t>□ Are your files and folders complete?</a:t>
            </a:r>
          </a:p>
        </p:txBody>
      </p:sp>
      <p:sp>
        <p:nvSpPr>
          <p:cNvPr id="6" name="TextBox 5"/>
          <p:cNvSpPr txBox="1"/>
          <p:nvPr/>
        </p:nvSpPr>
        <p:spPr>
          <a:xfrm>
            <a:off x="1828800" y="2743200"/>
            <a:ext cx="5486400" cy="411480"/>
          </a:xfrm>
          <a:prstGeom prst="rect">
            <a:avLst/>
          </a:prstGeom>
          <a:noFill/>
        </p:spPr>
        <p:txBody>
          <a:bodyPr wrap="none">
            <a:spAutoFit/>
          </a:bodyPr>
          <a:lstStyle/>
          <a:p>
            <a:pPr>
              <a:defRPr sz="2000">
                <a:solidFill>
                  <a:srgbClr val="323232"/>
                </a:solidFill>
              </a:defRPr>
            </a:pPr>
            <a:r>
              <a:t>□ Do your permissions still work?</a:t>
            </a:r>
          </a:p>
        </p:txBody>
      </p:sp>
      <p:sp>
        <p:nvSpPr>
          <p:cNvPr id="7" name="TextBox 6"/>
          <p:cNvSpPr txBox="1"/>
          <p:nvPr/>
        </p:nvSpPr>
        <p:spPr>
          <a:xfrm>
            <a:off x="1828800" y="3200400"/>
            <a:ext cx="5486400" cy="411480"/>
          </a:xfrm>
          <a:prstGeom prst="rect">
            <a:avLst/>
          </a:prstGeom>
          <a:noFill/>
        </p:spPr>
        <p:txBody>
          <a:bodyPr wrap="none">
            <a:spAutoFit/>
          </a:bodyPr>
          <a:lstStyle/>
          <a:p>
            <a:pPr>
              <a:defRPr sz="2000">
                <a:solidFill>
                  <a:srgbClr val="323232"/>
                </a:solidFill>
              </a:defRPr>
            </a:pPr>
            <a:r>
              <a:t>□ Are shared links functioning?</a:t>
            </a:r>
          </a:p>
        </p:txBody>
      </p:sp>
      <p:sp>
        <p:nvSpPr>
          <p:cNvPr id="8" name="TextBox 7"/>
          <p:cNvSpPr txBox="1"/>
          <p:nvPr/>
        </p:nvSpPr>
        <p:spPr>
          <a:xfrm>
            <a:off x="1828800" y="3657600"/>
            <a:ext cx="5486400" cy="411480"/>
          </a:xfrm>
          <a:prstGeom prst="rect">
            <a:avLst/>
          </a:prstGeom>
          <a:noFill/>
        </p:spPr>
        <p:txBody>
          <a:bodyPr wrap="none">
            <a:spAutoFit/>
          </a:bodyPr>
          <a:lstStyle/>
          <a:p>
            <a:pPr>
              <a:defRPr sz="2000">
                <a:solidFill>
                  <a:srgbClr val="323232"/>
                </a:solidFill>
              </a:defRPr>
            </a:pPr>
            <a:r>
              <a:t>□ Is version history intact?</a:t>
            </a:r>
          </a:p>
        </p:txBody>
      </p:sp>
      <p:sp>
        <p:nvSpPr>
          <p:cNvPr id="9" name="TextBox 8"/>
          <p:cNvSpPr txBox="1"/>
          <p:nvPr/>
        </p:nvSpPr>
        <p:spPr>
          <a:xfrm>
            <a:off x="1371600" y="4389120"/>
            <a:ext cx="6400800" cy="548640"/>
          </a:xfrm>
          <a:prstGeom prst="rect">
            <a:avLst/>
          </a:prstGeom>
          <a:noFill/>
        </p:spPr>
        <p:txBody>
          <a:bodyPr wrap="none">
            <a:spAutoFit/>
          </a:bodyPr>
          <a:lstStyle/>
          <a:p>
            <a:pPr algn="ctr">
              <a:defRPr sz="1800" b="1">
                <a:solidFill>
                  <a:srgbClr val="D13438"/>
                </a:solidFill>
              </a:defRPr>
            </a:pPr>
            <a:r>
              <a:t>Report Issues: [YOUR IT SUPPORT EMAIL/TEAMS CHANNEL]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78D4"/>
                </a:solidFill>
              </a:defRPr>
            </a:pPr>
            <a:r>
              <a:t>Frequently Asked Questions</a:t>
            </a:r>
          </a:p>
        </p:txBody>
      </p:sp>
      <p:sp>
        <p:nvSpPr>
          <p:cNvPr id="3" name="Content Placeholder 2"/>
          <p:cNvSpPr>
            <a:spLocks noGrp="1"/>
          </p:cNvSpPr>
          <p:nvPr>
            <p:ph idx="1"/>
          </p:nvPr>
        </p:nvSpPr>
        <p:spPr/>
        <p:txBody>
          <a:bodyPr/>
          <a:lstStyle/>
          <a:p/>
        </p:txBody>
      </p:sp>
      <p:sp>
        <p:nvSpPr>
          <p:cNvPr id="4" name="TextBox 3"/>
          <p:cNvSpPr txBox="1"/>
          <p:nvPr/>
        </p:nvSpPr>
        <p:spPr>
          <a:xfrm>
            <a:off x="731520" y="1645920"/>
            <a:ext cx="7772400" cy="274320"/>
          </a:xfrm>
          <a:prstGeom prst="rect">
            <a:avLst/>
          </a:prstGeom>
          <a:noFill/>
        </p:spPr>
        <p:txBody>
          <a:bodyPr wrap="none">
            <a:spAutoFit/>
          </a:bodyPr>
          <a:lstStyle/>
          <a:p>
            <a:pPr>
              <a:defRPr sz="1600" b="1">
                <a:solidFill>
                  <a:srgbClr val="0078D4"/>
                </a:solidFill>
              </a:defRPr>
            </a:pPr>
            <a:r>
              <a:t>Q: Will my bookmarks break?</a:t>
            </a:r>
          </a:p>
        </p:txBody>
      </p:sp>
      <p:sp>
        <p:nvSpPr>
          <p:cNvPr id="5" name="TextBox 4"/>
          <p:cNvSpPr txBox="1"/>
          <p:nvPr/>
        </p:nvSpPr>
        <p:spPr>
          <a:xfrm>
            <a:off x="731520" y="1920240"/>
            <a:ext cx="7772400" cy="228600"/>
          </a:xfrm>
          <a:prstGeom prst="rect">
            <a:avLst/>
          </a:prstGeom>
          <a:noFill/>
        </p:spPr>
        <p:txBody>
          <a:bodyPr wrap="none">
            <a:spAutoFit/>
          </a:bodyPr>
          <a:lstStyle/>
          <a:p>
            <a:pPr>
              <a:defRPr sz="1400">
                <a:solidFill>
                  <a:srgbClr val="323232"/>
                </a:solidFill>
              </a:defRPr>
            </a:pPr>
            <a:r>
              <a:t>A: No! Site URLs remain the same.</a:t>
            </a:r>
          </a:p>
        </p:txBody>
      </p:sp>
      <p:sp>
        <p:nvSpPr>
          <p:cNvPr id="6" name="TextBox 5"/>
          <p:cNvSpPr txBox="1"/>
          <p:nvPr/>
        </p:nvSpPr>
        <p:spPr>
          <a:xfrm>
            <a:off x="731520" y="2286000"/>
            <a:ext cx="7772400" cy="274320"/>
          </a:xfrm>
          <a:prstGeom prst="rect">
            <a:avLst/>
          </a:prstGeom>
          <a:noFill/>
        </p:spPr>
        <p:txBody>
          <a:bodyPr wrap="none">
            <a:spAutoFit/>
          </a:bodyPr>
          <a:lstStyle/>
          <a:p>
            <a:pPr>
              <a:defRPr sz="1600" b="1">
                <a:solidFill>
                  <a:srgbClr val="0078D4"/>
                </a:solidFill>
              </a:defRPr>
            </a:pPr>
            <a:r>
              <a:t>Q: What happens to my permissions?</a:t>
            </a:r>
          </a:p>
        </p:txBody>
      </p:sp>
      <p:sp>
        <p:nvSpPr>
          <p:cNvPr id="7" name="TextBox 6"/>
          <p:cNvSpPr txBox="1"/>
          <p:nvPr/>
        </p:nvSpPr>
        <p:spPr>
          <a:xfrm>
            <a:off x="731520" y="2560320"/>
            <a:ext cx="7772400" cy="228600"/>
          </a:xfrm>
          <a:prstGeom prst="rect">
            <a:avLst/>
          </a:prstGeom>
          <a:noFill/>
        </p:spPr>
        <p:txBody>
          <a:bodyPr wrap="none">
            <a:spAutoFit/>
          </a:bodyPr>
          <a:lstStyle/>
          <a:p>
            <a:pPr>
              <a:defRPr sz="1400">
                <a:solidFill>
                  <a:srgbClr val="323232"/>
                </a:solidFill>
              </a:defRPr>
            </a:pPr>
            <a:r>
              <a:t>A: All preserved exactly as they are today.</a:t>
            </a:r>
          </a:p>
        </p:txBody>
      </p:sp>
      <p:sp>
        <p:nvSpPr>
          <p:cNvPr id="8" name="TextBox 7"/>
          <p:cNvSpPr txBox="1"/>
          <p:nvPr/>
        </p:nvSpPr>
        <p:spPr>
          <a:xfrm>
            <a:off x="731520" y="2926080"/>
            <a:ext cx="7772400" cy="274320"/>
          </a:xfrm>
          <a:prstGeom prst="rect">
            <a:avLst/>
          </a:prstGeom>
          <a:noFill/>
        </p:spPr>
        <p:txBody>
          <a:bodyPr wrap="none">
            <a:spAutoFit/>
          </a:bodyPr>
          <a:lstStyle/>
          <a:p>
            <a:pPr>
              <a:defRPr sz="1600" b="1">
                <a:solidFill>
                  <a:srgbClr val="0078D4"/>
                </a:solidFill>
              </a:defRPr>
            </a:pPr>
            <a:r>
              <a:t>Q: Can I work during migration?</a:t>
            </a:r>
          </a:p>
        </p:txBody>
      </p:sp>
      <p:sp>
        <p:nvSpPr>
          <p:cNvPr id="9" name="TextBox 8"/>
          <p:cNvSpPr txBox="1"/>
          <p:nvPr/>
        </p:nvSpPr>
        <p:spPr>
          <a:xfrm>
            <a:off x="731520" y="3200400"/>
            <a:ext cx="7772400" cy="228600"/>
          </a:xfrm>
          <a:prstGeom prst="rect">
            <a:avLst/>
          </a:prstGeom>
          <a:noFill/>
        </p:spPr>
        <p:txBody>
          <a:bodyPr wrap="none">
            <a:spAutoFit/>
          </a:bodyPr>
          <a:lstStyle/>
          <a:p>
            <a:pPr>
              <a:defRPr sz="1400">
                <a:solidFill>
                  <a:srgbClr val="323232"/>
                </a:solidFill>
              </a:defRPr>
            </a:pPr>
            <a:r>
              <a:t>A: Yes, but expect brief slowdowns.</a:t>
            </a:r>
          </a:p>
        </p:txBody>
      </p:sp>
      <p:sp>
        <p:nvSpPr>
          <p:cNvPr id="10" name="TextBox 9"/>
          <p:cNvSpPr txBox="1"/>
          <p:nvPr/>
        </p:nvSpPr>
        <p:spPr>
          <a:xfrm>
            <a:off x="731520" y="3566160"/>
            <a:ext cx="7772400" cy="274320"/>
          </a:xfrm>
          <a:prstGeom prst="rect">
            <a:avLst/>
          </a:prstGeom>
          <a:noFill/>
        </p:spPr>
        <p:txBody>
          <a:bodyPr wrap="none">
            <a:spAutoFit/>
          </a:bodyPr>
          <a:lstStyle/>
          <a:p>
            <a:pPr>
              <a:defRPr sz="1600" b="1">
                <a:solidFill>
                  <a:srgbClr val="0078D4"/>
                </a:solidFill>
              </a:defRPr>
            </a:pPr>
            <a:r>
              <a:t>Q: What if files are missing?</a:t>
            </a:r>
          </a:p>
        </p:txBody>
      </p:sp>
      <p:sp>
        <p:nvSpPr>
          <p:cNvPr id="11" name="TextBox 10"/>
          <p:cNvSpPr txBox="1"/>
          <p:nvPr/>
        </p:nvSpPr>
        <p:spPr>
          <a:xfrm>
            <a:off x="731520" y="3840480"/>
            <a:ext cx="7772400" cy="228600"/>
          </a:xfrm>
          <a:prstGeom prst="rect">
            <a:avLst/>
          </a:prstGeom>
          <a:noFill/>
        </p:spPr>
        <p:txBody>
          <a:bodyPr wrap="none">
            <a:spAutoFit/>
          </a:bodyPr>
          <a:lstStyle/>
          <a:p>
            <a:pPr>
              <a:defRPr sz="1400">
                <a:solidFill>
                  <a:srgbClr val="323232"/>
                </a:solidFill>
              </a:defRPr>
            </a:pPr>
            <a:r>
              <a:t>A: We verify 100% - any issues corrected immediately.</a:t>
            </a:r>
          </a:p>
        </p:txBody>
      </p:sp>
      <p:sp>
        <p:nvSpPr>
          <p:cNvPr id="12" name="TextBox 11"/>
          <p:cNvSpPr txBox="1"/>
          <p:nvPr/>
        </p:nvSpPr>
        <p:spPr>
          <a:xfrm>
            <a:off x="731520" y="4206240"/>
            <a:ext cx="7772400" cy="274320"/>
          </a:xfrm>
          <a:prstGeom prst="rect">
            <a:avLst/>
          </a:prstGeom>
          <a:noFill/>
        </p:spPr>
        <p:txBody>
          <a:bodyPr wrap="none">
            <a:spAutoFit/>
          </a:bodyPr>
          <a:lstStyle/>
          <a:p>
            <a:pPr>
              <a:defRPr sz="1600" b="1">
                <a:solidFill>
                  <a:srgbClr val="0078D4"/>
                </a:solidFill>
              </a:defRPr>
            </a:pPr>
            <a:r>
              <a:t>Q: Who can I contact for help?</a:t>
            </a:r>
          </a:p>
        </p:txBody>
      </p:sp>
      <p:sp>
        <p:nvSpPr>
          <p:cNvPr id="13" name="TextBox 12"/>
          <p:cNvSpPr txBox="1"/>
          <p:nvPr/>
        </p:nvSpPr>
        <p:spPr>
          <a:xfrm>
            <a:off x="731520" y="4480560"/>
            <a:ext cx="7772400" cy="228600"/>
          </a:xfrm>
          <a:prstGeom prst="rect">
            <a:avLst/>
          </a:prstGeom>
          <a:noFill/>
        </p:spPr>
        <p:txBody>
          <a:bodyPr wrap="none">
            <a:spAutoFit/>
          </a:bodyPr>
          <a:lstStyle/>
          <a:p>
            <a:pPr>
              <a:defRPr sz="1400">
                <a:solidFill>
                  <a:srgbClr val="323232"/>
                </a:solidFill>
              </a:defRPr>
            </a:pPr>
            <a:r>
              <a:t>A: [YOUR IT SUPPORT CONTACT]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65760"/>
            <a:ext cx="7315200" cy="457200"/>
          </a:xfrm>
          <a:prstGeom prst="rect">
            <a:avLst/>
          </a:prstGeom>
          <a:noFill/>
        </p:spPr>
        <p:txBody>
          <a:bodyPr wrap="none">
            <a:spAutoFit/>
          </a:bodyPr>
          <a:lstStyle/>
          <a:p>
            <a:pPr algn="ctr">
              <a:defRPr sz="3600" b="1">
                <a:solidFill>
                  <a:srgbClr val="0078D4"/>
                </a:solidFill>
              </a:defRPr>
            </a:pPr>
            <a:r>
              <a:t>Real-Time Migration Status Dashboard</a:t>
            </a:r>
          </a:p>
        </p:txBody>
      </p:sp>
      <p:sp>
        <p:nvSpPr>
          <p:cNvPr id="3" name="TextBox 2"/>
          <p:cNvSpPr txBox="1"/>
          <p:nvPr/>
        </p:nvSpPr>
        <p:spPr>
          <a:xfrm>
            <a:off x="914400" y="1097280"/>
            <a:ext cx="7315200" cy="2743200"/>
          </a:xfrm>
          <a:prstGeom prst="rect">
            <a:avLst/>
          </a:prstGeom>
          <a:noFill/>
        </p:spPr>
        <p:txBody>
          <a:bodyPr wrap="none" anchor="ctr">
            <a:spAutoFit/>
          </a:bodyPr>
          <a:lstStyle/>
          <a:p>
            <a:pPr algn="ctr">
              <a:defRPr sz="2400">
                <a:solidFill>
                  <a:srgbClr val="969696"/>
                </a:solidFill>
              </a:defRPr>
            </a:pPr>
            <a:r>
              <a:t>[SCREENSHOT OF DASHBOARD]</a:t>
            </a:r>
          </a:p>
          <a:p/>
          <a:p>
            <a:r>
              <a:t>http://10.0.0.89:8080</a:t>
            </a:r>
          </a:p>
          <a:p/>
          <a:p>
            <a:r>
              <a:t>(Replace this text with actual screenshot image)</a:t>
            </a:r>
          </a:p>
        </p:txBody>
      </p:sp>
      <p:sp>
        <p:nvSpPr>
          <p:cNvPr id="4" name="TextBox 3"/>
          <p:cNvSpPr txBox="1"/>
          <p:nvPr/>
        </p:nvSpPr>
        <p:spPr>
          <a:xfrm>
            <a:off x="1371600" y="4023360"/>
            <a:ext cx="6400800" cy="914400"/>
          </a:xfrm>
          <a:prstGeom prst="rect">
            <a:avLst/>
          </a:prstGeom>
          <a:noFill/>
        </p:spPr>
        <p:txBody>
          <a:bodyPr wrap="none">
            <a:spAutoFit/>
          </a:bodyPr>
          <a:lstStyle/>
          <a:p>
            <a:pPr algn="ctr">
              <a:defRPr sz="1400">
                <a:solidFill>
                  <a:srgbClr val="323232"/>
                </a:solidFill>
              </a:defRPr>
            </a:pPr>
            <a:r>
              <a:t>• Filter by your site name  • See completion percentage  • View file counts and verification status  • Self-service transparency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000">
                <a:solidFill>
                  <a:srgbClr val="0078D4"/>
                </a:solidFill>
              </a:defRPr>
            </a:pPr>
            <a:r>
              <a:t>Getting Help &amp; Support</a:t>
            </a:r>
          </a:p>
        </p:txBody>
      </p:sp>
      <p:sp>
        <p:nvSpPr>
          <p:cNvPr id="3" name="Content Placeholder 2"/>
          <p:cNvSpPr>
            <a:spLocks noGrp="1"/>
          </p:cNvSpPr>
          <p:nvPr>
            <p:ph idx="1"/>
          </p:nvPr>
        </p:nvSpPr>
        <p:spPr/>
        <p:txBody>
          <a:bodyPr/>
          <a:lstStyle/>
          <a:p/>
        </p:txBody>
      </p:sp>
      <p:sp>
        <p:nvSpPr>
          <p:cNvPr id="4" name="TextBox 3"/>
          <p:cNvSpPr txBox="1"/>
          <p:nvPr/>
        </p:nvSpPr>
        <p:spPr>
          <a:xfrm>
            <a:off x="1371600" y="1828800"/>
            <a:ext cx="1828800" cy="365760"/>
          </a:xfrm>
          <a:prstGeom prst="rect">
            <a:avLst/>
          </a:prstGeom>
          <a:noFill/>
        </p:spPr>
        <p:txBody>
          <a:bodyPr wrap="none">
            <a:spAutoFit/>
          </a:bodyPr>
          <a:lstStyle/>
          <a:p>
            <a:pPr>
              <a:defRPr sz="2000" b="1">
                <a:solidFill>
                  <a:srgbClr val="323232"/>
                </a:solidFill>
              </a:defRPr>
            </a:pPr>
            <a:r>
              <a:t>📧 Email:</a:t>
            </a:r>
          </a:p>
        </p:txBody>
      </p:sp>
      <p:sp>
        <p:nvSpPr>
          <p:cNvPr id="5" name="TextBox 4"/>
          <p:cNvSpPr txBox="1"/>
          <p:nvPr/>
        </p:nvSpPr>
        <p:spPr>
          <a:xfrm>
            <a:off x="3200400" y="1828800"/>
            <a:ext cx="4572000" cy="365760"/>
          </a:xfrm>
          <a:prstGeom prst="rect">
            <a:avLst/>
          </a:prstGeom>
          <a:noFill/>
        </p:spPr>
        <p:txBody>
          <a:bodyPr wrap="none">
            <a:spAutoFit/>
          </a:bodyPr>
          <a:lstStyle/>
          <a:p>
            <a:pPr>
              <a:defRPr sz="1800" i="1">
                <a:solidFill>
                  <a:srgbClr val="D13438"/>
                </a:solidFill>
              </a:defRPr>
            </a:pPr>
            <a:r>
              <a:t>[YOUR IT SUPPORT EMAIL]</a:t>
            </a:r>
          </a:p>
        </p:txBody>
      </p:sp>
      <p:sp>
        <p:nvSpPr>
          <p:cNvPr id="6" name="TextBox 5"/>
          <p:cNvSpPr txBox="1"/>
          <p:nvPr/>
        </p:nvSpPr>
        <p:spPr>
          <a:xfrm>
            <a:off x="1371600" y="2377440"/>
            <a:ext cx="1828800" cy="365760"/>
          </a:xfrm>
          <a:prstGeom prst="rect">
            <a:avLst/>
          </a:prstGeom>
          <a:noFill/>
        </p:spPr>
        <p:txBody>
          <a:bodyPr wrap="none">
            <a:spAutoFit/>
          </a:bodyPr>
          <a:lstStyle/>
          <a:p>
            <a:pPr>
              <a:defRPr sz="2000" b="1">
                <a:solidFill>
                  <a:srgbClr val="323232"/>
                </a:solidFill>
              </a:defRPr>
            </a:pPr>
            <a:r>
              <a:t>💬 Teams:</a:t>
            </a:r>
          </a:p>
        </p:txBody>
      </p:sp>
      <p:sp>
        <p:nvSpPr>
          <p:cNvPr id="7" name="TextBox 6"/>
          <p:cNvSpPr txBox="1"/>
          <p:nvPr/>
        </p:nvSpPr>
        <p:spPr>
          <a:xfrm>
            <a:off x="3200400" y="2377440"/>
            <a:ext cx="4572000" cy="365760"/>
          </a:xfrm>
          <a:prstGeom prst="rect">
            <a:avLst/>
          </a:prstGeom>
          <a:noFill/>
        </p:spPr>
        <p:txBody>
          <a:bodyPr wrap="none">
            <a:spAutoFit/>
          </a:bodyPr>
          <a:lstStyle/>
          <a:p>
            <a:pPr>
              <a:defRPr sz="1800" i="1">
                <a:solidFill>
                  <a:srgbClr val="D13438"/>
                </a:solidFill>
              </a:defRPr>
            </a:pPr>
            <a:r>
              <a:t>[YOUR SUPPORT CHANNEL]</a:t>
            </a:r>
          </a:p>
        </p:txBody>
      </p:sp>
      <p:sp>
        <p:nvSpPr>
          <p:cNvPr id="8" name="TextBox 7"/>
          <p:cNvSpPr txBox="1"/>
          <p:nvPr/>
        </p:nvSpPr>
        <p:spPr>
          <a:xfrm>
            <a:off x="1371600" y="2926080"/>
            <a:ext cx="1828800" cy="365760"/>
          </a:xfrm>
          <a:prstGeom prst="rect">
            <a:avLst/>
          </a:prstGeom>
          <a:noFill/>
        </p:spPr>
        <p:txBody>
          <a:bodyPr wrap="none">
            <a:spAutoFit/>
          </a:bodyPr>
          <a:lstStyle/>
          <a:p>
            <a:pPr>
              <a:defRPr sz="2000" b="1">
                <a:solidFill>
                  <a:srgbClr val="323232"/>
                </a:solidFill>
              </a:defRPr>
            </a:pPr>
            <a:r>
              <a:t>🌐 Dashboard:</a:t>
            </a:r>
          </a:p>
        </p:txBody>
      </p:sp>
      <p:sp>
        <p:nvSpPr>
          <p:cNvPr id="9" name="TextBox 8"/>
          <p:cNvSpPr txBox="1"/>
          <p:nvPr/>
        </p:nvSpPr>
        <p:spPr>
          <a:xfrm>
            <a:off x="3200400" y="2926080"/>
            <a:ext cx="4572000" cy="365760"/>
          </a:xfrm>
          <a:prstGeom prst="rect">
            <a:avLst/>
          </a:prstGeom>
          <a:noFill/>
        </p:spPr>
        <p:txBody>
          <a:bodyPr wrap="none">
            <a:spAutoFit/>
          </a:bodyPr>
          <a:lstStyle/>
          <a:p>
            <a:pPr>
              <a:defRPr sz="1800">
                <a:solidFill>
                  <a:srgbClr val="0078D4"/>
                </a:solidFill>
              </a:defRPr>
            </a:pPr>
            <a:r>
              <a:t>http://10.0.0.89:8080</a:t>
            </a:r>
          </a:p>
        </p:txBody>
      </p:sp>
      <p:sp>
        <p:nvSpPr>
          <p:cNvPr id="10" name="TextBox 9"/>
          <p:cNvSpPr txBox="1"/>
          <p:nvPr/>
        </p:nvSpPr>
        <p:spPr>
          <a:xfrm>
            <a:off x="1371600" y="3474720"/>
            <a:ext cx="1828800" cy="365760"/>
          </a:xfrm>
          <a:prstGeom prst="rect">
            <a:avLst/>
          </a:prstGeom>
          <a:noFill/>
        </p:spPr>
        <p:txBody>
          <a:bodyPr wrap="none">
            <a:spAutoFit/>
          </a:bodyPr>
          <a:lstStyle/>
          <a:p>
            <a:pPr>
              <a:defRPr sz="2000" b="1">
                <a:solidFill>
                  <a:srgbClr val="323232"/>
                </a:solidFill>
              </a:defRPr>
            </a:pPr>
            <a:r>
              <a:t>📄 Documentation:</a:t>
            </a:r>
          </a:p>
        </p:txBody>
      </p:sp>
      <p:sp>
        <p:nvSpPr>
          <p:cNvPr id="11" name="TextBox 10"/>
          <p:cNvSpPr txBox="1"/>
          <p:nvPr/>
        </p:nvSpPr>
        <p:spPr>
          <a:xfrm>
            <a:off x="3200400" y="3474720"/>
            <a:ext cx="4572000" cy="365760"/>
          </a:xfrm>
          <a:prstGeom prst="rect">
            <a:avLst/>
          </a:prstGeom>
          <a:noFill/>
        </p:spPr>
        <p:txBody>
          <a:bodyPr wrap="none">
            <a:spAutoFit/>
          </a:bodyPr>
          <a:lstStyle/>
          <a:p>
            <a:pPr>
              <a:defRPr sz="1800" i="1">
                <a:solidFill>
                  <a:srgbClr val="D13438"/>
                </a:solidFill>
              </a:defRPr>
            </a:pPr>
            <a:r>
              <a:t>[YOUR DOCS LINK]</a:t>
            </a:r>
          </a:p>
        </p:txBody>
      </p:sp>
      <p:sp>
        <p:nvSpPr>
          <p:cNvPr id="12" name="TextBox 11"/>
          <p:cNvSpPr txBox="1"/>
          <p:nvPr/>
        </p:nvSpPr>
        <p:spPr>
          <a:xfrm>
            <a:off x="1371600" y="4297680"/>
            <a:ext cx="6400800" cy="731520"/>
          </a:xfrm>
          <a:prstGeom prst="rect">
            <a:avLst/>
          </a:prstGeom>
          <a:noFill/>
        </p:spPr>
        <p:txBody>
          <a:bodyPr wrap="none">
            <a:spAutoFit/>
          </a:bodyPr>
          <a:lstStyle/>
          <a:p>
            <a:pPr>
              <a:defRPr sz="1600">
                <a:solidFill>
                  <a:srgbClr val="323232"/>
                </a:solidFill>
              </a:defRPr>
            </a:pPr>
            <a:r>
              <a:t>Migration Team Available:</a:t>
            </a:r>
          </a:p>
          <a:p>
            <a:r>
              <a:t>• [YOUR SUPPORT HOURS]</a:t>
            </a:r>
          </a:p>
          <a:p>
            <a:r>
              <a:t>• Response Time: [YOUR SLA]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731520"/>
            <a:ext cx="7315200" cy="548640"/>
          </a:xfrm>
          <a:prstGeom prst="rect">
            <a:avLst/>
          </a:prstGeom>
          <a:noFill/>
        </p:spPr>
        <p:txBody>
          <a:bodyPr wrap="none">
            <a:spAutoFit/>
          </a:bodyPr>
          <a:lstStyle/>
          <a:p>
            <a:pPr algn="ctr">
              <a:defRPr sz="4800" b="1">
                <a:solidFill>
                  <a:srgbClr val="0078D4"/>
                </a:solidFill>
              </a:defRPr>
            </a:pPr>
            <a:r>
              <a:t>Key Takeaways</a:t>
            </a:r>
          </a:p>
        </p:txBody>
      </p:sp>
      <p:sp>
        <p:nvSpPr>
          <p:cNvPr id="3" name="TextBox 2"/>
          <p:cNvSpPr txBox="1"/>
          <p:nvPr/>
        </p:nvSpPr>
        <p:spPr>
          <a:xfrm>
            <a:off x="1828800" y="1828800"/>
            <a:ext cx="5486400" cy="457200"/>
          </a:xfrm>
          <a:prstGeom prst="rect">
            <a:avLst/>
          </a:prstGeom>
          <a:noFill/>
        </p:spPr>
        <p:txBody>
          <a:bodyPr wrap="none">
            <a:spAutoFit/>
          </a:bodyPr>
          <a:lstStyle/>
          <a:p>
            <a:pPr algn="ctr">
              <a:defRPr sz="2600" b="1">
                <a:solidFill>
                  <a:srgbClr val="107C10"/>
                </a:solidFill>
              </a:defRPr>
            </a:pPr>
            <a:r>
              <a:t>✓ Your URLs Don't Change</a:t>
            </a:r>
          </a:p>
        </p:txBody>
      </p:sp>
      <p:sp>
        <p:nvSpPr>
          <p:cNvPr id="4" name="TextBox 3"/>
          <p:cNvSpPr txBox="1"/>
          <p:nvPr/>
        </p:nvSpPr>
        <p:spPr>
          <a:xfrm>
            <a:off x="1828800" y="2377440"/>
            <a:ext cx="5486400" cy="457200"/>
          </a:xfrm>
          <a:prstGeom prst="rect">
            <a:avLst/>
          </a:prstGeom>
          <a:noFill/>
        </p:spPr>
        <p:txBody>
          <a:bodyPr wrap="none">
            <a:spAutoFit/>
          </a:bodyPr>
          <a:lstStyle/>
          <a:p>
            <a:pPr algn="ctr">
              <a:defRPr sz="2600" b="1">
                <a:solidFill>
                  <a:srgbClr val="107C10"/>
                </a:solidFill>
              </a:defRPr>
            </a:pPr>
            <a:r>
              <a:t>✓ Permissions Stay the Same</a:t>
            </a:r>
          </a:p>
        </p:txBody>
      </p:sp>
      <p:sp>
        <p:nvSpPr>
          <p:cNvPr id="5" name="TextBox 4"/>
          <p:cNvSpPr txBox="1"/>
          <p:nvPr/>
        </p:nvSpPr>
        <p:spPr>
          <a:xfrm>
            <a:off x="1828800" y="2926080"/>
            <a:ext cx="5486400" cy="457200"/>
          </a:xfrm>
          <a:prstGeom prst="rect">
            <a:avLst/>
          </a:prstGeom>
          <a:noFill/>
        </p:spPr>
        <p:txBody>
          <a:bodyPr wrap="none">
            <a:spAutoFit/>
          </a:bodyPr>
          <a:lstStyle/>
          <a:p>
            <a:pPr algn="ctr">
              <a:defRPr sz="2600" b="1">
                <a:solidFill>
                  <a:srgbClr val="107C10"/>
                </a:solidFill>
              </a:defRPr>
            </a:pPr>
            <a:r>
              <a:t>✓ Minimal Downtime Expected</a:t>
            </a:r>
          </a:p>
        </p:txBody>
      </p:sp>
      <p:sp>
        <p:nvSpPr>
          <p:cNvPr id="6" name="TextBox 5"/>
          <p:cNvSpPr txBox="1"/>
          <p:nvPr/>
        </p:nvSpPr>
        <p:spPr>
          <a:xfrm>
            <a:off x="1828800" y="3474720"/>
            <a:ext cx="5486400" cy="457200"/>
          </a:xfrm>
          <a:prstGeom prst="rect">
            <a:avLst/>
          </a:prstGeom>
          <a:noFill/>
        </p:spPr>
        <p:txBody>
          <a:bodyPr wrap="none">
            <a:spAutoFit/>
          </a:bodyPr>
          <a:lstStyle/>
          <a:p>
            <a:pPr algn="ctr">
              <a:defRPr sz="2600" b="1">
                <a:solidFill>
                  <a:srgbClr val="107C10"/>
                </a:solidFill>
              </a:defRPr>
            </a:pPr>
            <a:r>
              <a:t>✓ Track Progress on Dashboard</a:t>
            </a:r>
          </a:p>
        </p:txBody>
      </p:sp>
      <p:sp>
        <p:nvSpPr>
          <p:cNvPr id="7" name="TextBox 6"/>
          <p:cNvSpPr txBox="1"/>
          <p:nvPr/>
        </p:nvSpPr>
        <p:spPr>
          <a:xfrm>
            <a:off x="1828800" y="4023360"/>
            <a:ext cx="5486400" cy="457200"/>
          </a:xfrm>
          <a:prstGeom prst="rect">
            <a:avLst/>
          </a:prstGeom>
          <a:noFill/>
        </p:spPr>
        <p:txBody>
          <a:bodyPr wrap="none">
            <a:spAutoFit/>
          </a:bodyPr>
          <a:lstStyle/>
          <a:p>
            <a:pPr algn="ctr">
              <a:defRPr sz="2600" b="1">
                <a:solidFill>
                  <a:srgbClr val="107C10"/>
                </a:solidFill>
              </a:defRPr>
            </a:pPr>
            <a:r>
              <a:t>✓ Support Team Ready to Help</a:t>
            </a:r>
          </a:p>
        </p:txBody>
      </p:sp>
      <p:sp>
        <p:nvSpPr>
          <p:cNvPr id="8" name="TextBox 7"/>
          <p:cNvSpPr txBox="1"/>
          <p:nvPr/>
        </p:nvSpPr>
        <p:spPr>
          <a:xfrm>
            <a:off x="1828800" y="4389120"/>
            <a:ext cx="5486400" cy="548640"/>
          </a:xfrm>
          <a:prstGeom prst="rect">
            <a:avLst/>
          </a:prstGeom>
          <a:noFill/>
        </p:spPr>
        <p:txBody>
          <a:bodyPr wrap="none">
            <a:spAutoFit/>
          </a:bodyPr>
          <a:lstStyle/>
          <a:p>
            <a:pPr algn="ctr">
              <a:defRPr sz="3600" b="1">
                <a:solidFill>
                  <a:srgbClr val="0078D4"/>
                </a:solidFill>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